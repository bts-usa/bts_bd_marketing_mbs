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84" r:id="rId2"/>
  </p:sldMasterIdLst>
  <p:notesMasterIdLst>
    <p:notesMasterId r:id="rId10"/>
  </p:notesMasterIdLst>
  <p:sldIdLst>
    <p:sldId id="256" r:id="rId3"/>
    <p:sldId id="2147482843" r:id="rId4"/>
    <p:sldId id="2147482844" r:id="rId5"/>
    <p:sldId id="2147482845" r:id="rId6"/>
    <p:sldId id="2147482847" r:id="rId7"/>
    <p:sldId id="2147482849" r:id="rId8"/>
    <p:sldId id="2147482850"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B28DFB-C171-434D-BCC7-BBC30E1BE760}" v="1" dt="2026-10-27T04:07:06.3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p:cViewPr varScale="1">
        <p:scale>
          <a:sx n="59" d="100"/>
          <a:sy n="59" d="100"/>
        </p:scale>
        <p:origin x="964"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viewProps" Target="view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presProps" Target="presProps.xml"/><Relationship Id="rId5" Type="http://schemas.openxmlformats.org/officeDocument/2006/relationships/slide" Target="slides/slide3.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Claypool" userId="52047897047_tp_box_2" providerId="OAuth2" clId="{CA4CF585-0989-4D92-86E9-697F3F8B2F84}"/>
    <pc:docChg chg="custSel addSld delSld modSld delMainMaster">
      <pc:chgData name="Kevin Claypool" userId="52047897047_tp_box_2" providerId="OAuth2" clId="{CA4CF585-0989-4D92-86E9-697F3F8B2F84}" dt="2026-10-27T05:12:21.687" v="318" actId="20577"/>
      <pc:docMkLst>
        <pc:docMk/>
      </pc:docMkLst>
      <pc:sldChg chg="modSp mod">
        <pc:chgData name="Kevin Claypool" userId="52047897047_tp_box_2" providerId="OAuth2" clId="{CA4CF585-0989-4D92-86E9-697F3F8B2F84}" dt="2026-10-27T05:07:41.579" v="146" actId="20577"/>
        <pc:sldMkLst>
          <pc:docMk/>
          <pc:sldMk cId="3459016482" sldId="256"/>
        </pc:sldMkLst>
        <pc:spChg chg="mod">
          <ac:chgData name="Kevin Claypool" userId="52047897047_tp_box_2" providerId="OAuth2" clId="{CA4CF585-0989-4D92-86E9-697F3F8B2F84}" dt="2026-10-27T05:07:41.579" v="146" actId="20577"/>
          <ac:spMkLst>
            <pc:docMk/>
            <pc:sldMk cId="3459016482" sldId="256"/>
            <ac:spMk id="3" creationId="{605A87B0-EE36-C193-9AFE-AAC3840315D8}"/>
          </ac:spMkLst>
        </pc:spChg>
      </pc:sldChg>
      <pc:sldChg chg="modSp mod">
        <pc:chgData name="Kevin Claypool" userId="52047897047_tp_box_2" providerId="OAuth2" clId="{CA4CF585-0989-4D92-86E9-697F3F8B2F84}" dt="2026-10-27T04:06:04.114" v="2" actId="13926"/>
        <pc:sldMkLst>
          <pc:docMk/>
          <pc:sldMk cId="4285398747" sldId="2147482843"/>
        </pc:sldMkLst>
        <pc:spChg chg="mod">
          <ac:chgData name="Kevin Claypool" userId="52047897047_tp_box_2" providerId="OAuth2" clId="{CA4CF585-0989-4D92-86E9-697F3F8B2F84}" dt="2026-10-27T04:06:04.114" v="2" actId="13926"/>
          <ac:spMkLst>
            <pc:docMk/>
            <pc:sldMk cId="4285398747" sldId="2147482843"/>
            <ac:spMk id="2" creationId="{A422CB82-A8B9-E588-6FE7-22C8EDAEDC3C}"/>
          </ac:spMkLst>
        </pc:spChg>
      </pc:sldChg>
      <pc:sldChg chg="modSp mod">
        <pc:chgData name="Kevin Claypool" userId="52047897047_tp_box_2" providerId="OAuth2" clId="{CA4CF585-0989-4D92-86E9-697F3F8B2F84}" dt="2026-10-27T04:06:07.978" v="3" actId="13926"/>
        <pc:sldMkLst>
          <pc:docMk/>
          <pc:sldMk cId="1275572511" sldId="2147482844"/>
        </pc:sldMkLst>
        <pc:spChg chg="mod">
          <ac:chgData name="Kevin Claypool" userId="52047897047_tp_box_2" providerId="OAuth2" clId="{CA4CF585-0989-4D92-86E9-697F3F8B2F84}" dt="2026-10-27T04:06:07.978" v="3" actId="13926"/>
          <ac:spMkLst>
            <pc:docMk/>
            <pc:sldMk cId="1275572511" sldId="2147482844"/>
            <ac:spMk id="2" creationId="{7CE8570D-A2EB-77CF-3E30-8B6F9ADD415C}"/>
          </ac:spMkLst>
        </pc:spChg>
      </pc:sldChg>
      <pc:sldChg chg="modSp mod">
        <pc:chgData name="Kevin Claypool" userId="52047897047_tp_box_2" providerId="OAuth2" clId="{CA4CF585-0989-4D92-86E9-697F3F8B2F84}" dt="2026-10-27T05:05:47.978" v="74" actId="20577"/>
        <pc:sldMkLst>
          <pc:docMk/>
          <pc:sldMk cId="637102646" sldId="2147482845"/>
        </pc:sldMkLst>
        <pc:spChg chg="mod">
          <ac:chgData name="Kevin Claypool" userId="52047897047_tp_box_2" providerId="OAuth2" clId="{CA4CF585-0989-4D92-86E9-697F3F8B2F84}" dt="2026-10-27T05:05:47.978" v="74" actId="20577"/>
          <ac:spMkLst>
            <pc:docMk/>
            <pc:sldMk cId="637102646" sldId="2147482845"/>
            <ac:spMk id="2" creationId="{C44BD151-0679-A2ED-6C6F-033FE30921E4}"/>
          </ac:spMkLst>
        </pc:spChg>
      </pc:sldChg>
      <pc:sldChg chg="modSp mod">
        <pc:chgData name="Kevin Claypool" userId="52047897047_tp_box_2" providerId="OAuth2" clId="{CA4CF585-0989-4D92-86E9-697F3F8B2F84}" dt="2026-10-27T04:06:19.422" v="5" actId="13926"/>
        <pc:sldMkLst>
          <pc:docMk/>
          <pc:sldMk cId="1271053118" sldId="2147482847"/>
        </pc:sldMkLst>
        <pc:spChg chg="mod">
          <ac:chgData name="Kevin Claypool" userId="52047897047_tp_box_2" providerId="OAuth2" clId="{CA4CF585-0989-4D92-86E9-697F3F8B2F84}" dt="2026-10-27T04:06:19.422" v="5" actId="13926"/>
          <ac:spMkLst>
            <pc:docMk/>
            <pc:sldMk cId="1271053118" sldId="2147482847"/>
            <ac:spMk id="2" creationId="{A8A85CFD-53DD-A2B3-B3CC-32FBCE6F0C2A}"/>
          </ac:spMkLst>
        </pc:spChg>
      </pc:sldChg>
      <pc:sldChg chg="modSp mod">
        <pc:chgData name="Kevin Claypool" userId="52047897047_tp_box_2" providerId="OAuth2" clId="{CA4CF585-0989-4D92-86E9-697F3F8B2F84}" dt="2026-10-27T04:06:24.138" v="6" actId="13926"/>
        <pc:sldMkLst>
          <pc:docMk/>
          <pc:sldMk cId="1252519558" sldId="2147482849"/>
        </pc:sldMkLst>
        <pc:spChg chg="mod">
          <ac:chgData name="Kevin Claypool" userId="52047897047_tp_box_2" providerId="OAuth2" clId="{CA4CF585-0989-4D92-86E9-697F3F8B2F84}" dt="2026-10-27T04:06:24.138" v="6" actId="13926"/>
          <ac:spMkLst>
            <pc:docMk/>
            <pc:sldMk cId="1252519558" sldId="2147482849"/>
            <ac:spMk id="2" creationId="{DFFE6BB7-D1A4-9D9C-E13F-48375862005E}"/>
          </ac:spMkLst>
        </pc:spChg>
      </pc:sldChg>
      <pc:sldChg chg="modSp add mod">
        <pc:chgData name="Kevin Claypool" userId="52047897047_tp_box_2" providerId="OAuth2" clId="{CA4CF585-0989-4D92-86E9-697F3F8B2F84}" dt="2026-10-27T05:12:21.687" v="318" actId="20577"/>
        <pc:sldMkLst>
          <pc:docMk/>
          <pc:sldMk cId="652969914" sldId="2147482850"/>
        </pc:sldMkLst>
        <pc:spChg chg="mod">
          <ac:chgData name="Kevin Claypool" userId="52047897047_tp_box_2" providerId="OAuth2" clId="{CA4CF585-0989-4D92-86E9-697F3F8B2F84}" dt="2026-10-27T04:09:16.575" v="49" actId="113"/>
          <ac:spMkLst>
            <pc:docMk/>
            <pc:sldMk cId="652969914" sldId="2147482850"/>
            <ac:spMk id="2" creationId="{A1F908F1-C05F-9895-E5AC-F303E0E2E132}"/>
          </ac:spMkLst>
        </pc:spChg>
        <pc:spChg chg="mod">
          <ac:chgData name="Kevin Claypool" userId="52047897047_tp_box_2" providerId="OAuth2" clId="{CA4CF585-0989-4D92-86E9-697F3F8B2F84}" dt="2026-10-27T05:12:21.687" v="318" actId="20577"/>
          <ac:spMkLst>
            <pc:docMk/>
            <pc:sldMk cId="652969914" sldId="2147482850"/>
            <ac:spMk id="3" creationId="{9F18BDCB-8D42-805D-FAF6-440F65366391}"/>
          </ac:spMkLst>
        </pc:spChg>
      </pc:sldChg>
      <pc:sldChg chg="del">
        <pc:chgData name="Kevin Claypool" userId="52047897047_tp_box_2" providerId="OAuth2" clId="{CA4CF585-0989-4D92-86E9-697F3F8B2F84}" dt="2026-10-27T04:03:42.675" v="0" actId="47"/>
        <pc:sldMkLst>
          <pc:docMk/>
          <pc:sldMk cId="277197682" sldId="2147482878"/>
        </pc:sldMkLst>
      </pc:sldChg>
      <pc:sldChg chg="del">
        <pc:chgData name="Kevin Claypool" userId="52047897047_tp_box_2" providerId="OAuth2" clId="{CA4CF585-0989-4D92-86E9-697F3F8B2F84}" dt="2026-10-27T04:03:47.182" v="1" actId="47"/>
        <pc:sldMkLst>
          <pc:docMk/>
          <pc:sldMk cId="1538483844" sldId="2147482879"/>
        </pc:sldMkLst>
      </pc:sldChg>
      <pc:sldMasterChg chg="del delSldLayout">
        <pc:chgData name="Kevin Claypool" userId="52047897047_tp_box_2" providerId="OAuth2" clId="{CA4CF585-0989-4D92-86E9-697F3F8B2F84}" dt="2026-10-27T04:03:42.675" v="0" actId="47"/>
        <pc:sldMasterMkLst>
          <pc:docMk/>
          <pc:sldMasterMk cId="1102287406" sldId="2147483660"/>
        </pc:sldMasterMkLst>
        <pc:sldLayoutChg chg="del">
          <pc:chgData name="Kevin Claypool" userId="52047897047_tp_box_2" providerId="OAuth2" clId="{CA4CF585-0989-4D92-86E9-697F3F8B2F84}" dt="2026-10-27T04:03:42.675" v="0" actId="47"/>
          <pc:sldLayoutMkLst>
            <pc:docMk/>
            <pc:sldMasterMk cId="1102287406" sldId="2147483660"/>
            <pc:sldLayoutMk cId="1337645167" sldId="2147483661"/>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696510821" sldId="2147483662"/>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993916295" sldId="2147483663"/>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3131954809" sldId="2147483664"/>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574312970" sldId="2147483665"/>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263246394" sldId="2147483666"/>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529055862" sldId="2147483667"/>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4045466494" sldId="2147483668"/>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382727966" sldId="2147483669"/>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696203381" sldId="2147483670"/>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163344986" sldId="2147483671"/>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65243418" sldId="2147483672"/>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3085815709" sldId="2147483673"/>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509469161" sldId="2147483674"/>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540204099" sldId="2147483675"/>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868839107" sldId="2147483676"/>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2061893343" sldId="2147483677"/>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884521808" sldId="2147483678"/>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341312904" sldId="2147483679"/>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4007699344" sldId="2147483680"/>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2779644212" sldId="2147483681"/>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318304955" sldId="2147483682"/>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61829412" sldId="214748368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870BA3-8C99-4885-9116-D5C1F7B5A430}" type="datetimeFigureOut">
              <a:rPr lang="en-US" smtClean="0"/>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76CCC1-0EA3-43DE-8888-771F6E305543}" type="slidenum">
              <a:rPr lang="en-US" smtClean="0"/>
              <a:t>‹#›</a:t>
            </a:fld>
            <a:endParaRPr lang="en-US"/>
          </a:p>
        </p:txBody>
      </p:sp>
    </p:spTree>
    <p:extLst>
      <p:ext uri="{BB962C8B-B14F-4D97-AF65-F5344CB8AC3E}">
        <p14:creationId xmlns:p14="http://schemas.microsoft.com/office/powerpoint/2010/main" val="2694702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59181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83F7A-4692-2598-011F-9829494A6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1AB97-D8E2-F189-6276-A1AE16653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61738-6BC4-6BB5-3BF0-816D049613E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0F86A81-B195-B823-613E-C63625D934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555442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EC9CE-B711-F73E-373A-088A0744D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DA7E40-A265-B20D-FA77-56AD4927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D39711-8ABC-1518-702F-F0DF0D02DD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88FEAF-32CA-05D3-6663-6853D82FE1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78747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6EBE3-BC74-B554-45FE-9D0D722F0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392E12-77B4-E247-EE35-0D5D6A59D9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98EC3-3434-628C-6BD3-CBF617335DD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FB4F00D-390D-DC08-F387-481C3EF9678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73317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878A0-F6F4-A9B6-B223-DBDB685B7E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4C6899B-FC69-4354-02DF-6D88628DCF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B667584-8F54-21C5-0F87-BBDBB5F4D8F5}"/>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5" name="Footer Placeholder 4">
            <a:extLst>
              <a:ext uri="{FF2B5EF4-FFF2-40B4-BE49-F238E27FC236}">
                <a16:creationId xmlns:a16="http://schemas.microsoft.com/office/drawing/2014/main" id="{7DFF11F5-586F-C396-B596-465ADB787E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736403-8151-5DFB-33EC-8383758A5825}"/>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367450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7E4CD-8C35-AD3E-40B1-F49D03BE73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8E3913-088C-225D-E53E-C2D83D4128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27C694-A7AC-DFAE-81F1-D89871B3D6AB}"/>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5" name="Footer Placeholder 4">
            <a:extLst>
              <a:ext uri="{FF2B5EF4-FFF2-40B4-BE49-F238E27FC236}">
                <a16:creationId xmlns:a16="http://schemas.microsoft.com/office/drawing/2014/main" id="{13E0542A-280F-491F-CC86-278E87CA75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46EAB6-11CE-62B0-739F-7EBA5FB31C4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904047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51AB0-7A5A-97C7-79A7-39FFF8CC46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BC8CB5-49A8-E814-FB34-135371217B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469942-8A38-3E74-2388-9F5437F19386}"/>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5" name="Footer Placeholder 4">
            <a:extLst>
              <a:ext uri="{FF2B5EF4-FFF2-40B4-BE49-F238E27FC236}">
                <a16:creationId xmlns:a16="http://schemas.microsoft.com/office/drawing/2014/main" id="{ED0D8FD6-168E-213F-5BCF-80088A014C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E8289A-08C8-6097-15DF-29387E2A68D1}"/>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40014652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ED563-0D5C-59B0-A6C3-7B03DA42CA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111FB66-CD76-D30B-2D43-F41C11CEEF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2E81A0-C643-3F70-E19C-BCC73CA04D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B53393-027A-6377-09A6-7C1BCC3725E1}"/>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6" name="Footer Placeholder 5">
            <a:extLst>
              <a:ext uri="{FF2B5EF4-FFF2-40B4-BE49-F238E27FC236}">
                <a16:creationId xmlns:a16="http://schemas.microsoft.com/office/drawing/2014/main" id="{117167BC-5D8E-2195-0626-65D19A46A3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93793A-7462-E2C7-6E3D-6BA4A280153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6347358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89E58-D355-20AB-7054-A31A1045DF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6F66A56-28C4-C2C6-BB9E-6B2128B4D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09C008-DE79-CBCE-EF40-3D45A83EAB1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8E2FE1-D4E5-3A87-8777-CFBF96DB8C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D7143-C0BF-78A1-4FB8-D08C2F8207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0094F8-CFCF-5B0E-D1BB-58B6EB604CF9}"/>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8" name="Footer Placeholder 7">
            <a:extLst>
              <a:ext uri="{FF2B5EF4-FFF2-40B4-BE49-F238E27FC236}">
                <a16:creationId xmlns:a16="http://schemas.microsoft.com/office/drawing/2014/main" id="{2FBFC130-8721-E0D3-DCDC-B29BCA18FE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9AB20E-992F-F1F7-551E-7FA908D371E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5318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E0830-437D-870D-0773-5FAE8F931F9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176E57B-52EC-B3B6-2204-EE6955266B01}"/>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4" name="Footer Placeholder 3">
            <a:extLst>
              <a:ext uri="{FF2B5EF4-FFF2-40B4-BE49-F238E27FC236}">
                <a16:creationId xmlns:a16="http://schemas.microsoft.com/office/drawing/2014/main" id="{7633958E-4C23-556D-D3E0-8692FF36F7F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21B4A5-C87F-AFDF-C97B-FA62AC0C9C7D}"/>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09713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1133C5-7CAE-AA59-616B-7A042779AD4B}"/>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3" name="Footer Placeholder 2">
            <a:extLst>
              <a:ext uri="{FF2B5EF4-FFF2-40B4-BE49-F238E27FC236}">
                <a16:creationId xmlns:a16="http://schemas.microsoft.com/office/drawing/2014/main" id="{8129E279-C14E-CE7A-A5CC-25287EBC33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A38817D-A942-92BE-2130-0A9633CAE9E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4384350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4BED5-F109-EE7B-2EDC-C883E121C2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8FEB40-C1FB-F558-2772-20E84BBB2A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A792285-593E-8D7B-EAA4-2DAA90209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23FFD0-C0E7-C954-3951-3E1F60D04618}"/>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6" name="Footer Placeholder 5">
            <a:extLst>
              <a:ext uri="{FF2B5EF4-FFF2-40B4-BE49-F238E27FC236}">
                <a16:creationId xmlns:a16="http://schemas.microsoft.com/office/drawing/2014/main" id="{081A6D41-C03A-EE14-D390-D6F7769F3A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32929F-B7F5-7DF5-DA2D-27CA1336CAAF}"/>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5737526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FDC16-6E29-A342-1F58-FD9F7DC96C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D9581D-E98A-991F-AB9F-C29FBB32EAD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24263FF-B54F-2FE0-D3EC-2882995F57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BD9BE8-828C-3F84-BB75-AC3C25EE0DB6}"/>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6" name="Footer Placeholder 5">
            <a:extLst>
              <a:ext uri="{FF2B5EF4-FFF2-40B4-BE49-F238E27FC236}">
                <a16:creationId xmlns:a16="http://schemas.microsoft.com/office/drawing/2014/main" id="{39B53A37-0548-0CB3-B922-821873E0D5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B837E8F-20CF-0D4E-88E5-0FF7099C2E6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1587042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48875-5A12-39FD-F00A-79F9696137D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62D0344-36B9-7DC3-658D-B22C190349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C930B-4F2A-667A-6AF3-841AA2CA898E}"/>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5" name="Footer Placeholder 4">
            <a:extLst>
              <a:ext uri="{FF2B5EF4-FFF2-40B4-BE49-F238E27FC236}">
                <a16:creationId xmlns:a16="http://schemas.microsoft.com/office/drawing/2014/main" id="{0789814A-8C5D-090D-389D-D4D9E0C10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8769C8-D023-E109-8D7F-E19668E8017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690853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4BEE22-E4D7-0F02-1D31-80663643172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525DFA9-EE94-F51E-200E-AEB5C545B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1BBC65-EF0C-71A1-E9E2-6786B2816168}"/>
              </a:ext>
            </a:extLst>
          </p:cNvPr>
          <p:cNvSpPr>
            <a:spLocks noGrp="1"/>
          </p:cNvSpPr>
          <p:nvPr>
            <p:ph type="dt" sz="half" idx="10"/>
          </p:nvPr>
        </p:nvSpPr>
        <p:spPr/>
        <p:txBody>
          <a:bodyPr/>
          <a:lstStyle/>
          <a:p>
            <a:fld id="{C509D815-375B-4E25-982C-DE08947284A2}" type="datetimeFigureOut">
              <a:rPr lang="en-US" smtClean="0"/>
              <a:t>10/27/2026</a:t>
            </a:fld>
            <a:endParaRPr lang="en-US"/>
          </a:p>
        </p:txBody>
      </p:sp>
      <p:sp>
        <p:nvSpPr>
          <p:cNvPr id="5" name="Footer Placeholder 4">
            <a:extLst>
              <a:ext uri="{FF2B5EF4-FFF2-40B4-BE49-F238E27FC236}">
                <a16:creationId xmlns:a16="http://schemas.microsoft.com/office/drawing/2014/main" id="{28E396F1-1B37-45A0-1426-699AF4664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26AAE3-8DD5-47C1-6A15-09C6BE1D116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0284987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Tree>
    <p:extLst>
      <p:ext uri="{BB962C8B-B14F-4D97-AF65-F5344CB8AC3E}">
        <p14:creationId xmlns:p14="http://schemas.microsoft.com/office/powerpoint/2010/main" val="1522400588"/>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4213219282"/>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NoLogo Dark">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bg1"/>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351273588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7538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23324088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39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cSld name="End Slide White BG">
    <p:bg>
      <p:bgPr>
        <a:solidFill>
          <a:schemeClr val="bg1"/>
        </a:solidFill>
        <a:effectLst/>
      </p:bgPr>
    </p:bg>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7FE7D6C-A446-8D66-9295-0B1CC685D666}"/>
              </a:ext>
            </a:extLst>
          </p:cNvPr>
          <p:cNvGrpSpPr/>
          <p:nvPr/>
        </p:nvGrpSpPr>
        <p:grpSpPr>
          <a:xfrm>
            <a:off x="3365433" y="2020093"/>
            <a:ext cx="5461134" cy="1586977"/>
            <a:chOff x="5689410" y="3308350"/>
            <a:chExt cx="815352" cy="236937"/>
          </a:xfrm>
          <a:solidFill>
            <a:schemeClr val="accent1"/>
          </a:solidFill>
        </p:grpSpPr>
        <p:sp>
          <p:nvSpPr>
            <p:cNvPr id="33" name="Freeform 32">
              <a:extLst>
                <a:ext uri="{FF2B5EF4-FFF2-40B4-BE49-F238E27FC236}">
                  <a16:creationId xmlns:a16="http://schemas.microsoft.com/office/drawing/2014/main" id="{4D145C46-AFB2-2925-0EE7-762C3DFDE598}"/>
                </a:ext>
              </a:extLst>
            </p:cNvPr>
            <p:cNvSpPr/>
            <p:nvPr/>
          </p:nvSpPr>
          <p:spPr>
            <a:xfrm>
              <a:off x="5689410" y="3309278"/>
              <a:ext cx="65969" cy="80649"/>
            </a:xfrm>
            <a:custGeom>
              <a:avLst/>
              <a:gdLst>
                <a:gd name="connsiteX0" fmla="*/ 57652 w 65969"/>
                <a:gd name="connsiteY0" fmla="*/ 20975 h 80649"/>
                <a:gd name="connsiteX1" fmla="*/ 35158 w 65969"/>
                <a:gd name="connsiteY1" fmla="*/ 14385 h 80649"/>
                <a:gd name="connsiteX2" fmla="*/ 19942 w 65969"/>
                <a:gd name="connsiteY2" fmla="*/ 23759 h 80649"/>
                <a:gd name="connsiteX3" fmla="*/ 36292 w 65969"/>
                <a:gd name="connsiteY3" fmla="*/ 32761 h 80649"/>
                <a:gd name="connsiteX4" fmla="*/ 40735 w 65969"/>
                <a:gd name="connsiteY4" fmla="*/ 33504 h 80649"/>
                <a:gd name="connsiteX5" fmla="*/ 65969 w 65969"/>
                <a:gd name="connsiteY5" fmla="*/ 55313 h 80649"/>
                <a:gd name="connsiteX6" fmla="*/ 33457 w 65969"/>
                <a:gd name="connsiteY6" fmla="*/ 80650 h 80649"/>
                <a:gd name="connsiteX7" fmla="*/ 0 w 65969"/>
                <a:gd name="connsiteY7" fmla="*/ 70441 h 80649"/>
                <a:gd name="connsiteX8" fmla="*/ 8223 w 65969"/>
                <a:gd name="connsiteY8" fmla="*/ 57912 h 80649"/>
                <a:gd name="connsiteX9" fmla="*/ 33457 w 65969"/>
                <a:gd name="connsiteY9" fmla="*/ 66358 h 80649"/>
                <a:gd name="connsiteX10" fmla="*/ 49052 w 65969"/>
                <a:gd name="connsiteY10" fmla="*/ 56984 h 80649"/>
                <a:gd name="connsiteX11" fmla="*/ 32228 w 65969"/>
                <a:gd name="connsiteY11" fmla="*/ 47889 h 80649"/>
                <a:gd name="connsiteX12" fmla="*/ 27219 w 65969"/>
                <a:gd name="connsiteY12" fmla="*/ 47146 h 80649"/>
                <a:gd name="connsiteX13" fmla="*/ 3024 w 65969"/>
                <a:gd name="connsiteY13" fmla="*/ 24872 h 80649"/>
                <a:gd name="connsiteX14" fmla="*/ 34780 w 65969"/>
                <a:gd name="connsiteY14" fmla="*/ 0 h 80649"/>
                <a:gd name="connsiteX15" fmla="*/ 65119 w 65969"/>
                <a:gd name="connsiteY15" fmla="*/ 8260 h 80649"/>
                <a:gd name="connsiteX16" fmla="*/ 57652 w 65969"/>
                <a:gd name="connsiteY16" fmla="*/ 20975 h 80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969" h="80649">
                  <a:moveTo>
                    <a:pt x="57652" y="20975"/>
                  </a:moveTo>
                  <a:cubicBezTo>
                    <a:pt x="51414" y="17169"/>
                    <a:pt x="43853" y="14385"/>
                    <a:pt x="35158" y="14385"/>
                  </a:cubicBezTo>
                  <a:cubicBezTo>
                    <a:pt x="26463" y="14385"/>
                    <a:pt x="19942" y="17819"/>
                    <a:pt x="19942" y="23759"/>
                  </a:cubicBezTo>
                  <a:cubicBezTo>
                    <a:pt x="19942" y="29698"/>
                    <a:pt x="26841" y="31183"/>
                    <a:pt x="36292" y="32761"/>
                  </a:cubicBezTo>
                  <a:lnTo>
                    <a:pt x="40735" y="33504"/>
                  </a:lnTo>
                  <a:cubicBezTo>
                    <a:pt x="54911" y="35824"/>
                    <a:pt x="65969" y="41763"/>
                    <a:pt x="65969" y="55313"/>
                  </a:cubicBezTo>
                  <a:cubicBezTo>
                    <a:pt x="65969" y="72483"/>
                    <a:pt x="50564" y="80650"/>
                    <a:pt x="33457" y="80650"/>
                  </a:cubicBezTo>
                  <a:cubicBezTo>
                    <a:pt x="21454" y="80650"/>
                    <a:pt x="8506" y="77216"/>
                    <a:pt x="0" y="70441"/>
                  </a:cubicBezTo>
                  <a:lnTo>
                    <a:pt x="8223" y="57912"/>
                  </a:lnTo>
                  <a:cubicBezTo>
                    <a:pt x="13988" y="62460"/>
                    <a:pt x="23250" y="66358"/>
                    <a:pt x="33457" y="66358"/>
                  </a:cubicBezTo>
                  <a:cubicBezTo>
                    <a:pt x="42247" y="66358"/>
                    <a:pt x="49052" y="62924"/>
                    <a:pt x="49052" y="56984"/>
                  </a:cubicBezTo>
                  <a:cubicBezTo>
                    <a:pt x="49052" y="51601"/>
                    <a:pt x="43286" y="49559"/>
                    <a:pt x="32228" y="47889"/>
                  </a:cubicBezTo>
                  <a:lnTo>
                    <a:pt x="27219" y="47146"/>
                  </a:lnTo>
                  <a:cubicBezTo>
                    <a:pt x="13232" y="45012"/>
                    <a:pt x="3024" y="38886"/>
                    <a:pt x="3024" y="24872"/>
                  </a:cubicBezTo>
                  <a:cubicBezTo>
                    <a:pt x="3213" y="8446"/>
                    <a:pt x="17957" y="0"/>
                    <a:pt x="34780" y="0"/>
                  </a:cubicBezTo>
                  <a:cubicBezTo>
                    <a:pt x="45933" y="0"/>
                    <a:pt x="55100" y="2413"/>
                    <a:pt x="65119" y="8260"/>
                  </a:cubicBezTo>
                  <a:lnTo>
                    <a:pt x="57652" y="20975"/>
                  </a:lnTo>
                  <a:close/>
                </a:path>
              </a:pathLst>
            </a:custGeom>
            <a:grpFill/>
            <a:ln w="0" cap="flat">
              <a:noFill/>
              <a:prstDash val="solid"/>
              <a:miter/>
            </a:ln>
          </p:spPr>
          <p:txBody>
            <a:bodyPr rtlCol="0" anchor="ctr"/>
            <a:lstStyle/>
            <a:p>
              <a:endParaRPr lang="en-US" b="1" i="0">
                <a:latin typeface="Tenorite" pitchFamily="2" charset="0"/>
              </a:endParaRPr>
            </a:p>
          </p:txBody>
        </p:sp>
        <p:sp>
          <p:nvSpPr>
            <p:cNvPr id="34" name="Freeform 33">
              <a:extLst>
                <a:ext uri="{FF2B5EF4-FFF2-40B4-BE49-F238E27FC236}">
                  <a16:creationId xmlns:a16="http://schemas.microsoft.com/office/drawing/2014/main" id="{CF839F21-1A0A-D3CA-7CCC-AB90CD03926D}"/>
                </a:ext>
              </a:extLst>
            </p:cNvPr>
            <p:cNvSpPr/>
            <p:nvPr/>
          </p:nvSpPr>
          <p:spPr>
            <a:xfrm>
              <a:off x="5762184" y="3318466"/>
              <a:ext cx="49429" cy="71369"/>
            </a:xfrm>
            <a:custGeom>
              <a:avLst/>
              <a:gdLst>
                <a:gd name="connsiteX0" fmla="*/ 45271 w 49429"/>
                <a:gd name="connsiteY0" fmla="*/ 29049 h 71369"/>
                <a:gd name="connsiteX1" fmla="*/ 25424 w 49429"/>
                <a:gd name="connsiteY1" fmla="*/ 29049 h 71369"/>
                <a:gd name="connsiteX2" fmla="*/ 25424 w 49429"/>
                <a:gd name="connsiteY2" fmla="*/ 48724 h 71369"/>
                <a:gd name="connsiteX3" fmla="*/ 33646 w 49429"/>
                <a:gd name="connsiteY3" fmla="*/ 57912 h 71369"/>
                <a:gd name="connsiteX4" fmla="*/ 43948 w 49429"/>
                <a:gd name="connsiteY4" fmla="*/ 54385 h 71369"/>
                <a:gd name="connsiteX5" fmla="*/ 49430 w 49429"/>
                <a:gd name="connsiteY5" fmla="*/ 65708 h 71369"/>
                <a:gd name="connsiteX6" fmla="*/ 31189 w 49429"/>
                <a:gd name="connsiteY6" fmla="*/ 71369 h 71369"/>
                <a:gd name="connsiteX7" fmla="*/ 10585 w 49429"/>
                <a:gd name="connsiteY7" fmla="*/ 49838 h 71369"/>
                <a:gd name="connsiteX8" fmla="*/ 10585 w 49429"/>
                <a:gd name="connsiteY8" fmla="*/ 28956 h 71369"/>
                <a:gd name="connsiteX9" fmla="*/ 0 w 49429"/>
                <a:gd name="connsiteY9" fmla="*/ 28956 h 71369"/>
                <a:gd name="connsiteX10" fmla="*/ 0 w 49429"/>
                <a:gd name="connsiteY10" fmla="*/ 16056 h 71369"/>
                <a:gd name="connsiteX11" fmla="*/ 10585 w 49429"/>
                <a:gd name="connsiteY11" fmla="*/ 16056 h 71369"/>
                <a:gd name="connsiteX12" fmla="*/ 10585 w 49429"/>
                <a:gd name="connsiteY12" fmla="*/ 0 h 71369"/>
                <a:gd name="connsiteX13" fmla="*/ 25424 w 49429"/>
                <a:gd name="connsiteY13" fmla="*/ 0 h 71369"/>
                <a:gd name="connsiteX14" fmla="*/ 25424 w 49429"/>
                <a:gd name="connsiteY14" fmla="*/ 16056 h 71369"/>
                <a:gd name="connsiteX15" fmla="*/ 45271 w 49429"/>
                <a:gd name="connsiteY15" fmla="*/ 16056 h 71369"/>
                <a:gd name="connsiteX16" fmla="*/ 45271 w 49429"/>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429" h="71369">
                  <a:moveTo>
                    <a:pt x="45271" y="29049"/>
                  </a:moveTo>
                  <a:lnTo>
                    <a:pt x="25424" y="29049"/>
                  </a:lnTo>
                  <a:lnTo>
                    <a:pt x="25424" y="48724"/>
                  </a:lnTo>
                  <a:cubicBezTo>
                    <a:pt x="25424" y="55499"/>
                    <a:pt x="29015" y="57912"/>
                    <a:pt x="33646" y="57912"/>
                  </a:cubicBezTo>
                  <a:cubicBezTo>
                    <a:pt x="37143" y="57912"/>
                    <a:pt x="40924" y="56149"/>
                    <a:pt x="43948" y="54385"/>
                  </a:cubicBezTo>
                  <a:lnTo>
                    <a:pt x="49430" y="65708"/>
                  </a:lnTo>
                  <a:cubicBezTo>
                    <a:pt x="44609" y="68956"/>
                    <a:pt x="39033"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5" name="Freeform 34">
              <a:extLst>
                <a:ext uri="{FF2B5EF4-FFF2-40B4-BE49-F238E27FC236}">
                  <a16:creationId xmlns:a16="http://schemas.microsoft.com/office/drawing/2014/main" id="{184A4D2E-6D93-A7F4-5950-E947646CFD2F}"/>
                </a:ext>
              </a:extLst>
            </p:cNvPr>
            <p:cNvSpPr/>
            <p:nvPr/>
          </p:nvSpPr>
          <p:spPr>
            <a:xfrm>
              <a:off x="5820593" y="3333129"/>
              <a:ext cx="37615" cy="55313"/>
            </a:xfrm>
            <a:custGeom>
              <a:avLst/>
              <a:gdLst>
                <a:gd name="connsiteX0" fmla="*/ 37427 w 37615"/>
                <a:gd name="connsiteY0" fmla="*/ 1114 h 55313"/>
                <a:gd name="connsiteX1" fmla="*/ 35253 w 37615"/>
                <a:gd name="connsiteY1" fmla="*/ 15499 h 55313"/>
                <a:gd name="connsiteX2" fmla="*/ 26274 w 37615"/>
                <a:gd name="connsiteY2" fmla="*/ 13736 h 55313"/>
                <a:gd name="connsiteX3" fmla="*/ 14744 w 37615"/>
                <a:gd name="connsiteY3" fmla="*/ 25893 h 55313"/>
                <a:gd name="connsiteX4" fmla="*/ 14744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427" y="1114"/>
                  </a:moveTo>
                  <a:lnTo>
                    <a:pt x="35253" y="15499"/>
                  </a:lnTo>
                  <a:cubicBezTo>
                    <a:pt x="32796" y="14478"/>
                    <a:pt x="29299" y="13736"/>
                    <a:pt x="26274" y="13736"/>
                  </a:cubicBezTo>
                  <a:cubicBezTo>
                    <a:pt x="19375" y="13736"/>
                    <a:pt x="14744" y="17819"/>
                    <a:pt x="14744" y="25893"/>
                  </a:cubicBezTo>
                  <a:lnTo>
                    <a:pt x="14744"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6" name="Freeform 35">
              <a:extLst>
                <a:ext uri="{FF2B5EF4-FFF2-40B4-BE49-F238E27FC236}">
                  <a16:creationId xmlns:a16="http://schemas.microsoft.com/office/drawing/2014/main" id="{1C5B9078-BC1A-035C-99DD-A1A3F3614C88}"/>
                </a:ext>
              </a:extLst>
            </p:cNvPr>
            <p:cNvSpPr/>
            <p:nvPr/>
          </p:nvSpPr>
          <p:spPr>
            <a:xfrm>
              <a:off x="5862934"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317"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7" name="Freeform 36">
              <a:extLst>
                <a:ext uri="{FF2B5EF4-FFF2-40B4-BE49-F238E27FC236}">
                  <a16:creationId xmlns:a16="http://schemas.microsoft.com/office/drawing/2014/main" id="{A41F96A4-B9E0-C9F9-0C3C-C14414E4AE49}"/>
                </a:ext>
              </a:extLst>
            </p:cNvPr>
            <p:cNvSpPr/>
            <p:nvPr/>
          </p:nvSpPr>
          <p:spPr>
            <a:xfrm>
              <a:off x="5930604" y="3318466"/>
              <a:ext cx="49335" cy="71369"/>
            </a:xfrm>
            <a:custGeom>
              <a:avLst/>
              <a:gdLst>
                <a:gd name="connsiteX0" fmla="*/ 45177 w 49335"/>
                <a:gd name="connsiteY0" fmla="*/ 29049 h 71369"/>
                <a:gd name="connsiteX1" fmla="*/ 25329 w 49335"/>
                <a:gd name="connsiteY1" fmla="*/ 29049 h 71369"/>
                <a:gd name="connsiteX2" fmla="*/ 25329 w 49335"/>
                <a:gd name="connsiteY2" fmla="*/ 48724 h 71369"/>
                <a:gd name="connsiteX3" fmla="*/ 33552 w 49335"/>
                <a:gd name="connsiteY3" fmla="*/ 57912 h 71369"/>
                <a:gd name="connsiteX4" fmla="*/ 43853 w 49335"/>
                <a:gd name="connsiteY4" fmla="*/ 54385 h 71369"/>
                <a:gd name="connsiteX5" fmla="*/ 49335 w 49335"/>
                <a:gd name="connsiteY5" fmla="*/ 65708 h 71369"/>
                <a:gd name="connsiteX6" fmla="*/ 31189 w 49335"/>
                <a:gd name="connsiteY6" fmla="*/ 71369 h 71369"/>
                <a:gd name="connsiteX7" fmla="*/ 10585 w 49335"/>
                <a:gd name="connsiteY7" fmla="*/ 49838 h 71369"/>
                <a:gd name="connsiteX8" fmla="*/ 10585 w 49335"/>
                <a:gd name="connsiteY8" fmla="*/ 28956 h 71369"/>
                <a:gd name="connsiteX9" fmla="*/ 0 w 49335"/>
                <a:gd name="connsiteY9" fmla="*/ 28956 h 71369"/>
                <a:gd name="connsiteX10" fmla="*/ 0 w 49335"/>
                <a:gd name="connsiteY10" fmla="*/ 16056 h 71369"/>
                <a:gd name="connsiteX11" fmla="*/ 10585 w 49335"/>
                <a:gd name="connsiteY11" fmla="*/ 16056 h 71369"/>
                <a:gd name="connsiteX12" fmla="*/ 10585 w 49335"/>
                <a:gd name="connsiteY12" fmla="*/ 0 h 71369"/>
                <a:gd name="connsiteX13" fmla="*/ 25424 w 49335"/>
                <a:gd name="connsiteY13" fmla="*/ 0 h 71369"/>
                <a:gd name="connsiteX14" fmla="*/ 25424 w 49335"/>
                <a:gd name="connsiteY14" fmla="*/ 16056 h 71369"/>
                <a:gd name="connsiteX15" fmla="*/ 45271 w 49335"/>
                <a:gd name="connsiteY15" fmla="*/ 16056 h 71369"/>
                <a:gd name="connsiteX16" fmla="*/ 45271 w 49335"/>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335" h="71369">
                  <a:moveTo>
                    <a:pt x="45177" y="29049"/>
                  </a:moveTo>
                  <a:lnTo>
                    <a:pt x="25329" y="29049"/>
                  </a:lnTo>
                  <a:lnTo>
                    <a:pt x="25329" y="48724"/>
                  </a:lnTo>
                  <a:cubicBezTo>
                    <a:pt x="25329" y="55499"/>
                    <a:pt x="28921" y="57912"/>
                    <a:pt x="33552" y="57912"/>
                  </a:cubicBezTo>
                  <a:cubicBezTo>
                    <a:pt x="37049" y="57912"/>
                    <a:pt x="40829" y="56149"/>
                    <a:pt x="43853" y="54385"/>
                  </a:cubicBezTo>
                  <a:lnTo>
                    <a:pt x="49335" y="65708"/>
                  </a:lnTo>
                  <a:cubicBezTo>
                    <a:pt x="44515" y="68956"/>
                    <a:pt x="38939"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8" name="Freeform 37">
              <a:extLst>
                <a:ext uri="{FF2B5EF4-FFF2-40B4-BE49-F238E27FC236}">
                  <a16:creationId xmlns:a16="http://schemas.microsoft.com/office/drawing/2014/main" id="{DA172F63-16D3-468F-4084-AD97A2F2B3B3}"/>
                </a:ext>
              </a:extLst>
            </p:cNvPr>
            <p:cNvSpPr/>
            <p:nvPr/>
          </p:nvSpPr>
          <p:spPr>
            <a:xfrm>
              <a:off x="5984665"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9" name="Freeform 38">
              <a:extLst>
                <a:ext uri="{FF2B5EF4-FFF2-40B4-BE49-F238E27FC236}">
                  <a16:creationId xmlns:a16="http://schemas.microsoft.com/office/drawing/2014/main" id="{82BFFD1B-BDDF-F6D1-FA28-DD796A3F278D}"/>
                </a:ext>
              </a:extLst>
            </p:cNvPr>
            <p:cNvSpPr/>
            <p:nvPr/>
          </p:nvSpPr>
          <p:spPr>
            <a:xfrm>
              <a:off x="6047988" y="3333036"/>
              <a:ext cx="56801" cy="78700"/>
            </a:xfrm>
            <a:custGeom>
              <a:avLst/>
              <a:gdLst>
                <a:gd name="connsiteX0" fmla="*/ 42247 w 56801"/>
                <a:gd name="connsiteY0" fmla="*/ 7517 h 78700"/>
                <a:gd name="connsiteX1" fmla="*/ 42247 w 56801"/>
                <a:gd name="connsiteY1" fmla="*/ 1485 h 78700"/>
                <a:gd name="connsiteX2" fmla="*/ 56802 w 56801"/>
                <a:gd name="connsiteY2" fmla="*/ 1485 h 78700"/>
                <a:gd name="connsiteX3" fmla="*/ 56802 w 56801"/>
                <a:gd name="connsiteY3" fmla="*/ 50951 h 78700"/>
                <a:gd name="connsiteX4" fmla="*/ 27125 w 56801"/>
                <a:gd name="connsiteY4" fmla="*/ 78701 h 78700"/>
                <a:gd name="connsiteX5" fmla="*/ 3119 w 56801"/>
                <a:gd name="connsiteY5" fmla="*/ 72204 h 78700"/>
                <a:gd name="connsiteX6" fmla="*/ 8412 w 56801"/>
                <a:gd name="connsiteY6" fmla="*/ 60325 h 78700"/>
                <a:gd name="connsiteX7" fmla="*/ 26558 w 56801"/>
                <a:gd name="connsiteY7" fmla="*/ 65801 h 78700"/>
                <a:gd name="connsiteX8" fmla="*/ 42152 w 56801"/>
                <a:gd name="connsiteY8" fmla="*/ 51508 h 78700"/>
                <a:gd name="connsiteX9" fmla="*/ 42152 w 56801"/>
                <a:gd name="connsiteY9" fmla="*/ 47703 h 78700"/>
                <a:gd name="connsiteX10" fmla="*/ 25235 w 56801"/>
                <a:gd name="connsiteY10" fmla="*/ 55035 h 78700"/>
                <a:gd name="connsiteX11" fmla="*/ 0 w 56801"/>
                <a:gd name="connsiteY11" fmla="*/ 27564 h 78700"/>
                <a:gd name="connsiteX12" fmla="*/ 25235 w 56801"/>
                <a:gd name="connsiteY12" fmla="*/ 0 h 78700"/>
                <a:gd name="connsiteX13" fmla="*/ 42247 w 56801"/>
                <a:gd name="connsiteY13" fmla="*/ 7425 h 78700"/>
                <a:gd name="connsiteX14" fmla="*/ 15122 w 56801"/>
                <a:gd name="connsiteY14" fmla="*/ 27657 h 78700"/>
                <a:gd name="connsiteX15" fmla="*/ 28921 w 56801"/>
                <a:gd name="connsiteY15" fmla="*/ 41763 h 78700"/>
                <a:gd name="connsiteX16" fmla="*/ 42719 w 56801"/>
                <a:gd name="connsiteY16" fmla="*/ 27657 h 78700"/>
                <a:gd name="connsiteX17" fmla="*/ 28921 w 56801"/>
                <a:gd name="connsiteY17" fmla="*/ 13457 h 78700"/>
                <a:gd name="connsiteX18" fmla="*/ 15122 w 56801"/>
                <a:gd name="connsiteY18" fmla="*/ 27657 h 7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801" h="78700">
                  <a:moveTo>
                    <a:pt x="42247" y="7517"/>
                  </a:moveTo>
                  <a:lnTo>
                    <a:pt x="42247" y="1485"/>
                  </a:lnTo>
                  <a:lnTo>
                    <a:pt x="56802" y="1485"/>
                  </a:lnTo>
                  <a:lnTo>
                    <a:pt x="56802" y="50951"/>
                  </a:lnTo>
                  <a:cubicBezTo>
                    <a:pt x="56802" y="68214"/>
                    <a:pt x="45271" y="78701"/>
                    <a:pt x="27125" y="78701"/>
                  </a:cubicBezTo>
                  <a:cubicBezTo>
                    <a:pt x="18430" y="78701"/>
                    <a:pt x="9262" y="76474"/>
                    <a:pt x="3119" y="72204"/>
                  </a:cubicBezTo>
                  <a:lnTo>
                    <a:pt x="8412" y="60325"/>
                  </a:lnTo>
                  <a:cubicBezTo>
                    <a:pt x="13893" y="63852"/>
                    <a:pt x="19942" y="65801"/>
                    <a:pt x="26558" y="65801"/>
                  </a:cubicBezTo>
                  <a:cubicBezTo>
                    <a:pt x="35725" y="65801"/>
                    <a:pt x="42152" y="60789"/>
                    <a:pt x="42152" y="51508"/>
                  </a:cubicBezTo>
                  <a:lnTo>
                    <a:pt x="42152" y="47703"/>
                  </a:lnTo>
                  <a:cubicBezTo>
                    <a:pt x="38372" y="52251"/>
                    <a:pt x="32890" y="55035"/>
                    <a:pt x="25235" y="55035"/>
                  </a:cubicBezTo>
                  <a:cubicBezTo>
                    <a:pt x="11814" y="55035"/>
                    <a:pt x="0" y="44084"/>
                    <a:pt x="0" y="27564"/>
                  </a:cubicBezTo>
                  <a:cubicBezTo>
                    <a:pt x="0" y="11044"/>
                    <a:pt x="11908" y="0"/>
                    <a:pt x="25235" y="0"/>
                  </a:cubicBezTo>
                  <a:cubicBezTo>
                    <a:pt x="32890" y="0"/>
                    <a:pt x="38466" y="2877"/>
                    <a:pt x="42247" y="7425"/>
                  </a:cubicBezTo>
                  <a:close/>
                  <a:moveTo>
                    <a:pt x="15122" y="27657"/>
                  </a:moveTo>
                  <a:cubicBezTo>
                    <a:pt x="15122" y="35453"/>
                    <a:pt x="20509" y="41763"/>
                    <a:pt x="28921" y="41763"/>
                  </a:cubicBezTo>
                  <a:cubicBezTo>
                    <a:pt x="37332" y="41763"/>
                    <a:pt x="42719" y="35638"/>
                    <a:pt x="42719" y="27657"/>
                  </a:cubicBezTo>
                  <a:cubicBezTo>
                    <a:pt x="42719" y="19675"/>
                    <a:pt x="37143" y="13457"/>
                    <a:pt x="28921" y="13457"/>
                  </a:cubicBezTo>
                  <a:cubicBezTo>
                    <a:pt x="20698" y="13457"/>
                    <a:pt x="15122" y="19768"/>
                    <a:pt x="15122" y="2765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0" name="Freeform 39">
              <a:extLst>
                <a:ext uri="{FF2B5EF4-FFF2-40B4-BE49-F238E27FC236}">
                  <a16:creationId xmlns:a16="http://schemas.microsoft.com/office/drawing/2014/main" id="{DD34B6B4-7800-528C-1163-FB7C111DFE65}"/>
                </a:ext>
              </a:extLst>
            </p:cNvPr>
            <p:cNvSpPr/>
            <p:nvPr/>
          </p:nvSpPr>
          <p:spPr>
            <a:xfrm>
              <a:off x="6113201" y="3334521"/>
              <a:ext cx="62661" cy="76473"/>
            </a:xfrm>
            <a:custGeom>
              <a:avLst/>
              <a:gdLst>
                <a:gd name="connsiteX0" fmla="*/ 20698 w 62661"/>
                <a:gd name="connsiteY0" fmla="*/ 76474 h 76473"/>
                <a:gd name="connsiteX1" fmla="*/ 4537 w 62661"/>
                <a:gd name="connsiteY1" fmla="*/ 76474 h 76473"/>
                <a:gd name="connsiteX2" fmla="*/ 23722 w 62661"/>
                <a:gd name="connsiteY2" fmla="*/ 42506 h 76473"/>
                <a:gd name="connsiteX3" fmla="*/ 0 w 62661"/>
                <a:gd name="connsiteY3" fmla="*/ 0 h 76473"/>
                <a:gd name="connsiteX4" fmla="*/ 16729 w 62661"/>
                <a:gd name="connsiteY4" fmla="*/ 0 h 76473"/>
                <a:gd name="connsiteX5" fmla="*/ 31850 w 62661"/>
                <a:gd name="connsiteY5" fmla="*/ 27750 h 76473"/>
                <a:gd name="connsiteX6" fmla="*/ 46500 w 62661"/>
                <a:gd name="connsiteY6" fmla="*/ 0 h 76473"/>
                <a:gd name="connsiteX7" fmla="*/ 62661 w 62661"/>
                <a:gd name="connsiteY7" fmla="*/ 0 h 76473"/>
                <a:gd name="connsiteX8" fmla="*/ 20698 w 62661"/>
                <a:gd name="connsiteY8" fmla="*/ 76381 h 76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661" h="76473">
                  <a:moveTo>
                    <a:pt x="20698" y="76474"/>
                  </a:moveTo>
                  <a:lnTo>
                    <a:pt x="4537" y="76474"/>
                  </a:lnTo>
                  <a:lnTo>
                    <a:pt x="23722" y="42506"/>
                  </a:lnTo>
                  <a:lnTo>
                    <a:pt x="0" y="0"/>
                  </a:lnTo>
                  <a:lnTo>
                    <a:pt x="16729" y="0"/>
                  </a:lnTo>
                  <a:lnTo>
                    <a:pt x="31850" y="27750"/>
                  </a:lnTo>
                  <a:lnTo>
                    <a:pt x="46500" y="0"/>
                  </a:lnTo>
                  <a:lnTo>
                    <a:pt x="62661" y="0"/>
                  </a:lnTo>
                  <a:lnTo>
                    <a:pt x="20698" y="76381"/>
                  </a:lnTo>
                  <a:close/>
                </a:path>
              </a:pathLst>
            </a:custGeom>
            <a:grpFill/>
            <a:ln w="0" cap="flat">
              <a:noFill/>
              <a:prstDash val="solid"/>
              <a:miter/>
            </a:ln>
          </p:spPr>
          <p:txBody>
            <a:bodyPr rtlCol="0" anchor="ctr"/>
            <a:lstStyle/>
            <a:p>
              <a:endParaRPr lang="en-US" b="1" i="0">
                <a:latin typeface="Tenorite" pitchFamily="2" charset="0"/>
              </a:endParaRPr>
            </a:p>
          </p:txBody>
        </p:sp>
        <p:sp>
          <p:nvSpPr>
            <p:cNvPr id="41" name="Freeform 40">
              <a:extLst>
                <a:ext uri="{FF2B5EF4-FFF2-40B4-BE49-F238E27FC236}">
                  <a16:creationId xmlns:a16="http://schemas.microsoft.com/office/drawing/2014/main" id="{7800C214-2707-5471-B132-28B44BCA98AD}"/>
                </a:ext>
              </a:extLst>
            </p:cNvPr>
            <p:cNvSpPr/>
            <p:nvPr/>
          </p:nvSpPr>
          <p:spPr>
            <a:xfrm>
              <a:off x="6210264" y="3333036"/>
              <a:ext cx="89029" cy="55499"/>
            </a:xfrm>
            <a:custGeom>
              <a:avLst/>
              <a:gdLst>
                <a:gd name="connsiteX0" fmla="*/ 89030 w 89029"/>
                <a:gd name="connsiteY0" fmla="*/ 21160 h 55499"/>
                <a:gd name="connsiteX1" fmla="*/ 89030 w 89029"/>
                <a:gd name="connsiteY1" fmla="*/ 55499 h 55499"/>
                <a:gd name="connsiteX2" fmla="*/ 74286 w 89029"/>
                <a:gd name="connsiteY2" fmla="*/ 55499 h 55499"/>
                <a:gd name="connsiteX3" fmla="*/ 74286 w 89029"/>
                <a:gd name="connsiteY3" fmla="*/ 25801 h 55499"/>
                <a:gd name="connsiteX4" fmla="*/ 63606 w 89029"/>
                <a:gd name="connsiteY4" fmla="*/ 13736 h 55499"/>
                <a:gd name="connsiteX5" fmla="*/ 51981 w 89029"/>
                <a:gd name="connsiteY5" fmla="*/ 25893 h 55499"/>
                <a:gd name="connsiteX6" fmla="*/ 51981 w 89029"/>
                <a:gd name="connsiteY6" fmla="*/ 55406 h 55499"/>
                <a:gd name="connsiteX7" fmla="*/ 37143 w 89029"/>
                <a:gd name="connsiteY7" fmla="*/ 55406 h 55499"/>
                <a:gd name="connsiteX8" fmla="*/ 37143 w 89029"/>
                <a:gd name="connsiteY8" fmla="*/ 25708 h 55499"/>
                <a:gd name="connsiteX9" fmla="*/ 26463 w 89029"/>
                <a:gd name="connsiteY9" fmla="*/ 13643 h 55499"/>
                <a:gd name="connsiteX10" fmla="*/ 14838 w 89029"/>
                <a:gd name="connsiteY10" fmla="*/ 25801 h 55499"/>
                <a:gd name="connsiteX11" fmla="*/ 14838 w 89029"/>
                <a:gd name="connsiteY11" fmla="*/ 55313 h 55499"/>
                <a:gd name="connsiteX12" fmla="*/ 0 w 89029"/>
                <a:gd name="connsiteY12" fmla="*/ 55313 h 55499"/>
                <a:gd name="connsiteX13" fmla="*/ 0 w 89029"/>
                <a:gd name="connsiteY13" fmla="*/ 1485 h 55499"/>
                <a:gd name="connsiteX14" fmla="*/ 14366 w 89029"/>
                <a:gd name="connsiteY14" fmla="*/ 1485 h 55499"/>
                <a:gd name="connsiteX15" fmla="*/ 14366 w 89029"/>
                <a:gd name="connsiteY15" fmla="*/ 7796 h 55499"/>
                <a:gd name="connsiteX16" fmla="*/ 30527 w 89029"/>
                <a:gd name="connsiteY16" fmla="*/ 0 h 55499"/>
                <a:gd name="connsiteX17" fmla="*/ 48674 w 89029"/>
                <a:gd name="connsiteY17" fmla="*/ 9281 h 55499"/>
                <a:gd name="connsiteX18" fmla="*/ 67292 w 89029"/>
                <a:gd name="connsiteY18" fmla="*/ 0 h 55499"/>
                <a:gd name="connsiteX19" fmla="*/ 88935 w 89029"/>
                <a:gd name="connsiteY19" fmla="*/ 21067 h 55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9029" h="55499">
                  <a:moveTo>
                    <a:pt x="89030" y="21160"/>
                  </a:moveTo>
                  <a:lnTo>
                    <a:pt x="89030" y="55499"/>
                  </a:lnTo>
                  <a:lnTo>
                    <a:pt x="74286" y="55499"/>
                  </a:lnTo>
                  <a:lnTo>
                    <a:pt x="74286" y="25801"/>
                  </a:lnTo>
                  <a:cubicBezTo>
                    <a:pt x="74286" y="18005"/>
                    <a:pt x="70317" y="13736"/>
                    <a:pt x="63606" y="13736"/>
                  </a:cubicBezTo>
                  <a:cubicBezTo>
                    <a:pt x="56896" y="13736"/>
                    <a:pt x="51981" y="17819"/>
                    <a:pt x="51981" y="25893"/>
                  </a:cubicBezTo>
                  <a:lnTo>
                    <a:pt x="51981" y="55406"/>
                  </a:lnTo>
                  <a:lnTo>
                    <a:pt x="37143" y="55406"/>
                  </a:lnTo>
                  <a:lnTo>
                    <a:pt x="37143" y="25708"/>
                  </a:lnTo>
                  <a:cubicBezTo>
                    <a:pt x="37143" y="17912"/>
                    <a:pt x="33174" y="13643"/>
                    <a:pt x="26463" y="13643"/>
                  </a:cubicBezTo>
                  <a:cubicBezTo>
                    <a:pt x="20131" y="13643"/>
                    <a:pt x="14838" y="17726"/>
                    <a:pt x="14838" y="25801"/>
                  </a:cubicBezTo>
                  <a:lnTo>
                    <a:pt x="14838" y="55313"/>
                  </a:lnTo>
                  <a:lnTo>
                    <a:pt x="0" y="55313"/>
                  </a:lnTo>
                  <a:lnTo>
                    <a:pt x="0" y="1485"/>
                  </a:lnTo>
                  <a:lnTo>
                    <a:pt x="14366" y="1485"/>
                  </a:lnTo>
                  <a:lnTo>
                    <a:pt x="14366" y="7796"/>
                  </a:lnTo>
                  <a:cubicBezTo>
                    <a:pt x="18241" y="2042"/>
                    <a:pt x="24289" y="0"/>
                    <a:pt x="30527" y="0"/>
                  </a:cubicBezTo>
                  <a:cubicBezTo>
                    <a:pt x="38466" y="0"/>
                    <a:pt x="44988" y="3527"/>
                    <a:pt x="48674" y="9281"/>
                  </a:cubicBezTo>
                  <a:cubicBezTo>
                    <a:pt x="52926" y="2413"/>
                    <a:pt x="60109" y="0"/>
                    <a:pt x="67292" y="0"/>
                  </a:cubicBezTo>
                  <a:cubicBezTo>
                    <a:pt x="80240" y="0"/>
                    <a:pt x="88935" y="8538"/>
                    <a:pt x="88935"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2" name="Freeform 41">
              <a:extLst>
                <a:ext uri="{FF2B5EF4-FFF2-40B4-BE49-F238E27FC236}">
                  <a16:creationId xmlns:a16="http://schemas.microsoft.com/office/drawing/2014/main" id="{F4322118-904C-AF9C-C880-2EE8CD6B84BA}"/>
                </a:ext>
              </a:extLst>
            </p:cNvPr>
            <p:cNvSpPr/>
            <p:nvPr/>
          </p:nvSpPr>
          <p:spPr>
            <a:xfrm>
              <a:off x="6311013"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3" name="Freeform 42">
              <a:extLst>
                <a:ext uri="{FF2B5EF4-FFF2-40B4-BE49-F238E27FC236}">
                  <a16:creationId xmlns:a16="http://schemas.microsoft.com/office/drawing/2014/main" id="{31308151-7445-88E8-3823-4302CC37FA24}"/>
                </a:ext>
              </a:extLst>
            </p:cNvPr>
            <p:cNvSpPr/>
            <p:nvPr/>
          </p:nvSpPr>
          <p:spPr>
            <a:xfrm>
              <a:off x="6380669" y="3308350"/>
              <a:ext cx="57463" cy="81577"/>
            </a:xfrm>
            <a:custGeom>
              <a:avLst/>
              <a:gdLst>
                <a:gd name="connsiteX0" fmla="*/ 42719 w 57463"/>
                <a:gd name="connsiteY0" fmla="*/ 31833 h 81577"/>
                <a:gd name="connsiteX1" fmla="*/ 42719 w 57463"/>
                <a:gd name="connsiteY1" fmla="*/ 0 h 81577"/>
                <a:gd name="connsiteX2" fmla="*/ 57463 w 57463"/>
                <a:gd name="connsiteY2" fmla="*/ 0 h 81577"/>
                <a:gd name="connsiteX3" fmla="*/ 57463 w 57463"/>
                <a:gd name="connsiteY3" fmla="*/ 80186 h 81577"/>
                <a:gd name="connsiteX4" fmla="*/ 43003 w 57463"/>
                <a:gd name="connsiteY4" fmla="*/ 80186 h 81577"/>
                <a:gd name="connsiteX5" fmla="*/ 43003 w 57463"/>
                <a:gd name="connsiteY5" fmla="*/ 74246 h 81577"/>
                <a:gd name="connsiteX6" fmla="*/ 26558 w 57463"/>
                <a:gd name="connsiteY6" fmla="*/ 81578 h 81577"/>
                <a:gd name="connsiteX7" fmla="*/ 0 w 57463"/>
                <a:gd name="connsiteY7" fmla="*/ 53179 h 81577"/>
                <a:gd name="connsiteX8" fmla="*/ 26558 w 57463"/>
                <a:gd name="connsiteY8" fmla="*/ 24780 h 81577"/>
                <a:gd name="connsiteX9" fmla="*/ 42719 w 57463"/>
                <a:gd name="connsiteY9" fmla="*/ 31833 h 81577"/>
                <a:gd name="connsiteX10" fmla="*/ 15122 w 57463"/>
                <a:gd name="connsiteY10" fmla="*/ 53179 h 81577"/>
                <a:gd name="connsiteX11" fmla="*/ 29299 w 57463"/>
                <a:gd name="connsiteY11" fmla="*/ 68028 h 81577"/>
                <a:gd name="connsiteX12" fmla="*/ 43475 w 57463"/>
                <a:gd name="connsiteY12" fmla="*/ 53179 h 81577"/>
                <a:gd name="connsiteX13" fmla="*/ 29299 w 57463"/>
                <a:gd name="connsiteY13" fmla="*/ 38330 h 81577"/>
                <a:gd name="connsiteX14" fmla="*/ 15122 w 57463"/>
                <a:gd name="connsiteY14" fmla="*/ 53179 h 81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81577">
                  <a:moveTo>
                    <a:pt x="42719" y="31833"/>
                  </a:moveTo>
                  <a:lnTo>
                    <a:pt x="42719" y="0"/>
                  </a:lnTo>
                  <a:lnTo>
                    <a:pt x="57463" y="0"/>
                  </a:lnTo>
                  <a:lnTo>
                    <a:pt x="57463" y="80186"/>
                  </a:lnTo>
                  <a:lnTo>
                    <a:pt x="43003" y="80186"/>
                  </a:lnTo>
                  <a:lnTo>
                    <a:pt x="43003" y="74246"/>
                  </a:lnTo>
                  <a:cubicBezTo>
                    <a:pt x="39411" y="78608"/>
                    <a:pt x="34119" y="81578"/>
                    <a:pt x="26558" y="81578"/>
                  </a:cubicBezTo>
                  <a:cubicBezTo>
                    <a:pt x="11436" y="81578"/>
                    <a:pt x="0" y="69420"/>
                    <a:pt x="0" y="53179"/>
                  </a:cubicBezTo>
                  <a:cubicBezTo>
                    <a:pt x="0" y="36937"/>
                    <a:pt x="11436" y="24780"/>
                    <a:pt x="26558" y="24780"/>
                  </a:cubicBezTo>
                  <a:cubicBezTo>
                    <a:pt x="33930" y="24780"/>
                    <a:pt x="39128" y="27657"/>
                    <a:pt x="42719" y="31833"/>
                  </a:cubicBezTo>
                  <a:close/>
                  <a:moveTo>
                    <a:pt x="15122" y="53179"/>
                  </a:moveTo>
                  <a:cubicBezTo>
                    <a:pt x="15122" y="61439"/>
                    <a:pt x="20604" y="68028"/>
                    <a:pt x="29299" y="68028"/>
                  </a:cubicBezTo>
                  <a:cubicBezTo>
                    <a:pt x="37994" y="68028"/>
                    <a:pt x="43475" y="61717"/>
                    <a:pt x="43475" y="53179"/>
                  </a:cubicBezTo>
                  <a:cubicBezTo>
                    <a:pt x="43475" y="44641"/>
                    <a:pt x="37710" y="38330"/>
                    <a:pt x="29299" y="38330"/>
                  </a:cubicBezTo>
                  <a:cubicBezTo>
                    <a:pt x="20887" y="38330"/>
                    <a:pt x="15122" y="44919"/>
                    <a:pt x="15122" y="5317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4" name="Freeform 43">
              <a:extLst>
                <a:ext uri="{FF2B5EF4-FFF2-40B4-BE49-F238E27FC236}">
                  <a16:creationId xmlns:a16="http://schemas.microsoft.com/office/drawing/2014/main" id="{A7942CA0-38C0-F890-0B70-9D3A85B57533}"/>
                </a:ext>
              </a:extLst>
            </p:cNvPr>
            <p:cNvSpPr/>
            <p:nvPr/>
          </p:nvSpPr>
          <p:spPr>
            <a:xfrm>
              <a:off x="6450229"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2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311 w 54533"/>
                <a:gd name="connsiteY10" fmla="*/ 23295 h 56798"/>
                <a:gd name="connsiteX11" fmla="*/ 39600 w 54533"/>
                <a:gd name="connsiteY11" fmla="*/ 23295 h 56798"/>
                <a:gd name="connsiteX12" fmla="*/ 27597 w 54533"/>
                <a:gd name="connsiteY12" fmla="*/ 12529 h 56798"/>
                <a:gd name="connsiteX13" fmla="*/ 15216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2" y="56798"/>
                  </a:cubicBezTo>
                  <a:cubicBezTo>
                    <a:pt x="11719" y="56798"/>
                    <a:pt x="0" y="45569"/>
                    <a:pt x="0" y="28585"/>
                  </a:cubicBezTo>
                  <a:cubicBezTo>
                    <a:pt x="0" y="11601"/>
                    <a:pt x="11341" y="0"/>
                    <a:pt x="27786" y="0"/>
                  </a:cubicBezTo>
                  <a:cubicBezTo>
                    <a:pt x="44231" y="0"/>
                    <a:pt x="54439" y="11508"/>
                    <a:pt x="54439" y="28306"/>
                  </a:cubicBezTo>
                  <a:close/>
                  <a:moveTo>
                    <a:pt x="15311" y="23295"/>
                  </a:moveTo>
                  <a:lnTo>
                    <a:pt x="39600" y="23295"/>
                  </a:lnTo>
                  <a:cubicBezTo>
                    <a:pt x="38277" y="16427"/>
                    <a:pt x="34024" y="12529"/>
                    <a:pt x="27597" y="12529"/>
                  </a:cubicBezTo>
                  <a:cubicBezTo>
                    <a:pt x="20604" y="12529"/>
                    <a:pt x="16540" y="16613"/>
                    <a:pt x="15216"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5" name="Freeform 44">
              <a:extLst>
                <a:ext uri="{FF2B5EF4-FFF2-40B4-BE49-F238E27FC236}">
                  <a16:creationId xmlns:a16="http://schemas.microsoft.com/office/drawing/2014/main" id="{A0BAB121-E44D-B9D0-290E-F9B7322C034B}"/>
                </a:ext>
              </a:extLst>
            </p:cNvPr>
            <p:cNvSpPr/>
            <p:nvPr/>
          </p:nvSpPr>
          <p:spPr>
            <a:xfrm>
              <a:off x="5868605" y="3467607"/>
              <a:ext cx="57463" cy="77680"/>
            </a:xfrm>
            <a:custGeom>
              <a:avLst/>
              <a:gdLst>
                <a:gd name="connsiteX0" fmla="*/ 57463 w 57463"/>
                <a:gd name="connsiteY0" fmla="*/ 28492 h 77680"/>
                <a:gd name="connsiteX1" fmla="*/ 30905 w 57463"/>
                <a:gd name="connsiteY1" fmla="*/ 56891 h 77680"/>
                <a:gd name="connsiteX2" fmla="*/ 14744 w 57463"/>
                <a:gd name="connsiteY2" fmla="*/ 49838 h 77680"/>
                <a:gd name="connsiteX3" fmla="*/ 14744 w 57463"/>
                <a:gd name="connsiteY3" fmla="*/ 77680 h 77680"/>
                <a:gd name="connsiteX4" fmla="*/ 0 w 57463"/>
                <a:gd name="connsiteY4" fmla="*/ 77680 h 77680"/>
                <a:gd name="connsiteX5" fmla="*/ 0 w 57463"/>
                <a:gd name="connsiteY5" fmla="*/ 1485 h 77680"/>
                <a:gd name="connsiteX6" fmla="*/ 14460 w 57463"/>
                <a:gd name="connsiteY6" fmla="*/ 1485 h 77680"/>
                <a:gd name="connsiteX7" fmla="*/ 14460 w 57463"/>
                <a:gd name="connsiteY7" fmla="*/ 7425 h 77680"/>
                <a:gd name="connsiteX8" fmla="*/ 30811 w 57463"/>
                <a:gd name="connsiteY8" fmla="*/ 0 h 77680"/>
                <a:gd name="connsiteX9" fmla="*/ 57463 w 57463"/>
                <a:gd name="connsiteY9" fmla="*/ 28399 h 77680"/>
                <a:gd name="connsiteX10" fmla="*/ 13988 w 57463"/>
                <a:gd name="connsiteY10" fmla="*/ 28492 h 77680"/>
                <a:gd name="connsiteX11" fmla="*/ 28070 w 57463"/>
                <a:gd name="connsiteY11" fmla="*/ 43341 h 77680"/>
                <a:gd name="connsiteX12" fmla="*/ 42247 w 57463"/>
                <a:gd name="connsiteY12" fmla="*/ 28492 h 77680"/>
                <a:gd name="connsiteX13" fmla="*/ 28070 w 57463"/>
                <a:gd name="connsiteY13" fmla="*/ 13643 h 77680"/>
                <a:gd name="connsiteX14" fmla="*/ 13988 w 57463"/>
                <a:gd name="connsiteY14" fmla="*/ 28492 h 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77680">
                  <a:moveTo>
                    <a:pt x="57463" y="28492"/>
                  </a:moveTo>
                  <a:cubicBezTo>
                    <a:pt x="57463" y="44640"/>
                    <a:pt x="46027" y="56891"/>
                    <a:pt x="30905" y="56891"/>
                  </a:cubicBezTo>
                  <a:cubicBezTo>
                    <a:pt x="23533" y="56891"/>
                    <a:pt x="18335" y="54014"/>
                    <a:pt x="14744" y="49838"/>
                  </a:cubicBezTo>
                  <a:lnTo>
                    <a:pt x="14744" y="77680"/>
                  </a:lnTo>
                  <a:lnTo>
                    <a:pt x="0" y="77680"/>
                  </a:lnTo>
                  <a:lnTo>
                    <a:pt x="0" y="1485"/>
                  </a:lnTo>
                  <a:lnTo>
                    <a:pt x="14460" y="1485"/>
                  </a:lnTo>
                  <a:lnTo>
                    <a:pt x="14460" y="7425"/>
                  </a:lnTo>
                  <a:cubicBezTo>
                    <a:pt x="18052" y="3063"/>
                    <a:pt x="23344" y="0"/>
                    <a:pt x="30811" y="0"/>
                  </a:cubicBezTo>
                  <a:cubicBezTo>
                    <a:pt x="46027" y="0"/>
                    <a:pt x="57463" y="12158"/>
                    <a:pt x="57463" y="28399"/>
                  </a:cubicBezTo>
                  <a:close/>
                  <a:moveTo>
                    <a:pt x="13988" y="28492"/>
                  </a:moveTo>
                  <a:cubicBezTo>
                    <a:pt x="13988" y="37030"/>
                    <a:pt x="19753" y="43341"/>
                    <a:pt x="28070" y="43341"/>
                  </a:cubicBezTo>
                  <a:cubicBezTo>
                    <a:pt x="36387" y="43341"/>
                    <a:pt x="42247" y="36752"/>
                    <a:pt x="42247" y="28492"/>
                  </a:cubicBezTo>
                  <a:cubicBezTo>
                    <a:pt x="42247" y="20232"/>
                    <a:pt x="36765" y="13643"/>
                    <a:pt x="28070" y="13643"/>
                  </a:cubicBezTo>
                  <a:cubicBezTo>
                    <a:pt x="19375" y="13643"/>
                    <a:pt x="13988" y="19954"/>
                    <a:pt x="13988" y="28492"/>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6" name="Freeform 45">
              <a:extLst>
                <a:ext uri="{FF2B5EF4-FFF2-40B4-BE49-F238E27FC236}">
                  <a16:creationId xmlns:a16="http://schemas.microsoft.com/office/drawing/2014/main" id="{1302C057-F49D-A35B-C9E7-42D918A57EAE}"/>
                </a:ext>
              </a:extLst>
            </p:cNvPr>
            <p:cNvSpPr/>
            <p:nvPr/>
          </p:nvSpPr>
          <p:spPr>
            <a:xfrm>
              <a:off x="5934668" y="3467700"/>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494"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7" name="Freeform 46">
              <a:extLst>
                <a:ext uri="{FF2B5EF4-FFF2-40B4-BE49-F238E27FC236}">
                  <a16:creationId xmlns:a16="http://schemas.microsoft.com/office/drawing/2014/main" id="{CBB03C7E-269B-ACB6-CF03-7EE2FBC9293B}"/>
                </a:ext>
              </a:extLst>
            </p:cNvPr>
            <p:cNvSpPr/>
            <p:nvPr/>
          </p:nvSpPr>
          <p:spPr>
            <a:xfrm>
              <a:off x="6001299" y="3467700"/>
              <a:ext cx="37615" cy="55313"/>
            </a:xfrm>
            <a:custGeom>
              <a:avLst/>
              <a:gdLst>
                <a:gd name="connsiteX0" fmla="*/ 37521 w 37615"/>
                <a:gd name="connsiteY0" fmla="*/ 1114 h 55313"/>
                <a:gd name="connsiteX1" fmla="*/ 35347 w 37615"/>
                <a:gd name="connsiteY1" fmla="*/ 15499 h 55313"/>
                <a:gd name="connsiteX2" fmla="*/ 26369 w 37615"/>
                <a:gd name="connsiteY2" fmla="*/ 13736 h 55313"/>
                <a:gd name="connsiteX3" fmla="*/ 14838 w 37615"/>
                <a:gd name="connsiteY3" fmla="*/ 25893 h 55313"/>
                <a:gd name="connsiteX4" fmla="*/ 14838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521" y="1114"/>
                  </a:moveTo>
                  <a:lnTo>
                    <a:pt x="35347" y="15499"/>
                  </a:lnTo>
                  <a:cubicBezTo>
                    <a:pt x="32890" y="14478"/>
                    <a:pt x="29393" y="13736"/>
                    <a:pt x="26369" y="13736"/>
                  </a:cubicBezTo>
                  <a:cubicBezTo>
                    <a:pt x="19469" y="13736"/>
                    <a:pt x="14838" y="17819"/>
                    <a:pt x="14838" y="25893"/>
                  </a:cubicBezTo>
                  <a:lnTo>
                    <a:pt x="14838"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8" name="Freeform 47">
              <a:extLst>
                <a:ext uri="{FF2B5EF4-FFF2-40B4-BE49-F238E27FC236}">
                  <a16:creationId xmlns:a16="http://schemas.microsoft.com/office/drawing/2014/main" id="{3DA5A416-CAB4-FE2B-C88F-46B3E405169B}"/>
                </a:ext>
              </a:extLst>
            </p:cNvPr>
            <p:cNvSpPr/>
            <p:nvPr/>
          </p:nvSpPr>
          <p:spPr>
            <a:xfrm>
              <a:off x="6044113" y="3467793"/>
              <a:ext cx="49618" cy="56705"/>
            </a:xfrm>
            <a:custGeom>
              <a:avLst/>
              <a:gdLst>
                <a:gd name="connsiteX0" fmla="*/ 43097 w 49618"/>
                <a:gd name="connsiteY0" fmla="*/ 16334 h 56705"/>
                <a:gd name="connsiteX1" fmla="*/ 25613 w 49618"/>
                <a:gd name="connsiteY1" fmla="*/ 11972 h 56705"/>
                <a:gd name="connsiteX2" fmla="*/ 17201 w 49618"/>
                <a:gd name="connsiteY2" fmla="*/ 16891 h 56705"/>
                <a:gd name="connsiteX3" fmla="*/ 26180 w 49618"/>
                <a:gd name="connsiteY3" fmla="*/ 21531 h 56705"/>
                <a:gd name="connsiteX4" fmla="*/ 31094 w 49618"/>
                <a:gd name="connsiteY4" fmla="*/ 22274 h 56705"/>
                <a:gd name="connsiteX5" fmla="*/ 49619 w 49618"/>
                <a:gd name="connsiteY5" fmla="*/ 38422 h 56705"/>
                <a:gd name="connsiteX6" fmla="*/ 24384 w 49618"/>
                <a:gd name="connsiteY6" fmla="*/ 56706 h 56705"/>
                <a:gd name="connsiteX7" fmla="*/ 0 w 49618"/>
                <a:gd name="connsiteY7" fmla="*/ 50395 h 56705"/>
                <a:gd name="connsiteX8" fmla="*/ 5860 w 49618"/>
                <a:gd name="connsiteY8" fmla="*/ 39350 h 56705"/>
                <a:gd name="connsiteX9" fmla="*/ 24573 w 49618"/>
                <a:gd name="connsiteY9" fmla="*/ 44640 h 56705"/>
                <a:gd name="connsiteX10" fmla="*/ 34686 w 49618"/>
                <a:gd name="connsiteY10" fmla="*/ 39536 h 56705"/>
                <a:gd name="connsiteX11" fmla="*/ 25518 w 49618"/>
                <a:gd name="connsiteY11" fmla="*/ 34617 h 56705"/>
                <a:gd name="connsiteX12" fmla="*/ 21076 w 49618"/>
                <a:gd name="connsiteY12" fmla="*/ 33968 h 56705"/>
                <a:gd name="connsiteX13" fmla="*/ 2079 w 49618"/>
                <a:gd name="connsiteY13" fmla="*/ 17633 h 56705"/>
                <a:gd name="connsiteX14" fmla="*/ 25235 w 49618"/>
                <a:gd name="connsiteY14" fmla="*/ 0 h 56705"/>
                <a:gd name="connsiteX15" fmla="*/ 48201 w 49618"/>
                <a:gd name="connsiteY15" fmla="*/ 5104 h 56705"/>
                <a:gd name="connsiteX16" fmla="*/ 43192 w 49618"/>
                <a:gd name="connsiteY16" fmla="*/ 16427 h 56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618" h="56705">
                  <a:moveTo>
                    <a:pt x="43097" y="16334"/>
                  </a:moveTo>
                  <a:cubicBezTo>
                    <a:pt x="38750" y="14200"/>
                    <a:pt x="31756" y="11972"/>
                    <a:pt x="25613" y="11972"/>
                  </a:cubicBezTo>
                  <a:cubicBezTo>
                    <a:pt x="20036" y="11972"/>
                    <a:pt x="17201" y="13921"/>
                    <a:pt x="17201" y="16891"/>
                  </a:cubicBezTo>
                  <a:cubicBezTo>
                    <a:pt x="17201" y="20046"/>
                    <a:pt x="21171" y="20789"/>
                    <a:pt x="26180" y="21531"/>
                  </a:cubicBezTo>
                  <a:lnTo>
                    <a:pt x="31094" y="22274"/>
                  </a:lnTo>
                  <a:cubicBezTo>
                    <a:pt x="43003" y="24037"/>
                    <a:pt x="49619" y="29327"/>
                    <a:pt x="49619" y="38422"/>
                  </a:cubicBezTo>
                  <a:cubicBezTo>
                    <a:pt x="49619" y="49559"/>
                    <a:pt x="40356" y="56706"/>
                    <a:pt x="24384" y="56706"/>
                  </a:cubicBezTo>
                  <a:cubicBezTo>
                    <a:pt x="16918" y="56706"/>
                    <a:pt x="7088" y="55313"/>
                    <a:pt x="0" y="50395"/>
                  </a:cubicBezTo>
                  <a:lnTo>
                    <a:pt x="5860" y="39350"/>
                  </a:lnTo>
                  <a:cubicBezTo>
                    <a:pt x="10585" y="42413"/>
                    <a:pt x="16256" y="44640"/>
                    <a:pt x="24573" y="44640"/>
                  </a:cubicBezTo>
                  <a:cubicBezTo>
                    <a:pt x="31472" y="44640"/>
                    <a:pt x="34686" y="42784"/>
                    <a:pt x="34686" y="39536"/>
                  </a:cubicBezTo>
                  <a:cubicBezTo>
                    <a:pt x="34686" y="36937"/>
                    <a:pt x="31945" y="35453"/>
                    <a:pt x="25518" y="34617"/>
                  </a:cubicBezTo>
                  <a:lnTo>
                    <a:pt x="21076" y="33968"/>
                  </a:lnTo>
                  <a:cubicBezTo>
                    <a:pt x="8412" y="32204"/>
                    <a:pt x="2079" y="26821"/>
                    <a:pt x="2079" y="17633"/>
                  </a:cubicBezTo>
                  <a:cubicBezTo>
                    <a:pt x="2079" y="6589"/>
                    <a:pt x="10774" y="0"/>
                    <a:pt x="25235" y="0"/>
                  </a:cubicBezTo>
                  <a:cubicBezTo>
                    <a:pt x="34024" y="0"/>
                    <a:pt x="40924" y="1578"/>
                    <a:pt x="48201" y="5104"/>
                  </a:cubicBezTo>
                  <a:lnTo>
                    <a:pt x="43192" y="16427"/>
                  </a:lnTo>
                  <a:close/>
                </a:path>
              </a:pathLst>
            </a:custGeom>
            <a:grpFill/>
            <a:ln w="0" cap="flat">
              <a:noFill/>
              <a:prstDash val="solid"/>
              <a:miter/>
            </a:ln>
          </p:spPr>
          <p:txBody>
            <a:bodyPr rtlCol="0" anchor="ctr"/>
            <a:lstStyle/>
            <a:p>
              <a:endParaRPr lang="en-US" b="1" i="0">
                <a:latin typeface="Tenorite" pitchFamily="2" charset="0"/>
              </a:endParaRPr>
            </a:p>
          </p:txBody>
        </p:sp>
        <p:sp>
          <p:nvSpPr>
            <p:cNvPr id="49" name="Freeform 48">
              <a:extLst>
                <a:ext uri="{FF2B5EF4-FFF2-40B4-BE49-F238E27FC236}">
                  <a16:creationId xmlns:a16="http://schemas.microsoft.com/office/drawing/2014/main" id="{65266FCA-12B4-C374-A999-C80C2616BE41}"/>
                </a:ext>
              </a:extLst>
            </p:cNvPr>
            <p:cNvSpPr/>
            <p:nvPr/>
          </p:nvSpPr>
          <p:spPr>
            <a:xfrm>
              <a:off x="6101670" y="3467700"/>
              <a:ext cx="59447" cy="56798"/>
            </a:xfrm>
            <a:custGeom>
              <a:avLst/>
              <a:gdLst>
                <a:gd name="connsiteX0" fmla="*/ 59448 w 59447"/>
                <a:gd name="connsiteY0" fmla="*/ 28399 h 56798"/>
                <a:gd name="connsiteX1" fmla="*/ 29677 w 59447"/>
                <a:gd name="connsiteY1" fmla="*/ 56798 h 56798"/>
                <a:gd name="connsiteX2" fmla="*/ 0 w 59447"/>
                <a:gd name="connsiteY2" fmla="*/ 28399 h 56798"/>
                <a:gd name="connsiteX3" fmla="*/ 29677 w 59447"/>
                <a:gd name="connsiteY3" fmla="*/ 0 h 56798"/>
                <a:gd name="connsiteX4" fmla="*/ 59448 w 59447"/>
                <a:gd name="connsiteY4" fmla="*/ 28399 h 56798"/>
                <a:gd name="connsiteX5" fmla="*/ 15122 w 59447"/>
                <a:gd name="connsiteY5" fmla="*/ 28399 h 56798"/>
                <a:gd name="connsiteX6" fmla="*/ 29677 w 59447"/>
                <a:gd name="connsiteY6" fmla="*/ 43248 h 56798"/>
                <a:gd name="connsiteX7" fmla="*/ 44326 w 59447"/>
                <a:gd name="connsiteY7" fmla="*/ 28399 h 56798"/>
                <a:gd name="connsiteX8" fmla="*/ 29677 w 59447"/>
                <a:gd name="connsiteY8" fmla="*/ 13550 h 56798"/>
                <a:gd name="connsiteX9" fmla="*/ 15122 w 59447"/>
                <a:gd name="connsiteY9"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447" h="56798">
                  <a:moveTo>
                    <a:pt x="59448" y="28399"/>
                  </a:moveTo>
                  <a:cubicBezTo>
                    <a:pt x="59448" y="44640"/>
                    <a:pt x="46783" y="56798"/>
                    <a:pt x="29677" y="56798"/>
                  </a:cubicBezTo>
                  <a:cubicBezTo>
                    <a:pt x="12570" y="56798"/>
                    <a:pt x="0" y="44640"/>
                    <a:pt x="0" y="28399"/>
                  </a:cubicBezTo>
                  <a:cubicBezTo>
                    <a:pt x="0" y="12158"/>
                    <a:pt x="12570" y="0"/>
                    <a:pt x="29677" y="0"/>
                  </a:cubicBezTo>
                  <a:cubicBezTo>
                    <a:pt x="46783" y="0"/>
                    <a:pt x="59448" y="12158"/>
                    <a:pt x="59448" y="28399"/>
                  </a:cubicBezTo>
                  <a:close/>
                  <a:moveTo>
                    <a:pt x="15122" y="28399"/>
                  </a:moveTo>
                  <a:cubicBezTo>
                    <a:pt x="15122" y="37123"/>
                    <a:pt x="21360" y="43248"/>
                    <a:pt x="29677" y="43248"/>
                  </a:cubicBezTo>
                  <a:cubicBezTo>
                    <a:pt x="37994" y="43248"/>
                    <a:pt x="44326" y="37123"/>
                    <a:pt x="44326" y="28399"/>
                  </a:cubicBezTo>
                  <a:cubicBezTo>
                    <a:pt x="44326" y="19675"/>
                    <a:pt x="37994" y="13550"/>
                    <a:pt x="29677" y="13550"/>
                  </a:cubicBezTo>
                  <a:cubicBezTo>
                    <a:pt x="21360" y="13550"/>
                    <a:pt x="15122" y="19675"/>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0" name="Freeform 49">
              <a:extLst>
                <a:ext uri="{FF2B5EF4-FFF2-40B4-BE49-F238E27FC236}">
                  <a16:creationId xmlns:a16="http://schemas.microsoft.com/office/drawing/2014/main" id="{6FA5F325-4E75-B2A3-CAA8-715933DCE62D}"/>
                </a:ext>
              </a:extLst>
            </p:cNvPr>
            <p:cNvSpPr/>
            <p:nvPr/>
          </p:nvSpPr>
          <p:spPr>
            <a:xfrm>
              <a:off x="6173215" y="3467607"/>
              <a:ext cx="51981" cy="55498"/>
            </a:xfrm>
            <a:custGeom>
              <a:avLst/>
              <a:gdLst>
                <a:gd name="connsiteX0" fmla="*/ 51981 w 51981"/>
                <a:gd name="connsiteY0" fmla="*/ 21160 h 55498"/>
                <a:gd name="connsiteX1" fmla="*/ 51981 w 51981"/>
                <a:gd name="connsiteY1" fmla="*/ 55499 h 55498"/>
                <a:gd name="connsiteX2" fmla="*/ 37143 w 51981"/>
                <a:gd name="connsiteY2" fmla="*/ 55499 h 55498"/>
                <a:gd name="connsiteX3" fmla="*/ 37143 w 51981"/>
                <a:gd name="connsiteY3" fmla="*/ 25801 h 55498"/>
                <a:gd name="connsiteX4" fmla="*/ 26463 w 51981"/>
                <a:gd name="connsiteY4" fmla="*/ 13736 h 55498"/>
                <a:gd name="connsiteX5" fmla="*/ 14838 w 51981"/>
                <a:gd name="connsiteY5" fmla="*/ 25893 h 55498"/>
                <a:gd name="connsiteX6" fmla="*/ 14838 w 51981"/>
                <a:gd name="connsiteY6" fmla="*/ 55406 h 55498"/>
                <a:gd name="connsiteX7" fmla="*/ 0 w 51981"/>
                <a:gd name="connsiteY7" fmla="*/ 55406 h 55498"/>
                <a:gd name="connsiteX8" fmla="*/ 0 w 51981"/>
                <a:gd name="connsiteY8" fmla="*/ 1485 h 55498"/>
                <a:gd name="connsiteX9" fmla="*/ 14366 w 51981"/>
                <a:gd name="connsiteY9" fmla="*/ 1485 h 55498"/>
                <a:gd name="connsiteX10" fmla="*/ 14366 w 51981"/>
                <a:gd name="connsiteY10" fmla="*/ 7796 h 55498"/>
                <a:gd name="connsiteX11" fmla="*/ 30527 w 51981"/>
                <a:gd name="connsiteY11" fmla="*/ 0 h 55498"/>
                <a:gd name="connsiteX12" fmla="*/ 51887 w 51981"/>
                <a:gd name="connsiteY12" fmla="*/ 21067 h 55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1981" h="55498">
                  <a:moveTo>
                    <a:pt x="51981" y="21160"/>
                  </a:moveTo>
                  <a:lnTo>
                    <a:pt x="51981" y="55499"/>
                  </a:lnTo>
                  <a:lnTo>
                    <a:pt x="37143" y="55499"/>
                  </a:lnTo>
                  <a:lnTo>
                    <a:pt x="37143" y="25801"/>
                  </a:lnTo>
                  <a:cubicBezTo>
                    <a:pt x="37143" y="18005"/>
                    <a:pt x="33174" y="13736"/>
                    <a:pt x="26463" y="13736"/>
                  </a:cubicBezTo>
                  <a:cubicBezTo>
                    <a:pt x="20131" y="13736"/>
                    <a:pt x="14838" y="17819"/>
                    <a:pt x="14838" y="25893"/>
                  </a:cubicBezTo>
                  <a:lnTo>
                    <a:pt x="14838" y="55406"/>
                  </a:lnTo>
                  <a:lnTo>
                    <a:pt x="0" y="55406"/>
                  </a:lnTo>
                  <a:lnTo>
                    <a:pt x="0" y="1485"/>
                  </a:lnTo>
                  <a:lnTo>
                    <a:pt x="14366" y="1485"/>
                  </a:lnTo>
                  <a:lnTo>
                    <a:pt x="14366" y="7796"/>
                  </a:lnTo>
                  <a:cubicBezTo>
                    <a:pt x="18241" y="2042"/>
                    <a:pt x="24290" y="0"/>
                    <a:pt x="30527" y="0"/>
                  </a:cubicBezTo>
                  <a:cubicBezTo>
                    <a:pt x="43003" y="0"/>
                    <a:pt x="51887" y="8538"/>
                    <a:pt x="51887"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1" name="Freeform 50">
              <a:extLst>
                <a:ext uri="{FF2B5EF4-FFF2-40B4-BE49-F238E27FC236}">
                  <a16:creationId xmlns:a16="http://schemas.microsoft.com/office/drawing/2014/main" id="{7189B50B-3FA8-EE23-13CA-146D51636965}"/>
                </a:ext>
              </a:extLst>
            </p:cNvPr>
            <p:cNvSpPr/>
            <p:nvPr/>
          </p:nvSpPr>
          <p:spPr>
            <a:xfrm>
              <a:off x="6236916" y="3467700"/>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0"/>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2" name="Freeform 51">
              <a:extLst>
                <a:ext uri="{FF2B5EF4-FFF2-40B4-BE49-F238E27FC236}">
                  <a16:creationId xmlns:a16="http://schemas.microsoft.com/office/drawing/2014/main" id="{937ECD96-5045-2B71-CCE8-DE37FD6077C4}"/>
                </a:ext>
              </a:extLst>
            </p:cNvPr>
            <p:cNvSpPr/>
            <p:nvPr/>
          </p:nvSpPr>
          <p:spPr>
            <a:xfrm>
              <a:off x="6309879" y="3442921"/>
              <a:ext cx="14838" cy="80185"/>
            </a:xfrm>
            <a:custGeom>
              <a:avLst/>
              <a:gdLst>
                <a:gd name="connsiteX0" fmla="*/ 14838 w 14838"/>
                <a:gd name="connsiteY0" fmla="*/ 80186 h 80185"/>
                <a:gd name="connsiteX1" fmla="*/ 0 w 14838"/>
                <a:gd name="connsiteY1" fmla="*/ 80186 h 80185"/>
                <a:gd name="connsiteX2" fmla="*/ 0 w 14838"/>
                <a:gd name="connsiteY2" fmla="*/ 0 h 80185"/>
                <a:gd name="connsiteX3" fmla="*/ 14838 w 14838"/>
                <a:gd name="connsiteY3" fmla="*/ 0 h 80185"/>
                <a:gd name="connsiteX4" fmla="*/ 14838 w 14838"/>
                <a:gd name="connsiteY4" fmla="*/ 80186 h 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38" h="80185">
                  <a:moveTo>
                    <a:pt x="14838" y="80186"/>
                  </a:moveTo>
                  <a:lnTo>
                    <a:pt x="0" y="80186"/>
                  </a:lnTo>
                  <a:lnTo>
                    <a:pt x="0" y="0"/>
                  </a:lnTo>
                  <a:lnTo>
                    <a:pt x="14838" y="0"/>
                  </a:lnTo>
                  <a:lnTo>
                    <a:pt x="14838" y="80186"/>
                  </a:lnTo>
                  <a:close/>
                </a:path>
              </a:pathLst>
            </a:custGeom>
            <a:grpFill/>
            <a:ln w="0" cap="flat">
              <a:noFill/>
              <a:prstDash val="solid"/>
              <a:miter/>
            </a:ln>
          </p:spPr>
          <p:txBody>
            <a:bodyPr rtlCol="0" anchor="ctr"/>
            <a:lstStyle/>
            <a:p>
              <a:endParaRPr lang="en-US" b="1" i="0">
                <a:latin typeface="Tenorite" pitchFamily="2" charset="0"/>
              </a:endParaRPr>
            </a:p>
          </p:txBody>
        </p:sp>
      </p:grpSp>
      <p:grpSp>
        <p:nvGrpSpPr>
          <p:cNvPr id="53" name="Graphic 3">
            <a:extLst>
              <a:ext uri="{FF2B5EF4-FFF2-40B4-BE49-F238E27FC236}">
                <a16:creationId xmlns:a16="http://schemas.microsoft.com/office/drawing/2014/main" id="{7F67DD23-26D1-396C-3673-A7A1157D4949}"/>
              </a:ext>
            </a:extLst>
          </p:cNvPr>
          <p:cNvGrpSpPr/>
          <p:nvPr/>
        </p:nvGrpSpPr>
        <p:grpSpPr>
          <a:xfrm>
            <a:off x="5597388" y="5593538"/>
            <a:ext cx="997225" cy="347183"/>
            <a:chOff x="448663" y="3429000"/>
            <a:chExt cx="3429000" cy="1193800"/>
          </a:xfrm>
          <a:solidFill>
            <a:schemeClr val="bg1"/>
          </a:solidFill>
        </p:grpSpPr>
        <p:sp>
          <p:nvSpPr>
            <p:cNvPr id="54" name="Freeform 53">
              <a:extLst>
                <a:ext uri="{FF2B5EF4-FFF2-40B4-BE49-F238E27FC236}">
                  <a16:creationId xmlns:a16="http://schemas.microsoft.com/office/drawing/2014/main" id="{B889F603-658E-5EA6-713C-C73C71BB6009}"/>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5" name="Freeform 54">
              <a:extLst>
                <a:ext uri="{FF2B5EF4-FFF2-40B4-BE49-F238E27FC236}">
                  <a16:creationId xmlns:a16="http://schemas.microsoft.com/office/drawing/2014/main" id="{94658B84-E852-051B-1380-CCAC48C0FC2B}"/>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6" name="Freeform 55">
              <a:extLst>
                <a:ext uri="{FF2B5EF4-FFF2-40B4-BE49-F238E27FC236}">
                  <a16:creationId xmlns:a16="http://schemas.microsoft.com/office/drawing/2014/main" id="{08EE32EF-70FC-C926-A0E0-D4790F17F69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7" name="Freeform 56">
              <a:extLst>
                <a:ext uri="{FF2B5EF4-FFF2-40B4-BE49-F238E27FC236}">
                  <a16:creationId xmlns:a16="http://schemas.microsoft.com/office/drawing/2014/main" id="{AA0B1A55-E9BD-2C82-2469-B2E78DF2494C}"/>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8" name="Freeform 57">
              <a:extLst>
                <a:ext uri="{FF2B5EF4-FFF2-40B4-BE49-F238E27FC236}">
                  <a16:creationId xmlns:a16="http://schemas.microsoft.com/office/drawing/2014/main" id="{DD935D4C-37AD-084F-1ED2-81C902465A1C}"/>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9" name="Freeform 58">
              <a:extLst>
                <a:ext uri="{FF2B5EF4-FFF2-40B4-BE49-F238E27FC236}">
                  <a16:creationId xmlns:a16="http://schemas.microsoft.com/office/drawing/2014/main" id="{1DD74095-6597-7B19-0B2D-3B641F5256E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pic>
        <p:nvPicPr>
          <p:cNvPr id="60" name="Graphic 59">
            <a:extLst>
              <a:ext uri="{FF2B5EF4-FFF2-40B4-BE49-F238E27FC236}">
                <a16:creationId xmlns:a16="http://schemas.microsoft.com/office/drawing/2014/main" id="{B29A6D00-FA8D-29D1-F8E9-3413B7275A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75414" y="3704851"/>
            <a:ext cx="3241173" cy="909803"/>
          </a:xfrm>
          <a:prstGeom prst="rect">
            <a:avLst/>
          </a:prstGeom>
        </p:spPr>
      </p:pic>
    </p:spTree>
    <p:extLst>
      <p:ext uri="{BB962C8B-B14F-4D97-AF65-F5344CB8AC3E}">
        <p14:creationId xmlns:p14="http://schemas.microsoft.com/office/powerpoint/2010/main" val="2601157212"/>
      </p:ext>
    </p:extLst>
  </p:cSld>
  <p:clrMapOvr>
    <a:masterClrMapping/>
  </p:clrMapOvr>
  <p:extLst>
    <p:ext uri="{DCECCB84-F9BA-43D5-87BE-67443E8EF086}">
      <p15:sldGuideLst xmlns:p15="http://schemas.microsoft.com/office/powerpoint/2012/main">
        <p15:guide id="1" pos="127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tabLst/>
              <a:defRPr sz="2000" b="0" i="0">
                <a:latin typeface="Tenorite" pitchFamily="2" charset="0"/>
              </a:defRPr>
            </a:lvl1pPr>
            <a:lvl2pPr marL="404813" indent="-230188">
              <a:lnSpc>
                <a:spcPct val="100000"/>
              </a:lnSpc>
              <a:buClrTx/>
              <a:buFont typeface="Arial" panose="020B0604020202020204" pitchFamily="34" charset="0"/>
              <a:buChar char="•"/>
              <a:tabLst/>
              <a:defRPr sz="1600" b="0" i="0">
                <a:latin typeface="Tenorite" pitchFamily="2" charset="0"/>
              </a:defRPr>
            </a:lvl2pPr>
            <a:lvl3pPr marL="573088" indent="-168275">
              <a:lnSpc>
                <a:spcPct val="100000"/>
              </a:lnSpc>
              <a:buClrTx/>
              <a:buFont typeface="Arial" panose="020B0604020202020204" pitchFamily="34" charset="0"/>
              <a:buChar char="•"/>
              <a:tabLst/>
              <a:defRPr sz="16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17623521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71C14EA-FB80-DE44-BCF7-F3EF94E40F1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800" b="0" i="0">
                <a:solidFill>
                  <a:schemeClr val="accent1"/>
                </a:solidFill>
                <a:latin typeface="Tenorite" pitchFamily="2" charset="0"/>
              </a:rPr>
              <a:t>Copyright © </a:t>
            </a:r>
            <a:fld id="{ED4B1A3B-EE59-4ABB-86F6-9B7AF49FEF00}"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70538221"/>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rgbClr val="EA5F84"/>
        </a:solidFill>
        <a:effectLst/>
      </p:bgPr>
    </p:bg>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60F2B28-DCD6-A846-B5D4-36A54F452925}"/>
              </a:ext>
            </a:extLst>
          </p:cNvPr>
          <p:cNvGrpSpPr/>
          <p:nvPr userDrawn="1"/>
        </p:nvGrpSpPr>
        <p:grpSpPr>
          <a:xfrm rot="10800000">
            <a:off x="0" y="0"/>
            <a:ext cx="12192000" cy="6784848"/>
            <a:chOff x="0" y="73152"/>
            <a:chExt cx="12192000" cy="6784848"/>
          </a:xfrm>
        </p:grpSpPr>
        <p:sp>
          <p:nvSpPr>
            <p:cNvPr id="17" name="Freeform: Shape 27">
              <a:extLst>
                <a:ext uri="{FF2B5EF4-FFF2-40B4-BE49-F238E27FC236}">
                  <a16:creationId xmlns:a16="http://schemas.microsoft.com/office/drawing/2014/main" id="{DA2CB8D3-9814-D345-91CA-29D2875D6A70}"/>
                </a:ext>
              </a:extLst>
            </p:cNvPr>
            <p:cNvSpPr/>
            <p:nvPr userDrawn="1"/>
          </p:nvSpPr>
          <p:spPr>
            <a:xfrm>
              <a:off x="0" y="3429000"/>
              <a:ext cx="12192000" cy="3429000"/>
            </a:xfrm>
            <a:custGeom>
              <a:avLst/>
              <a:gdLst>
                <a:gd name="connsiteX0" fmla="*/ 12192000 w 12192000"/>
                <a:gd name="connsiteY0" fmla="*/ 158369 h 3429000"/>
                <a:gd name="connsiteX1" fmla="*/ 12192000 w 12192000"/>
                <a:gd name="connsiteY1" fmla="*/ 3429000 h 3429000"/>
                <a:gd name="connsiteX2" fmla="*/ 0 w 12192000"/>
                <a:gd name="connsiteY2" fmla="*/ 3429000 h 3429000"/>
                <a:gd name="connsiteX3" fmla="*/ 0 w 12192000"/>
                <a:gd name="connsiteY3" fmla="*/ 324993 h 3429000"/>
                <a:gd name="connsiteX4" fmla="*/ 1168400 w 12192000"/>
                <a:gd name="connsiteY4" fmla="*/ 49149 h 3429000"/>
                <a:gd name="connsiteX5" fmla="*/ 1817814 w 12192000"/>
                <a:gd name="connsiteY5" fmla="*/ 0 h 3429000"/>
                <a:gd name="connsiteX6" fmla="*/ 2634996 w 12192000"/>
                <a:gd name="connsiteY6" fmla="*/ 77724 h 3429000"/>
                <a:gd name="connsiteX7" fmla="*/ 3686620 w 12192000"/>
                <a:gd name="connsiteY7" fmla="*/ 351346 h 3429000"/>
                <a:gd name="connsiteX8" fmla="*/ 4025709 w 12192000"/>
                <a:gd name="connsiteY8" fmla="*/ 464566 h 3429000"/>
                <a:gd name="connsiteX9" fmla="*/ 6848666 w 12192000"/>
                <a:gd name="connsiteY9" fmla="*/ 1223201 h 3429000"/>
                <a:gd name="connsiteX10" fmla="*/ 9088819 w 12192000"/>
                <a:gd name="connsiteY10" fmla="*/ 915797 h 3429000"/>
                <a:gd name="connsiteX11" fmla="*/ 10351833 w 12192000"/>
                <a:gd name="connsiteY11" fmla="*/ 545973 h 3429000"/>
                <a:gd name="connsiteX12" fmla="*/ 11682794 w 12192000"/>
                <a:gd name="connsiteY12" fmla="*/ 226314 h 3429000"/>
                <a:gd name="connsiteX13" fmla="*/ 12192000 w 12192000"/>
                <a:gd name="connsiteY13" fmla="*/ 158369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429000">
                  <a:moveTo>
                    <a:pt x="12192000" y="158369"/>
                  </a:moveTo>
                  <a:lnTo>
                    <a:pt x="12192000" y="3429000"/>
                  </a:lnTo>
                  <a:lnTo>
                    <a:pt x="0" y="3429000"/>
                  </a:lnTo>
                  <a:lnTo>
                    <a:pt x="0" y="324993"/>
                  </a:lnTo>
                  <a:cubicBezTo>
                    <a:pt x="387350" y="207709"/>
                    <a:pt x="775653" y="106235"/>
                    <a:pt x="1168400" y="49149"/>
                  </a:cubicBezTo>
                  <a:cubicBezTo>
                    <a:pt x="1383398" y="17063"/>
                    <a:pt x="1600441" y="635"/>
                    <a:pt x="1817814" y="0"/>
                  </a:cubicBezTo>
                  <a:cubicBezTo>
                    <a:pt x="2092770" y="0"/>
                    <a:pt x="2364867" y="28956"/>
                    <a:pt x="2634996" y="77724"/>
                  </a:cubicBezTo>
                  <a:cubicBezTo>
                    <a:pt x="2988247" y="141224"/>
                    <a:pt x="3338068" y="239141"/>
                    <a:pt x="3686620" y="351346"/>
                  </a:cubicBezTo>
                  <a:cubicBezTo>
                    <a:pt x="3799777" y="387795"/>
                    <a:pt x="3912807" y="425533"/>
                    <a:pt x="4025709" y="464566"/>
                  </a:cubicBezTo>
                  <a:cubicBezTo>
                    <a:pt x="4958271" y="785051"/>
                    <a:pt x="5886260" y="1163638"/>
                    <a:pt x="6848666" y="1223201"/>
                  </a:cubicBezTo>
                  <a:cubicBezTo>
                    <a:pt x="7605205" y="1269937"/>
                    <a:pt x="8348155" y="1118870"/>
                    <a:pt x="9088819" y="915797"/>
                  </a:cubicBezTo>
                  <a:cubicBezTo>
                    <a:pt x="9509887" y="800291"/>
                    <a:pt x="9930194" y="668147"/>
                    <a:pt x="10351833" y="545973"/>
                  </a:cubicBezTo>
                  <a:cubicBezTo>
                    <a:pt x="10793222" y="418147"/>
                    <a:pt x="11236134" y="301308"/>
                    <a:pt x="11682794" y="226314"/>
                  </a:cubicBezTo>
                  <a:cubicBezTo>
                    <a:pt x="11852148" y="197866"/>
                    <a:pt x="12021883" y="175216"/>
                    <a:pt x="12192000" y="15836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8" name="Freeform: Shape 45">
              <a:extLst>
                <a:ext uri="{FF2B5EF4-FFF2-40B4-BE49-F238E27FC236}">
                  <a16:creationId xmlns:a16="http://schemas.microsoft.com/office/drawing/2014/main" id="{59BEA0CB-BA8B-D64B-9E50-2CE2E0FCF4B2}"/>
                </a:ext>
              </a:extLst>
            </p:cNvPr>
            <p:cNvSpPr/>
            <p:nvPr userDrawn="1"/>
          </p:nvSpPr>
          <p:spPr>
            <a:xfrm>
              <a:off x="0" y="2441130"/>
              <a:ext cx="12192000" cy="4416869"/>
            </a:xfrm>
            <a:custGeom>
              <a:avLst/>
              <a:gdLst>
                <a:gd name="connsiteX0" fmla="*/ 10951908 w 12192000"/>
                <a:gd name="connsiteY0" fmla="*/ 0 h 4416869"/>
                <a:gd name="connsiteX1" fmla="*/ 12192000 w 12192000"/>
                <a:gd name="connsiteY1" fmla="*/ 55055 h 4416869"/>
                <a:gd name="connsiteX2" fmla="*/ 12192000 w 12192000"/>
                <a:gd name="connsiteY2" fmla="*/ 4416870 h 4416869"/>
                <a:gd name="connsiteX3" fmla="*/ 0 w 12192000"/>
                <a:gd name="connsiteY3" fmla="*/ 4416870 h 4416869"/>
                <a:gd name="connsiteX4" fmla="*/ 0 w 12192000"/>
                <a:gd name="connsiteY4" fmla="*/ 2150428 h 4416869"/>
                <a:gd name="connsiteX5" fmla="*/ 3686620 w 12192000"/>
                <a:gd name="connsiteY5" fmla="*/ 1339215 h 4416869"/>
                <a:gd name="connsiteX6" fmla="*/ 5420678 w 12192000"/>
                <a:gd name="connsiteY6" fmla="*/ 879411 h 4416869"/>
                <a:gd name="connsiteX7" fmla="*/ 7462647 w 12192000"/>
                <a:gd name="connsiteY7" fmla="*/ 396049 h 4416869"/>
                <a:gd name="connsiteX8" fmla="*/ 8904732 w 12192000"/>
                <a:gd name="connsiteY8" fmla="*/ 147066 h 4416869"/>
                <a:gd name="connsiteX9" fmla="*/ 10951908 w 12192000"/>
                <a:gd name="connsiteY9" fmla="*/ 0 h 44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4416869">
                  <a:moveTo>
                    <a:pt x="10951908" y="0"/>
                  </a:moveTo>
                  <a:cubicBezTo>
                    <a:pt x="11367516" y="0"/>
                    <a:pt x="11780710" y="19495"/>
                    <a:pt x="12192000" y="55055"/>
                  </a:cubicBezTo>
                  <a:lnTo>
                    <a:pt x="12192000" y="4416870"/>
                  </a:lnTo>
                  <a:lnTo>
                    <a:pt x="0" y="4416870"/>
                  </a:lnTo>
                  <a:lnTo>
                    <a:pt x="0" y="2150428"/>
                  </a:lnTo>
                  <a:cubicBezTo>
                    <a:pt x="1241679" y="1966278"/>
                    <a:pt x="2465896" y="1661478"/>
                    <a:pt x="3686620" y="1339215"/>
                  </a:cubicBezTo>
                  <a:cubicBezTo>
                    <a:pt x="4264914" y="1186434"/>
                    <a:pt x="4842320" y="1029526"/>
                    <a:pt x="5420678" y="879411"/>
                  </a:cubicBezTo>
                  <a:cubicBezTo>
                    <a:pt x="6099493" y="703072"/>
                    <a:pt x="6779578" y="536130"/>
                    <a:pt x="7462647" y="396049"/>
                  </a:cubicBezTo>
                  <a:cubicBezTo>
                    <a:pt x="7941374" y="297815"/>
                    <a:pt x="8421497" y="212852"/>
                    <a:pt x="8904732" y="147066"/>
                  </a:cubicBezTo>
                  <a:cubicBezTo>
                    <a:pt x="9581388" y="54801"/>
                    <a:pt x="10262997" y="190"/>
                    <a:pt x="10951908"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9" name="Freeform: Shape 46">
              <a:extLst>
                <a:ext uri="{FF2B5EF4-FFF2-40B4-BE49-F238E27FC236}">
                  <a16:creationId xmlns:a16="http://schemas.microsoft.com/office/drawing/2014/main" id="{CA27C8A3-52A9-0D49-8690-0459AC50F9F7}"/>
                </a:ext>
              </a:extLst>
            </p:cNvPr>
            <p:cNvSpPr/>
            <p:nvPr userDrawn="1"/>
          </p:nvSpPr>
          <p:spPr>
            <a:xfrm>
              <a:off x="0" y="5121719"/>
              <a:ext cx="12192000" cy="1736280"/>
            </a:xfrm>
            <a:custGeom>
              <a:avLst/>
              <a:gdLst>
                <a:gd name="connsiteX0" fmla="*/ 12192000 w 12192000"/>
                <a:gd name="connsiteY0" fmla="*/ 0 h 1736280"/>
                <a:gd name="connsiteX1" fmla="*/ 12192000 w 12192000"/>
                <a:gd name="connsiteY1" fmla="*/ 1736281 h 1736280"/>
                <a:gd name="connsiteX2" fmla="*/ 0 w 12192000"/>
                <a:gd name="connsiteY2" fmla="*/ 1736281 h 1736280"/>
                <a:gd name="connsiteX3" fmla="*/ 0 w 12192000"/>
                <a:gd name="connsiteY3" fmla="*/ 106680 h 1736280"/>
                <a:gd name="connsiteX4" fmla="*/ 4975733 w 12192000"/>
                <a:gd name="connsiteY4" fmla="*/ 1107631 h 1736280"/>
                <a:gd name="connsiteX5" fmla="*/ 9053640 w 12192000"/>
                <a:gd name="connsiteY5" fmla="*/ 684784 h 1736280"/>
                <a:gd name="connsiteX6" fmla="*/ 11352847 w 12192000"/>
                <a:gd name="connsiteY6" fmla="*/ 176149 h 1736280"/>
                <a:gd name="connsiteX7" fmla="*/ 12192000 w 12192000"/>
                <a:gd name="connsiteY7" fmla="*/ 0 h 1736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736280">
                  <a:moveTo>
                    <a:pt x="12192000" y="0"/>
                  </a:moveTo>
                  <a:lnTo>
                    <a:pt x="12192000" y="1736281"/>
                  </a:lnTo>
                  <a:lnTo>
                    <a:pt x="0" y="1736281"/>
                  </a:lnTo>
                  <a:lnTo>
                    <a:pt x="0" y="106680"/>
                  </a:lnTo>
                  <a:cubicBezTo>
                    <a:pt x="1642745" y="537782"/>
                    <a:pt x="3279648" y="1028255"/>
                    <a:pt x="4975733" y="1107631"/>
                  </a:cubicBezTo>
                  <a:cubicBezTo>
                    <a:pt x="6352921" y="1171892"/>
                    <a:pt x="7705407" y="964057"/>
                    <a:pt x="9053640" y="684784"/>
                  </a:cubicBezTo>
                  <a:cubicBezTo>
                    <a:pt x="9820148" y="526034"/>
                    <a:pt x="10585323" y="344170"/>
                    <a:pt x="11352847" y="176149"/>
                  </a:cubicBezTo>
                  <a:cubicBezTo>
                    <a:pt x="11632184" y="114998"/>
                    <a:pt x="11911838" y="55690"/>
                    <a:pt x="12192000"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0" name="Freeform: Shape 47">
              <a:extLst>
                <a:ext uri="{FF2B5EF4-FFF2-40B4-BE49-F238E27FC236}">
                  <a16:creationId xmlns:a16="http://schemas.microsoft.com/office/drawing/2014/main" id="{EC570767-C3AA-CF41-8A30-DB9797BE99AA}"/>
                </a:ext>
              </a:extLst>
            </p:cNvPr>
            <p:cNvSpPr/>
            <p:nvPr userDrawn="1"/>
          </p:nvSpPr>
          <p:spPr>
            <a:xfrm>
              <a:off x="0" y="73152"/>
              <a:ext cx="12192000" cy="6784847"/>
            </a:xfrm>
            <a:custGeom>
              <a:avLst/>
              <a:gdLst>
                <a:gd name="connsiteX0" fmla="*/ 11980990 w 12192000"/>
                <a:gd name="connsiteY0" fmla="*/ 852234 h 6784847"/>
                <a:gd name="connsiteX1" fmla="*/ 12192000 w 12192000"/>
                <a:gd name="connsiteY1" fmla="*/ 793814 h 6784847"/>
                <a:gd name="connsiteX2" fmla="*/ 12192000 w 12192000"/>
                <a:gd name="connsiteY2" fmla="*/ 6784848 h 6784847"/>
                <a:gd name="connsiteX3" fmla="*/ 0 w 12192000"/>
                <a:gd name="connsiteY3" fmla="*/ 6784848 h 6784847"/>
                <a:gd name="connsiteX4" fmla="*/ 0 w 12192000"/>
                <a:gd name="connsiteY4" fmla="*/ 0 h 6784847"/>
                <a:gd name="connsiteX5" fmla="*/ 3525203 w 12192000"/>
                <a:gd name="connsiteY5" fmla="*/ 1149350 h 6784847"/>
                <a:gd name="connsiteX6" fmla="*/ 6313488 w 12192000"/>
                <a:gd name="connsiteY6" fmla="*/ 1630299 h 6784847"/>
                <a:gd name="connsiteX7" fmla="*/ 11980990 w 12192000"/>
                <a:gd name="connsiteY7" fmla="*/ 852234 h 6784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784847">
                  <a:moveTo>
                    <a:pt x="11980990" y="852234"/>
                  </a:moveTo>
                  <a:cubicBezTo>
                    <a:pt x="12051347" y="832930"/>
                    <a:pt x="12121706" y="813454"/>
                    <a:pt x="12192000" y="793814"/>
                  </a:cubicBezTo>
                  <a:lnTo>
                    <a:pt x="12192000" y="6784848"/>
                  </a:lnTo>
                  <a:lnTo>
                    <a:pt x="0" y="6784848"/>
                  </a:lnTo>
                  <a:lnTo>
                    <a:pt x="0" y="0"/>
                  </a:lnTo>
                  <a:cubicBezTo>
                    <a:pt x="1171067" y="413258"/>
                    <a:pt x="2342071" y="835216"/>
                    <a:pt x="3525203" y="1149350"/>
                  </a:cubicBezTo>
                  <a:cubicBezTo>
                    <a:pt x="4445381" y="1393444"/>
                    <a:pt x="5373053" y="1572070"/>
                    <a:pt x="6313488" y="1630299"/>
                  </a:cubicBezTo>
                  <a:cubicBezTo>
                    <a:pt x="8227569" y="1748282"/>
                    <a:pt x="10107168" y="1365949"/>
                    <a:pt x="11980990" y="852234"/>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1" name="Freeform: Shape 48">
              <a:extLst>
                <a:ext uri="{FF2B5EF4-FFF2-40B4-BE49-F238E27FC236}">
                  <a16:creationId xmlns:a16="http://schemas.microsoft.com/office/drawing/2014/main" id="{3402EB03-9C5F-7948-B990-CB83737B5830}"/>
                </a:ext>
              </a:extLst>
            </p:cNvPr>
            <p:cNvSpPr/>
            <p:nvPr userDrawn="1"/>
          </p:nvSpPr>
          <p:spPr>
            <a:xfrm>
              <a:off x="0" y="393127"/>
              <a:ext cx="12192000" cy="6464872"/>
            </a:xfrm>
            <a:custGeom>
              <a:avLst/>
              <a:gdLst>
                <a:gd name="connsiteX0" fmla="*/ 10545191 w 12192000"/>
                <a:gd name="connsiteY0" fmla="*/ 94489 h 6464872"/>
                <a:gd name="connsiteX1" fmla="*/ 12192000 w 12192000"/>
                <a:gd name="connsiteY1" fmla="*/ 345187 h 6464872"/>
                <a:gd name="connsiteX2" fmla="*/ 12192000 w 12192000"/>
                <a:gd name="connsiteY2" fmla="*/ 6464873 h 6464872"/>
                <a:gd name="connsiteX3" fmla="*/ 0 w 12192000"/>
                <a:gd name="connsiteY3" fmla="*/ 6464873 h 6464872"/>
                <a:gd name="connsiteX4" fmla="*/ 0 w 12192000"/>
                <a:gd name="connsiteY4" fmla="*/ 1743647 h 6464872"/>
                <a:gd name="connsiteX5" fmla="*/ 2124139 w 12192000"/>
                <a:gd name="connsiteY5" fmla="*/ 1198309 h 6464872"/>
                <a:gd name="connsiteX6" fmla="*/ 3277997 w 12192000"/>
                <a:gd name="connsiteY6" fmla="*/ 892811 h 6464872"/>
                <a:gd name="connsiteX7" fmla="*/ 3525203 w 12192000"/>
                <a:gd name="connsiteY7" fmla="*/ 829311 h 6464872"/>
                <a:gd name="connsiteX8" fmla="*/ 6815011 w 12192000"/>
                <a:gd name="connsiteY8" fmla="*/ 149861 h 6464872"/>
                <a:gd name="connsiteX9" fmla="*/ 8893302 w 12192000"/>
                <a:gd name="connsiteY9" fmla="*/ 1 h 6464872"/>
                <a:gd name="connsiteX10" fmla="*/ 10545191 w 12192000"/>
                <a:gd name="connsiteY10" fmla="*/ 94489 h 6464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92000" h="6464872">
                  <a:moveTo>
                    <a:pt x="10545191" y="94489"/>
                  </a:moveTo>
                  <a:cubicBezTo>
                    <a:pt x="11096879" y="155131"/>
                    <a:pt x="11645456" y="241809"/>
                    <a:pt x="12192000" y="345187"/>
                  </a:cubicBezTo>
                  <a:lnTo>
                    <a:pt x="12192000" y="6464873"/>
                  </a:lnTo>
                  <a:lnTo>
                    <a:pt x="0" y="6464873"/>
                  </a:lnTo>
                  <a:lnTo>
                    <a:pt x="0" y="1743647"/>
                  </a:lnTo>
                  <a:cubicBezTo>
                    <a:pt x="710184" y="1575372"/>
                    <a:pt x="1417384" y="1387031"/>
                    <a:pt x="2124139" y="1198309"/>
                  </a:cubicBezTo>
                  <a:cubicBezTo>
                    <a:pt x="2508695" y="1095566"/>
                    <a:pt x="2893187" y="992760"/>
                    <a:pt x="3277997" y="892811"/>
                  </a:cubicBezTo>
                  <a:cubicBezTo>
                    <a:pt x="3360376" y="871392"/>
                    <a:pt x="3442780" y="850221"/>
                    <a:pt x="3525203" y="829311"/>
                  </a:cubicBezTo>
                  <a:cubicBezTo>
                    <a:pt x="4615307" y="550355"/>
                    <a:pt x="5708650" y="300356"/>
                    <a:pt x="6815011" y="149861"/>
                  </a:cubicBezTo>
                  <a:cubicBezTo>
                    <a:pt x="7502018" y="55627"/>
                    <a:pt x="8193977" y="572"/>
                    <a:pt x="8893302" y="1"/>
                  </a:cubicBezTo>
                  <a:cubicBezTo>
                    <a:pt x="9447784" y="-190"/>
                    <a:pt x="9998075" y="34354"/>
                    <a:pt x="10545191" y="9448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2" name="Freeform: Shape 49">
              <a:extLst>
                <a:ext uri="{FF2B5EF4-FFF2-40B4-BE49-F238E27FC236}">
                  <a16:creationId xmlns:a16="http://schemas.microsoft.com/office/drawing/2014/main" id="{BDB70546-CA28-DF48-A34F-F307D91E3584}"/>
                </a:ext>
              </a:extLst>
            </p:cNvPr>
            <p:cNvSpPr/>
            <p:nvPr userDrawn="1"/>
          </p:nvSpPr>
          <p:spPr>
            <a:xfrm>
              <a:off x="0" y="1091438"/>
              <a:ext cx="12192000" cy="5766561"/>
            </a:xfrm>
            <a:custGeom>
              <a:avLst/>
              <a:gdLst>
                <a:gd name="connsiteX0" fmla="*/ 7462647 w 12192000"/>
                <a:gd name="connsiteY0" fmla="*/ 1745742 h 5766561"/>
                <a:gd name="connsiteX1" fmla="*/ 12192000 w 12192000"/>
                <a:gd name="connsiteY1" fmla="*/ 2352421 h 5766561"/>
                <a:gd name="connsiteX2" fmla="*/ 12192000 w 12192000"/>
                <a:gd name="connsiteY2" fmla="*/ 5766562 h 5766561"/>
                <a:gd name="connsiteX3" fmla="*/ 0 w 12192000"/>
                <a:gd name="connsiteY3" fmla="*/ 5766562 h 5766561"/>
                <a:gd name="connsiteX4" fmla="*/ 0 w 12192000"/>
                <a:gd name="connsiteY4" fmla="*/ 0 h 5766561"/>
                <a:gd name="connsiteX5" fmla="*/ 1338199 w 12192000"/>
                <a:gd name="connsiteY5" fmla="*/ 309816 h 5766561"/>
                <a:gd name="connsiteX6" fmla="*/ 2124139 w 12192000"/>
                <a:gd name="connsiteY6" fmla="*/ 500316 h 5766561"/>
                <a:gd name="connsiteX7" fmla="*/ 5940489 w 12192000"/>
                <a:gd name="connsiteY7" fmla="*/ 1421575 h 5766561"/>
                <a:gd name="connsiteX8" fmla="*/ 7462647 w 12192000"/>
                <a:gd name="connsiteY8" fmla="*/ 1745742 h 576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5766561">
                  <a:moveTo>
                    <a:pt x="7462647" y="1745742"/>
                  </a:moveTo>
                  <a:cubicBezTo>
                    <a:pt x="9031097" y="2056892"/>
                    <a:pt x="10604754" y="2287588"/>
                    <a:pt x="12192000" y="2352421"/>
                  </a:cubicBezTo>
                  <a:lnTo>
                    <a:pt x="12192000" y="5766562"/>
                  </a:lnTo>
                  <a:lnTo>
                    <a:pt x="0" y="5766562"/>
                  </a:lnTo>
                  <a:lnTo>
                    <a:pt x="0" y="0"/>
                  </a:lnTo>
                  <a:cubicBezTo>
                    <a:pt x="446616" y="99397"/>
                    <a:pt x="892683" y="202673"/>
                    <a:pt x="1338199" y="309816"/>
                  </a:cubicBezTo>
                  <a:cubicBezTo>
                    <a:pt x="1600327" y="372510"/>
                    <a:pt x="1862309" y="436010"/>
                    <a:pt x="2124139" y="500316"/>
                  </a:cubicBezTo>
                  <a:cubicBezTo>
                    <a:pt x="3397187" y="811467"/>
                    <a:pt x="4667885" y="1133729"/>
                    <a:pt x="5940489" y="1421575"/>
                  </a:cubicBezTo>
                  <a:cubicBezTo>
                    <a:pt x="6447409" y="1536001"/>
                    <a:pt x="6954838" y="1644059"/>
                    <a:pt x="7462647" y="1745742"/>
                  </a:cubicBezTo>
                  <a:close/>
                </a:path>
              </a:pathLst>
            </a:custGeom>
            <a:solidFill>
              <a:schemeClr val="bg1">
                <a:alpha val="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88" name="Title 1">
            <a:extLst>
              <a:ext uri="{FF2B5EF4-FFF2-40B4-BE49-F238E27FC236}">
                <a16:creationId xmlns:a16="http://schemas.microsoft.com/office/drawing/2014/main" id="{3D60AB77-E186-7F49-8289-B05EDB72FACC}"/>
              </a:ext>
            </a:extLst>
          </p:cNvPr>
          <p:cNvSpPr>
            <a:spLocks noGrp="1"/>
          </p:cNvSpPr>
          <p:nvPr>
            <p:ph type="title" hasCustomPrompt="1"/>
          </p:nvPr>
        </p:nvSpPr>
        <p:spPr>
          <a:xfrm>
            <a:off x="777817" y="1277738"/>
            <a:ext cx="10291845" cy="1994940"/>
          </a:xfrm>
          <a:prstGeom prst="rect">
            <a:avLst/>
          </a:prstGeom>
          <a:noFill/>
        </p:spPr>
        <p:txBody>
          <a:bodyPr lIns="0" tIns="0" rIns="0" bIns="0" anchor="b">
            <a:normAutofit/>
          </a:bodyPr>
          <a:lstStyle>
            <a:lvl1pPr>
              <a:defRPr sz="48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89" name="Content Placeholder 2">
            <a:extLst>
              <a:ext uri="{FF2B5EF4-FFF2-40B4-BE49-F238E27FC236}">
                <a16:creationId xmlns:a16="http://schemas.microsoft.com/office/drawing/2014/main" id="{3523C21E-CE6E-D64D-8FC7-18A774841400}"/>
              </a:ext>
            </a:extLst>
          </p:cNvPr>
          <p:cNvSpPr>
            <a:spLocks noGrp="1"/>
          </p:cNvSpPr>
          <p:nvPr>
            <p:ph idx="1" hasCustomPrompt="1"/>
          </p:nvPr>
        </p:nvSpPr>
        <p:spPr>
          <a:xfrm>
            <a:off x="777817" y="3429000"/>
            <a:ext cx="10291845" cy="785769"/>
          </a:xfrm>
          <a:prstGeom prst="rect">
            <a:avLst/>
          </a:prstGeom>
          <a:noFill/>
        </p:spPr>
        <p:txBody>
          <a:bodyPr lIns="10800" tIns="0" rIns="0"/>
          <a:lstStyle>
            <a:lvl1pPr>
              <a:lnSpc>
                <a:spcPct val="10000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90" name="Graphic 3">
            <a:extLst>
              <a:ext uri="{FF2B5EF4-FFF2-40B4-BE49-F238E27FC236}">
                <a16:creationId xmlns:a16="http://schemas.microsoft.com/office/drawing/2014/main" id="{03C15D26-F19D-1046-9A56-6ACC30A927E3}"/>
              </a:ext>
            </a:extLst>
          </p:cNvPr>
          <p:cNvGrpSpPr/>
          <p:nvPr userDrawn="1"/>
        </p:nvGrpSpPr>
        <p:grpSpPr>
          <a:xfrm>
            <a:off x="380999" y="312608"/>
            <a:ext cx="772695" cy="269013"/>
            <a:chOff x="448663" y="3429000"/>
            <a:chExt cx="3429000" cy="1193800"/>
          </a:xfrm>
          <a:solidFill>
            <a:schemeClr val="accent1"/>
          </a:solidFill>
        </p:grpSpPr>
        <p:sp>
          <p:nvSpPr>
            <p:cNvPr id="91" name="Freeform 90">
              <a:extLst>
                <a:ext uri="{FF2B5EF4-FFF2-40B4-BE49-F238E27FC236}">
                  <a16:creationId xmlns:a16="http://schemas.microsoft.com/office/drawing/2014/main" id="{670D069F-9639-B142-92F5-3932C1542AC0}"/>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2" name="Freeform 91">
              <a:extLst>
                <a:ext uri="{FF2B5EF4-FFF2-40B4-BE49-F238E27FC236}">
                  <a16:creationId xmlns:a16="http://schemas.microsoft.com/office/drawing/2014/main" id="{62467AF3-7BDE-804D-9AAD-5A26DEC40EA1}"/>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3" name="Freeform 92">
              <a:extLst>
                <a:ext uri="{FF2B5EF4-FFF2-40B4-BE49-F238E27FC236}">
                  <a16:creationId xmlns:a16="http://schemas.microsoft.com/office/drawing/2014/main" id="{1C208175-ED96-7D47-8094-151702DC1B7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4" name="Freeform 93">
              <a:extLst>
                <a:ext uri="{FF2B5EF4-FFF2-40B4-BE49-F238E27FC236}">
                  <a16:creationId xmlns:a16="http://schemas.microsoft.com/office/drawing/2014/main" id="{0E3D3701-596C-954D-9583-77B3DABED6DD}"/>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5" name="Freeform 94">
              <a:extLst>
                <a:ext uri="{FF2B5EF4-FFF2-40B4-BE49-F238E27FC236}">
                  <a16:creationId xmlns:a16="http://schemas.microsoft.com/office/drawing/2014/main" id="{C912DD0B-488C-F94F-9AC5-3D3153C441D5}"/>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6" name="Freeform 95">
              <a:extLst>
                <a:ext uri="{FF2B5EF4-FFF2-40B4-BE49-F238E27FC236}">
                  <a16:creationId xmlns:a16="http://schemas.microsoft.com/office/drawing/2014/main" id="{379A79B8-4D6C-BD4B-924A-CBFA0CAA2244}"/>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2" name="TextBox 1">
            <a:extLst>
              <a:ext uri="{FF2B5EF4-FFF2-40B4-BE49-F238E27FC236}">
                <a16:creationId xmlns:a16="http://schemas.microsoft.com/office/drawing/2014/main" id="{9F49734E-D4FD-9422-980F-E6E3595E939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Tree>
    <p:extLst>
      <p:ext uri="{BB962C8B-B14F-4D97-AF65-F5344CB8AC3E}">
        <p14:creationId xmlns:p14="http://schemas.microsoft.com/office/powerpoint/2010/main" val="2542630810"/>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37633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69F5CE-C689-D117-A208-8320BFBE24F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2BEE69-1D81-6551-E50C-C1A40BA157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FDEE6B-C610-13E7-92A2-4401A17B58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09D815-375B-4E25-982C-DE08947284A2}" type="datetimeFigureOut">
              <a:rPr lang="en-US" smtClean="0"/>
              <a:t>10/27/2026</a:t>
            </a:fld>
            <a:endParaRPr lang="en-US"/>
          </a:p>
        </p:txBody>
      </p:sp>
      <p:sp>
        <p:nvSpPr>
          <p:cNvPr id="5" name="Footer Placeholder 4">
            <a:extLst>
              <a:ext uri="{FF2B5EF4-FFF2-40B4-BE49-F238E27FC236}">
                <a16:creationId xmlns:a16="http://schemas.microsoft.com/office/drawing/2014/main" id="{67BC3C62-E0AE-5B29-26D5-E107B7320F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5FD2E7-50BF-9F7A-E8CC-FCC69B0D1E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104B6-1B22-4D05-90D0-055344F63258}" type="slidenum">
              <a:rPr lang="en-US" smtClean="0"/>
              <a:t>‹#›</a:t>
            </a:fld>
            <a:endParaRPr lang="en-US"/>
          </a:p>
        </p:txBody>
      </p:sp>
    </p:spTree>
    <p:extLst>
      <p:ext uri="{BB962C8B-B14F-4D97-AF65-F5344CB8AC3E}">
        <p14:creationId xmlns:p14="http://schemas.microsoft.com/office/powerpoint/2010/main" val="23502767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C945F6-3965-4F1B-A4E7-8A1349D2BBC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407525611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ransition/>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05A87B0-EE36-C193-9AFE-AAC3840315D8}"/>
              </a:ext>
            </a:extLst>
          </p:cNvPr>
          <p:cNvSpPr>
            <a:spLocks noGrp="1"/>
          </p:cNvSpPr>
          <p:nvPr>
            <p:ph type="subTitle" idx="1"/>
          </p:nvPr>
        </p:nvSpPr>
        <p:spPr>
          <a:xfrm>
            <a:off x="391886" y="409303"/>
            <a:ext cx="11408228" cy="6130834"/>
          </a:xfrm>
        </p:spPr>
        <p:txBody>
          <a:bodyPr>
            <a:normAutofit/>
          </a:bodyPr>
          <a:lstStyle/>
          <a:p>
            <a:pPr algn="l"/>
            <a:r>
              <a:rPr lang="en-US" dirty="0"/>
              <a:t>Overall, Sim Updates: </a:t>
            </a:r>
          </a:p>
          <a:p>
            <a:pPr algn="l"/>
            <a:endParaRPr lang="en-US" dirty="0"/>
          </a:p>
          <a:p>
            <a:pPr marL="342900" indent="-342900" algn="l">
              <a:buFont typeface="Arial" panose="020B0604020202020204" pitchFamily="34" charset="0"/>
              <a:buChar char="•"/>
            </a:pPr>
            <a:endParaRPr lang="en-US" dirty="0"/>
          </a:p>
          <a:p>
            <a:pPr marL="342900" indent="-342900" algn="l">
              <a:buFont typeface="Arial" panose="020B0604020202020204" pitchFamily="34" charset="0"/>
              <a:buChar char="•"/>
            </a:pPr>
            <a:r>
              <a:rPr lang="en-US" sz="3600" b="1" dirty="0"/>
              <a:t>New Title for Simulation:  Leading at the Pace of AI</a:t>
            </a:r>
          </a:p>
          <a:p>
            <a:pPr marL="342900" indent="-342900" algn="l">
              <a:buFont typeface="Arial" panose="020B0604020202020204" pitchFamily="34" charset="0"/>
              <a:buChar char="•"/>
            </a:pPr>
            <a:r>
              <a:rPr lang="en-US" sz="3600" b="1" dirty="0"/>
              <a:t>Update all of the source files, we have made some small edits </a:t>
            </a:r>
          </a:p>
          <a:p>
            <a:pPr marL="342900" indent="-342900" algn="l">
              <a:buFont typeface="Arial" panose="020B0604020202020204" pitchFamily="34" charset="0"/>
              <a:buChar char="•"/>
            </a:pPr>
            <a:endParaRPr lang="en-US" dirty="0"/>
          </a:p>
        </p:txBody>
      </p:sp>
      <p:sp>
        <p:nvSpPr>
          <p:cNvPr id="2" name="TextBox 1">
            <a:extLst>
              <a:ext uri="{FF2B5EF4-FFF2-40B4-BE49-F238E27FC236}">
                <a16:creationId xmlns:a16="http://schemas.microsoft.com/office/drawing/2014/main" id="{7A77FEAF-9526-D1BB-C0EE-CBC1AACC1579}"/>
              </a:ext>
            </a:extLst>
          </p:cNvPr>
          <p:cNvSpPr txBox="1"/>
          <p:nvPr/>
        </p:nvSpPr>
        <p:spPr>
          <a:xfrm>
            <a:off x="8559375" y="512909"/>
            <a:ext cx="2859741" cy="369332"/>
          </a:xfrm>
          <a:prstGeom prst="rect">
            <a:avLst/>
          </a:prstGeom>
          <a:solidFill>
            <a:srgbClr val="92D050"/>
          </a:solidFill>
        </p:spPr>
        <p:txBody>
          <a:bodyPr wrap="square" rtlCol="0">
            <a:spAutoFit/>
          </a:bodyPr>
          <a:lstStyle/>
          <a:p>
            <a:r>
              <a:rPr lang="en-US" b="1" dirty="0"/>
              <a:t>Digital (27-Oct):</a:t>
            </a:r>
            <a:r>
              <a:rPr lang="en-US" dirty="0"/>
              <a:t> Done</a:t>
            </a:r>
            <a:endParaRPr lang="en-IN" dirty="0"/>
          </a:p>
        </p:txBody>
      </p:sp>
    </p:spTree>
    <p:extLst>
      <p:ext uri="{BB962C8B-B14F-4D97-AF65-F5344CB8AC3E}">
        <p14:creationId xmlns:p14="http://schemas.microsoft.com/office/powerpoint/2010/main" val="34590164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22CB82-A8B9-E588-6FE7-22C8EDAEDC3C}"/>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1: Prioritizing First Steps</a:t>
            </a:r>
            <a:br>
              <a:rPr lang="en-US" sz="1200" b="1" dirty="0"/>
            </a:br>
            <a:endParaRPr lang="en-US" sz="1200" dirty="0"/>
          </a:p>
          <a:p>
            <a:pPr marL="0" indent="0">
              <a:buNone/>
            </a:pPr>
            <a:r>
              <a:rPr lang="en-US" sz="1200" dirty="0"/>
              <a:t>The Chief Technology Officer has asked you to bring the executive team a recommended portfolio of three funded AI initiatives in four weeks. Your working group has surfaced twelve use cases from across Ember’s business units and functions. Each has a sponsor, and several already have polished decks.</a:t>
            </a:r>
            <a:br>
              <a:rPr lang="en-US" sz="1200" dirty="0"/>
            </a:br>
            <a:endParaRPr lang="en-US" sz="1200" dirty="0"/>
          </a:p>
          <a:p>
            <a:pPr marL="0" indent="0">
              <a:buNone/>
            </a:pPr>
            <a:r>
              <a:rPr lang="en-US" sz="1200" dirty="0"/>
              <a:t>The executive team has not provided decision criteria for the initiatives. Every sponsor believes their case belongs in the top three. Two cases share an executive sponsor who expects both to go forward. After the last session, one sponsor stayed behind: “I’ve been told this is the highest-value initiative in the portfolio. If it’s not in the top three, I need to understand why.”</a:t>
            </a:r>
            <a:br>
              <a:rPr lang="en-US" sz="1200" dirty="0"/>
            </a:br>
            <a:endParaRPr lang="en-US" sz="1200" dirty="0"/>
          </a:p>
          <a:p>
            <a:pPr marL="0" indent="0">
              <a:buNone/>
            </a:pPr>
            <a:r>
              <a:rPr lang="en-US" sz="1200" dirty="0"/>
              <a:t>You have a strong view on which three are the real initiatives worth investing in. You also know the executive team wants momentum, not another process.</a:t>
            </a:r>
            <a:br>
              <a:rPr lang="en-US" sz="1200" dirty="0"/>
            </a:br>
            <a:endParaRPr lang="en-US" sz="1200" dirty="0"/>
          </a:p>
          <a:p>
            <a:pPr marL="0" indent="0">
              <a:buNone/>
            </a:pPr>
            <a:r>
              <a:rPr lang="en-US" sz="1200" b="1" dirty="0"/>
              <a:t>What do you do?</a:t>
            </a:r>
            <a:endParaRPr lang="en-US" sz="1200" dirty="0"/>
          </a:p>
          <a:p>
            <a:pPr marL="0" indent="0">
              <a:buNone/>
            </a:pPr>
            <a:r>
              <a:rPr lang="en-US" sz="1200" b="1" dirty="0"/>
              <a:t>A.</a:t>
            </a:r>
            <a:r>
              <a:rPr lang="en-US" sz="1200" dirty="0"/>
              <a:t> Tell the working group: “Before we score anything, let’s agree how we’ll decide.” Build criteria together, then score all twelve the same way, your own three included. Tell the lobbying sponsor: “If your case is strong, criteria we all trust will show it.”</a:t>
            </a:r>
          </a:p>
          <a:p>
            <a:pPr marL="0" indent="0">
              <a:buNone/>
            </a:pPr>
            <a:r>
              <a:rPr lang="en-US" sz="1200" b="1" dirty="0"/>
              <a:t>B.</a:t>
            </a:r>
            <a:r>
              <a:rPr lang="en-US" sz="1200" dirty="0"/>
              <a:t> Meet every sponsor, including the one who stayed behind. Ask what each case needs and relies on, then share the patterns with the group before you recommend. Tell the lobbying sponsor: “Help me understand what success looks like for you.”</a:t>
            </a:r>
          </a:p>
          <a:p>
            <a:pPr marL="0" indent="0">
              <a:buNone/>
            </a:pPr>
            <a:r>
              <a:rPr lang="en-US" sz="1200" b="1" dirty="0"/>
              <a:t>C.</a:t>
            </a:r>
            <a:r>
              <a:rPr lang="en-US" sz="1200" dirty="0"/>
              <a:t> Take a view to the CTO: “I think this portfolio must prove one thing: cost, growth or capability. Which three should we pick, and is three even the right number?” Pause the working group until you and the CTO agree. Then tell the sponsor who’s been lobbying you: “I want to make sure we’re solving the right problem before I decide.”</a:t>
            </a:r>
          </a:p>
          <a:p>
            <a:pPr marL="0" indent="0">
              <a:buNone/>
            </a:pPr>
            <a:r>
              <a:rPr lang="en-US" sz="1200" b="1" dirty="0"/>
              <a:t>D.</a:t>
            </a:r>
            <a:r>
              <a:rPr lang="en-US" sz="1200" dirty="0"/>
              <a:t> Propose to the CTO: two-week trials on five or six cases, with the results choosing the top three before the deadline. Tell the lobbying sponsor: “Let’s test it. A strong result is the best argument you can bring.”</a:t>
            </a:r>
          </a:p>
          <a:p>
            <a:endParaRPr lang="en-US" sz="1200" dirty="0"/>
          </a:p>
        </p:txBody>
      </p:sp>
      <p:sp>
        <p:nvSpPr>
          <p:cNvPr id="3" name="Title 2">
            <a:extLst>
              <a:ext uri="{FF2B5EF4-FFF2-40B4-BE49-F238E27FC236}">
                <a16:creationId xmlns:a16="http://schemas.microsoft.com/office/drawing/2014/main" id="{3A5CD873-E921-8C34-E3A4-02BA9103506B}"/>
              </a:ext>
            </a:extLst>
          </p:cNvPr>
          <p:cNvSpPr>
            <a:spLocks noGrp="1"/>
          </p:cNvSpPr>
          <p:nvPr>
            <p:ph type="title"/>
          </p:nvPr>
        </p:nvSpPr>
        <p:spPr/>
        <p:txBody>
          <a:bodyPr/>
          <a:lstStyle/>
          <a:p>
            <a:r>
              <a:rPr lang="en-US" dirty="0"/>
              <a:t>Source Doc: Moment 1</a:t>
            </a:r>
          </a:p>
        </p:txBody>
      </p:sp>
      <p:sp>
        <p:nvSpPr>
          <p:cNvPr id="5" name="TextBox 4">
            <a:extLst>
              <a:ext uri="{FF2B5EF4-FFF2-40B4-BE49-F238E27FC236}">
                <a16:creationId xmlns:a16="http://schemas.microsoft.com/office/drawing/2014/main" id="{0C88C6F0-5DAB-D050-845C-E5DDF4410DA5}"/>
              </a:ext>
            </a:extLst>
          </p:cNvPr>
          <p:cNvSpPr txBox="1"/>
          <p:nvPr/>
        </p:nvSpPr>
        <p:spPr>
          <a:xfrm>
            <a:off x="7091082" y="412519"/>
            <a:ext cx="3076175" cy="369332"/>
          </a:xfrm>
          <a:prstGeom prst="rect">
            <a:avLst/>
          </a:prstGeom>
          <a:solidFill>
            <a:srgbClr val="FFC000"/>
          </a:solidFill>
        </p:spPr>
        <p:txBody>
          <a:bodyPr wrap="square" rtlCol="0">
            <a:spAutoFit/>
          </a:bodyPr>
          <a:lstStyle/>
          <a:p>
            <a:r>
              <a:rPr lang="en-US" b="1" dirty="0"/>
              <a:t>Digital (27-Oct):</a:t>
            </a:r>
            <a:r>
              <a:rPr lang="en-US" dirty="0"/>
              <a:t> No updates</a:t>
            </a:r>
            <a:endParaRPr lang="en-IN" dirty="0"/>
          </a:p>
        </p:txBody>
      </p:sp>
    </p:spTree>
    <p:extLst>
      <p:ext uri="{BB962C8B-B14F-4D97-AF65-F5344CB8AC3E}">
        <p14:creationId xmlns:p14="http://schemas.microsoft.com/office/powerpoint/2010/main" val="42853987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CE8570D-A2EB-77CF-3E30-8B6F9ADD415C}"/>
              </a:ext>
            </a:extLst>
          </p:cNvPr>
          <p:cNvSpPr>
            <a:spLocks noGrp="1"/>
          </p:cNvSpPr>
          <p:nvPr>
            <p:ph type="body" sz="quarter" idx="13"/>
          </p:nvPr>
        </p:nvSpPr>
        <p:spPr/>
        <p:txBody>
          <a:bodyPr/>
          <a:lstStyle/>
          <a:p>
            <a:pPr marL="0" indent="0">
              <a:buNone/>
            </a:pPr>
            <a:r>
              <a:rPr lang="en-US" sz="1200" b="1" dirty="0"/>
              <a:t>MOMENT 1: Outcomes</a:t>
            </a:r>
            <a:endParaRPr lang="en-US" sz="1200" dirty="0"/>
          </a:p>
          <a:p>
            <a:pPr marL="0" indent="0">
              <a:buNone/>
            </a:pPr>
            <a:r>
              <a:rPr lang="en-US" sz="1200" b="1" dirty="0"/>
              <a:t>A.</a:t>
            </a:r>
            <a:r>
              <a:rPr lang="en-US" sz="1200" dirty="0"/>
              <a:t> The criteria session is uncomfortable but productive. Sponsors realize they’ve been defining “value” differently, and the agreed scorecard earns real buy-in. The cost is two of your four weeks, and the criteria misses one case that doesn’t fit any category. The shared definition holds, but the executive team asks why speed to value wasn’t weighted higher.</a:t>
            </a:r>
            <a:br>
              <a:rPr lang="en-US" sz="1200" dirty="0"/>
            </a:br>
            <a:r>
              <a:rPr lang="en-US" sz="1200" i="1" dirty="0"/>
              <a:t>Team Trust: Positive  | AI Velocity: Negative | Enterprise Value: Positive  </a:t>
            </a:r>
            <a:endParaRPr lang="en-US" sz="1200" dirty="0"/>
          </a:p>
          <a:p>
            <a:pPr marL="0" indent="0">
              <a:buNone/>
            </a:pPr>
            <a:r>
              <a:rPr lang="en-US" sz="1200" b="1" dirty="0"/>
              <a:t>B.</a:t>
            </a:r>
            <a:r>
              <a:rPr lang="en-US" sz="1200" dirty="0"/>
              <a:t> Your sponsor conversations reveal that four cases depend on the same data foundation, and two overlap almost entirely. You merge them and your recommendation lands with the group. But sponsors were candid with you and guarded with each other, and a week of meetings leaves less time than you wanted to test the shortlist.</a:t>
            </a:r>
            <a:br>
              <a:rPr lang="en-US" sz="1200" dirty="0"/>
            </a:br>
            <a:r>
              <a:rPr lang="en-US" sz="1200" i="1" dirty="0"/>
              <a:t>Team Trust: Positive | AI Velocity: Neutral | Enterprise Value: Positive</a:t>
            </a:r>
            <a:endParaRPr lang="en-US" sz="1200" dirty="0"/>
          </a:p>
          <a:p>
            <a:pPr marL="0" indent="0">
              <a:buNone/>
            </a:pPr>
            <a:r>
              <a:rPr lang="en-US" sz="1200" b="1" dirty="0"/>
              <a:t>C.</a:t>
            </a:r>
            <a:r>
              <a:rPr lang="en-US" sz="1200" dirty="0"/>
              <a:t> The CTO pushes back on “three initiatives.” The real aim is to show the board a credible AI return before year-end, which changes which cases rank. Your reframe saves weeks of debate. But the working group sat idle while you escalated, and several sponsors feel the process moved above their heads.</a:t>
            </a:r>
            <a:br>
              <a:rPr lang="en-US" sz="1200" dirty="0"/>
            </a:br>
            <a:r>
              <a:rPr lang="en-US" sz="1200" i="1" dirty="0"/>
              <a:t>Team Trust: Negative  | AI Velocity: Neutral  | Enterprise Value: Positive </a:t>
            </a:r>
            <a:endParaRPr lang="en-US" sz="1200" dirty="0"/>
          </a:p>
          <a:p>
            <a:pPr marL="0" indent="0">
              <a:buNone/>
            </a:pPr>
            <a:r>
              <a:rPr lang="en-US" sz="1200" b="1" dirty="0"/>
              <a:t>D.</a:t>
            </a:r>
            <a:r>
              <a:rPr lang="en-US" sz="1200" dirty="0"/>
              <a:t> The trials surface a surprise. The most polished deck stalls on data quality and a modest case delivers results in ten days. The executive team backs the top three on evidence. But two weeks of trials stretched the team thin, and the cases that never got a trial slot feel overlooked.</a:t>
            </a:r>
            <a:br>
              <a:rPr lang="en-US" sz="1200" dirty="0"/>
            </a:br>
            <a:r>
              <a:rPr lang="en-US" sz="1200" i="1" dirty="0"/>
              <a:t>Team Trust: Neutral | AI Velocity: Negative | Enterprise Value: Positive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72D3D40A-B393-2360-B97D-6EAC3507CAAE}"/>
              </a:ext>
            </a:extLst>
          </p:cNvPr>
          <p:cNvSpPr>
            <a:spLocks noGrp="1"/>
          </p:cNvSpPr>
          <p:nvPr>
            <p:ph type="title"/>
          </p:nvPr>
        </p:nvSpPr>
        <p:spPr/>
        <p:txBody>
          <a:bodyPr/>
          <a:lstStyle/>
          <a:p>
            <a:r>
              <a:rPr lang="en-US"/>
              <a:t>Source doc Moment 1</a:t>
            </a:r>
          </a:p>
        </p:txBody>
      </p:sp>
      <p:sp>
        <p:nvSpPr>
          <p:cNvPr id="6" name="TextBox 5">
            <a:extLst>
              <a:ext uri="{FF2B5EF4-FFF2-40B4-BE49-F238E27FC236}">
                <a16:creationId xmlns:a16="http://schemas.microsoft.com/office/drawing/2014/main" id="{68AAD033-1C5B-96F7-7BBD-FC8A7D57411D}"/>
              </a:ext>
            </a:extLst>
          </p:cNvPr>
          <p:cNvSpPr txBox="1"/>
          <p:nvPr/>
        </p:nvSpPr>
        <p:spPr>
          <a:xfrm>
            <a:off x="7091082" y="412519"/>
            <a:ext cx="3076175" cy="369332"/>
          </a:xfrm>
          <a:prstGeom prst="rect">
            <a:avLst/>
          </a:prstGeom>
          <a:solidFill>
            <a:srgbClr val="FFC000"/>
          </a:solidFill>
        </p:spPr>
        <p:txBody>
          <a:bodyPr wrap="square" rtlCol="0">
            <a:spAutoFit/>
          </a:bodyPr>
          <a:lstStyle/>
          <a:p>
            <a:r>
              <a:rPr lang="en-US" b="1" dirty="0"/>
              <a:t>Digital (27-Oct):</a:t>
            </a:r>
            <a:r>
              <a:rPr lang="en-US" dirty="0"/>
              <a:t> No updates</a:t>
            </a:r>
            <a:endParaRPr lang="en-IN" dirty="0"/>
          </a:p>
        </p:txBody>
      </p:sp>
    </p:spTree>
    <p:extLst>
      <p:ext uri="{BB962C8B-B14F-4D97-AF65-F5344CB8AC3E}">
        <p14:creationId xmlns:p14="http://schemas.microsoft.com/office/powerpoint/2010/main" val="12755725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F4C2F-0C26-CE5D-7F92-E8470ED942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44BD151-0679-A2ED-6C6F-033FE30921E4}"/>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2: When AI innovation creates uncertainty</a:t>
            </a:r>
            <a:endParaRPr lang="en-US" sz="1200" dirty="0"/>
          </a:p>
          <a:p>
            <a:pPr marL="0" indent="0">
              <a:buNone/>
            </a:pPr>
            <a:r>
              <a:rPr lang="en-US" sz="1200" dirty="0"/>
              <a:t>The CFO has named a reporting automation pilot as one of Ember’s highest-priority AI initiatives: cut manual reporting time by 35% and improve first-pass accuracy. Your direct report leads the pilot team, and eight people took it on with genuine enthusiasm.</a:t>
            </a:r>
          </a:p>
          <a:p>
            <a:pPr marL="0" indent="0">
              <a:buNone/>
            </a:pPr>
            <a:r>
              <a:rPr lang="en-US" sz="1200" dirty="0"/>
              <a:t>Manual reporting time is down 14%, but still short of the 35% target. The team is running at an unsustainable pace. The CFO has asked for weekly progress reports for six weeks, which the team experiences as micromanagement or even surveillance. You’ve been absorbing the pressure. When your direct report has asked how the CFO feels, you’ve said the CFO appreciates the effort, which is true but incomplete.</a:t>
            </a:r>
          </a:p>
          <a:p>
            <a:pPr marL="0" indent="0">
              <a:buNone/>
            </a:pPr>
            <a:r>
              <a:rPr lang="en-US" sz="1200" dirty="0"/>
              <a:t>What you haven’t shared: the senior leadership team has discussed whether to continue the pilot or redirect resources. Two of the team’s strongest contributors are quietly weighing opportunities elsewhere in the company.</a:t>
            </a:r>
          </a:p>
          <a:p>
            <a:pPr marL="0" indent="0">
              <a:buNone/>
            </a:pPr>
            <a:r>
              <a:rPr lang="en-US" sz="1200" dirty="0"/>
              <a:t>Your direct report comes to you: “The team is exhausted. I’m getting the sense the CFO isn’t just asking for updates to celebrate us. Is there something I should know?”</a:t>
            </a:r>
          </a:p>
          <a:p>
            <a:pPr marL="0" indent="0">
              <a:buNone/>
            </a:pPr>
            <a:r>
              <a:rPr lang="en-US" sz="1200" b="1" dirty="0"/>
              <a:t>What do you do?</a:t>
            </a:r>
            <a:endParaRPr lang="en-US" sz="1200" dirty="0"/>
          </a:p>
          <a:p>
            <a:pPr marL="0" indent="0">
              <a:buNone/>
            </a:pPr>
            <a:r>
              <a:rPr lang="en-US" sz="1200" b="1" dirty="0"/>
              <a:t>A.</a:t>
            </a:r>
            <a:r>
              <a:rPr lang="en-US" sz="1200" dirty="0"/>
              <a:t> “Yes. There have been leadership conversations about whether to continue the pilot. Nothing is decided, but I want you to know. I’ve been shielding you and the team from those discussions so you could focus on the work. Given where we are, let’s reset milestones together and define what a meaningful win looks like in the next 60 days.”</a:t>
            </a:r>
          </a:p>
          <a:p>
            <a:pPr marL="0" indent="0">
              <a:buNone/>
            </a:pPr>
            <a:r>
              <a:rPr lang="en-US" sz="1200" b="1" dirty="0"/>
              <a:t>B.</a:t>
            </a:r>
            <a:r>
              <a:rPr lang="en-US" sz="1200" dirty="0"/>
              <a:t> Say: “I hear you. I think the team needs a fresh perspective. Let me bring in an AI implementation expert who has helped other teams through similar challenges. They’ll join your next meeting, share what’s worked elsewhere, and help the team think through where to focus.”</a:t>
            </a:r>
          </a:p>
          <a:p>
            <a:pPr marL="0" indent="0">
              <a:buNone/>
            </a:pPr>
            <a:r>
              <a:rPr lang="en-US" sz="1200" b="1" dirty="0"/>
              <a:t>C.</a:t>
            </a:r>
            <a:r>
              <a:rPr lang="en-US" sz="1200" dirty="0"/>
              <a:t> Say: “The honest answer is that this pilot has run into challenges and more runway won’t fix it. I want to recommend we document what we’ve learned, protect the team’s reputation, and redirect resources to a higher-confidence initiative. Ember learns through trial and error. I want to make sure you and the team are well positioned for what comes next.”</a:t>
            </a:r>
          </a:p>
          <a:p>
            <a:endParaRPr lang="en-US" sz="1200" dirty="0"/>
          </a:p>
        </p:txBody>
      </p:sp>
      <p:sp>
        <p:nvSpPr>
          <p:cNvPr id="3" name="Title 2">
            <a:extLst>
              <a:ext uri="{FF2B5EF4-FFF2-40B4-BE49-F238E27FC236}">
                <a16:creationId xmlns:a16="http://schemas.microsoft.com/office/drawing/2014/main" id="{5673717D-6AE7-8D34-3EC1-735F08817B29}"/>
              </a:ext>
            </a:extLst>
          </p:cNvPr>
          <p:cNvSpPr>
            <a:spLocks noGrp="1"/>
          </p:cNvSpPr>
          <p:nvPr>
            <p:ph type="title"/>
          </p:nvPr>
        </p:nvSpPr>
        <p:spPr/>
        <p:txBody>
          <a:bodyPr/>
          <a:lstStyle/>
          <a:p>
            <a:r>
              <a:rPr lang="en-US"/>
              <a:t>Source Doc: Moment 2</a:t>
            </a:r>
          </a:p>
        </p:txBody>
      </p:sp>
      <p:sp>
        <p:nvSpPr>
          <p:cNvPr id="6" name="TextBox 5">
            <a:extLst>
              <a:ext uri="{FF2B5EF4-FFF2-40B4-BE49-F238E27FC236}">
                <a16:creationId xmlns:a16="http://schemas.microsoft.com/office/drawing/2014/main" id="{CACC48CC-128F-9785-BD46-16986EE9BF10}"/>
              </a:ext>
            </a:extLst>
          </p:cNvPr>
          <p:cNvSpPr txBox="1"/>
          <p:nvPr/>
        </p:nvSpPr>
        <p:spPr>
          <a:xfrm>
            <a:off x="8559375" y="512909"/>
            <a:ext cx="2859741" cy="369332"/>
          </a:xfrm>
          <a:prstGeom prst="rect">
            <a:avLst/>
          </a:prstGeom>
          <a:solidFill>
            <a:srgbClr val="92D050"/>
          </a:solidFill>
        </p:spPr>
        <p:txBody>
          <a:bodyPr wrap="square" rtlCol="0">
            <a:spAutoFit/>
          </a:bodyPr>
          <a:lstStyle/>
          <a:p>
            <a:r>
              <a:rPr lang="en-US" b="1" dirty="0"/>
              <a:t>Digital (27-Oct):</a:t>
            </a:r>
            <a:r>
              <a:rPr lang="en-US" dirty="0"/>
              <a:t> Done</a:t>
            </a:r>
            <a:endParaRPr lang="en-IN" dirty="0"/>
          </a:p>
        </p:txBody>
      </p:sp>
    </p:spTree>
    <p:extLst>
      <p:ext uri="{BB962C8B-B14F-4D97-AF65-F5344CB8AC3E}">
        <p14:creationId xmlns:p14="http://schemas.microsoft.com/office/powerpoint/2010/main" val="637102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1B92-38C2-6DDC-0769-71D7A11491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A85CFD-53DD-A2B3-B3CC-32FBCE6F0C2A}"/>
              </a:ext>
            </a:extLst>
          </p:cNvPr>
          <p:cNvSpPr>
            <a:spLocks noGrp="1"/>
          </p:cNvSpPr>
          <p:nvPr>
            <p:ph type="body" sz="quarter" idx="13"/>
          </p:nvPr>
        </p:nvSpPr>
        <p:spPr/>
        <p:txBody>
          <a:bodyPr/>
          <a:lstStyle/>
          <a:p>
            <a:pPr marL="0" indent="0">
              <a:buNone/>
            </a:pPr>
            <a:r>
              <a:rPr lang="en-US" sz="1200" b="1" dirty="0"/>
              <a:t>Outcomes</a:t>
            </a:r>
            <a:endParaRPr lang="en-US" sz="1200" dirty="0"/>
          </a:p>
          <a:p>
            <a:pPr marL="0" indent="0">
              <a:buNone/>
            </a:pPr>
            <a:r>
              <a:rPr lang="en-US" sz="1200" b="1" dirty="0"/>
              <a:t>A.</a:t>
            </a:r>
            <a:r>
              <a:rPr lang="en-US" sz="1200" dirty="0"/>
              <a:t> Your direct report is apprehensive. The news isn’t good, but the uncertainty is gone. You share the context with the team, own the gap between what you said and what you knew, and set two reset milestones. The two contributors considering leaving stay. One later says: “I didn’t need it to be easy. I needed to know you were telling us what was real.”</a:t>
            </a:r>
            <a:br>
              <a:rPr lang="en-US" sz="1200" dirty="0"/>
            </a:br>
            <a:r>
              <a:rPr lang="en-US" sz="1200" i="1" dirty="0"/>
              <a:t>Team Trust: Neutral  | AI Velocity: Positive  | Enterprise Value: Positive</a:t>
            </a:r>
            <a:endParaRPr lang="en-US" sz="1200" dirty="0"/>
          </a:p>
          <a:p>
            <a:pPr marL="0" indent="0">
              <a:buNone/>
            </a:pPr>
            <a:r>
              <a:rPr lang="en-US" sz="1200" b="1" dirty="0"/>
              <a:t>B.</a:t>
            </a:r>
            <a:r>
              <a:rPr lang="en-US" sz="1200" dirty="0"/>
              <a:t> The expert is skilled, but their arrival tells the team that leadership doubts them. Your direct report asked a direct question and got outside help instead. The two contributors make their decisions, and trust in you drops. The real problem, a depleted team working without full context, goes untouched.</a:t>
            </a:r>
            <a:br>
              <a:rPr lang="en-US" sz="1200" dirty="0"/>
            </a:br>
            <a:r>
              <a:rPr lang="en-US" sz="1200" i="1" dirty="0"/>
              <a:t>Team Trust: Neutral  | AI Velocity: Negative | Enterprise Value: Negative </a:t>
            </a:r>
            <a:endParaRPr lang="en-US" sz="1200" dirty="0"/>
          </a:p>
          <a:p>
            <a:pPr marL="0" indent="0">
              <a:buNone/>
            </a:pPr>
            <a:r>
              <a:rPr lang="en-US" sz="1200" b="1" dirty="0"/>
              <a:t>C.</a:t>
            </a:r>
            <a:r>
              <a:rPr lang="en-US" sz="1200" dirty="0"/>
              <a:t> Your framing works, and the CFO agrees to change direction. The two contributors stay on, and the pilot wraps up with a session to capture what the team learned. Closing it out can be the right call, but it’s stronger when you’ve taken an honest look at whether a reset could have worked first. Your direct report is left wondering if a different decision would have saved the pilot.</a:t>
            </a:r>
          </a:p>
          <a:p>
            <a:pPr marL="0" indent="0">
              <a:buNone/>
            </a:pPr>
            <a:r>
              <a:rPr lang="en-US" sz="1200" i="1" dirty="0"/>
              <a:t>Team Trust: Negative | AI Velocity: Positive | Enterprise Value: Neutral</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B992EDA6-DA07-8DC6-D966-DC29AE2F308E}"/>
              </a:ext>
            </a:extLst>
          </p:cNvPr>
          <p:cNvSpPr>
            <a:spLocks noGrp="1"/>
          </p:cNvSpPr>
          <p:nvPr>
            <p:ph type="title"/>
          </p:nvPr>
        </p:nvSpPr>
        <p:spPr/>
        <p:txBody>
          <a:bodyPr/>
          <a:lstStyle/>
          <a:p>
            <a:r>
              <a:rPr lang="en-US"/>
              <a:t>Source Doc Moment 2</a:t>
            </a:r>
          </a:p>
        </p:txBody>
      </p:sp>
      <p:sp>
        <p:nvSpPr>
          <p:cNvPr id="6" name="TextBox 5">
            <a:extLst>
              <a:ext uri="{FF2B5EF4-FFF2-40B4-BE49-F238E27FC236}">
                <a16:creationId xmlns:a16="http://schemas.microsoft.com/office/drawing/2014/main" id="{00DBCB71-109D-2609-F22C-2064CC4C9A08}"/>
              </a:ext>
            </a:extLst>
          </p:cNvPr>
          <p:cNvSpPr txBox="1"/>
          <p:nvPr/>
        </p:nvSpPr>
        <p:spPr>
          <a:xfrm>
            <a:off x="7091082" y="412519"/>
            <a:ext cx="3076175" cy="369332"/>
          </a:xfrm>
          <a:prstGeom prst="rect">
            <a:avLst/>
          </a:prstGeom>
          <a:solidFill>
            <a:srgbClr val="FFC000"/>
          </a:solidFill>
        </p:spPr>
        <p:txBody>
          <a:bodyPr wrap="square" rtlCol="0">
            <a:spAutoFit/>
          </a:bodyPr>
          <a:lstStyle/>
          <a:p>
            <a:r>
              <a:rPr lang="en-US" b="1" dirty="0"/>
              <a:t>Digital (27-Oct):</a:t>
            </a:r>
            <a:r>
              <a:rPr lang="en-US" dirty="0"/>
              <a:t> No updates</a:t>
            </a:r>
            <a:endParaRPr lang="en-IN" dirty="0"/>
          </a:p>
        </p:txBody>
      </p:sp>
    </p:spTree>
    <p:extLst>
      <p:ext uri="{BB962C8B-B14F-4D97-AF65-F5344CB8AC3E}">
        <p14:creationId xmlns:p14="http://schemas.microsoft.com/office/powerpoint/2010/main" val="12710531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DD5C7-3704-190E-5EE7-779CC6EA11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FE6BB7-D1A4-9D9C-E13F-48375862005E}"/>
              </a:ext>
            </a:extLst>
          </p:cNvPr>
          <p:cNvSpPr>
            <a:spLocks noGrp="1"/>
          </p:cNvSpPr>
          <p:nvPr>
            <p:ph type="body" sz="quarter" idx="13"/>
          </p:nvPr>
        </p:nvSpPr>
        <p:spPr>
          <a:xfrm>
            <a:off x="381000" y="1380682"/>
            <a:ext cx="8519652" cy="4410517"/>
          </a:xfrm>
        </p:spPr>
        <p:txBody>
          <a:bodyPr/>
          <a:lstStyle/>
          <a:p>
            <a:pPr marL="0" indent="0">
              <a:buNone/>
            </a:pPr>
            <a:br>
              <a:rPr lang="en-US" sz="1200" b="1" dirty="0"/>
            </a:br>
            <a:br>
              <a:rPr lang="en-US" sz="1200" b="1" dirty="0"/>
            </a:br>
            <a:r>
              <a:rPr lang="en-US" sz="1200" b="1" dirty="0"/>
              <a:t>Moment 3: When a Team Has a Breakthrough Worth Scaling</a:t>
            </a:r>
            <a:endParaRPr lang="en-US" sz="1200" dirty="0"/>
          </a:p>
          <a:p>
            <a:pPr marL="0" indent="0">
              <a:buNone/>
            </a:pPr>
            <a:r>
              <a:rPr lang="en-US" sz="1200" dirty="0"/>
              <a:t>One of Ember’s regional sales teams built an AI process that automates pipeline generation. In six months, the team cut prospecting time by half and now spends that time closing deals.</a:t>
            </a:r>
          </a:p>
          <a:p>
            <a:pPr marL="0" indent="0">
              <a:buNone/>
            </a:pPr>
            <a:r>
              <a:rPr lang="en-US" sz="1200" dirty="0"/>
              <a:t>The COO wants this solution to live in every market by early next year. The other regional sales heads aren’t convinced. These three objections keep coming up:</a:t>
            </a:r>
          </a:p>
          <a:p>
            <a:pPr lvl="0"/>
            <a:r>
              <a:rPr lang="en-US" sz="1200" dirty="0"/>
              <a:t>“Our sales cycles are longer and relationship-driven.”</a:t>
            </a:r>
          </a:p>
          <a:p>
            <a:pPr lvl="0"/>
            <a:r>
              <a:rPr lang="en-US" sz="1200" dirty="0"/>
              <a:t>“Our data isn’t clean enough for this.”</a:t>
            </a:r>
          </a:p>
          <a:p>
            <a:pPr lvl="0"/>
            <a:r>
              <a:rPr lang="en-US" sz="1200" dirty="0"/>
              <a:t>“We’d have to drop tools we’ve already invested in.”</a:t>
            </a:r>
          </a:p>
          <a:p>
            <a:pPr marL="0" indent="0">
              <a:buNone/>
            </a:pPr>
            <a:r>
              <a:rPr lang="en-US" sz="1200" dirty="0"/>
              <a:t>The COO has asked for your recommendation on how to scale.</a:t>
            </a:r>
          </a:p>
          <a:p>
            <a:pPr marL="0" indent="0">
              <a:buNone/>
            </a:pPr>
            <a:endParaRPr lang="en-US" sz="1200" b="1" dirty="0"/>
          </a:p>
          <a:p>
            <a:pPr marL="0" indent="0">
              <a:buNone/>
            </a:pPr>
            <a:r>
              <a:rPr lang="en-US" sz="1200" b="1" dirty="0"/>
              <a:t>What do you recommend? Brainstorm at your table.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C1500747-1ECE-F720-06A3-77717C4E343E}"/>
              </a:ext>
            </a:extLst>
          </p:cNvPr>
          <p:cNvSpPr>
            <a:spLocks noGrp="1"/>
          </p:cNvSpPr>
          <p:nvPr>
            <p:ph type="title"/>
          </p:nvPr>
        </p:nvSpPr>
        <p:spPr/>
        <p:txBody>
          <a:bodyPr/>
          <a:lstStyle/>
          <a:p>
            <a:r>
              <a:rPr lang="en-US"/>
              <a:t>Source Doc: Moment 3</a:t>
            </a:r>
          </a:p>
        </p:txBody>
      </p:sp>
      <p:sp>
        <p:nvSpPr>
          <p:cNvPr id="6" name="TextBox 5">
            <a:extLst>
              <a:ext uri="{FF2B5EF4-FFF2-40B4-BE49-F238E27FC236}">
                <a16:creationId xmlns:a16="http://schemas.microsoft.com/office/drawing/2014/main" id="{D842E270-BB5C-7C5F-885F-1D4731374C7C}"/>
              </a:ext>
            </a:extLst>
          </p:cNvPr>
          <p:cNvSpPr txBox="1"/>
          <p:nvPr/>
        </p:nvSpPr>
        <p:spPr>
          <a:xfrm>
            <a:off x="7091082" y="412519"/>
            <a:ext cx="3076175" cy="369332"/>
          </a:xfrm>
          <a:prstGeom prst="rect">
            <a:avLst/>
          </a:prstGeom>
          <a:solidFill>
            <a:srgbClr val="FFC000"/>
          </a:solidFill>
        </p:spPr>
        <p:txBody>
          <a:bodyPr wrap="square" rtlCol="0">
            <a:spAutoFit/>
          </a:bodyPr>
          <a:lstStyle/>
          <a:p>
            <a:r>
              <a:rPr lang="en-US" b="1" dirty="0"/>
              <a:t>Digital (27-Oct):</a:t>
            </a:r>
            <a:r>
              <a:rPr lang="en-US" dirty="0"/>
              <a:t> No updates</a:t>
            </a:r>
            <a:endParaRPr lang="en-IN" dirty="0"/>
          </a:p>
        </p:txBody>
      </p:sp>
    </p:spTree>
    <p:extLst>
      <p:ext uri="{BB962C8B-B14F-4D97-AF65-F5344CB8AC3E}">
        <p14:creationId xmlns:p14="http://schemas.microsoft.com/office/powerpoint/2010/main" val="1252519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F3FEC-F98E-F74F-E24E-5F9ED4B869F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1F908F1-C05F-9895-E5AC-F303E0E2E132}"/>
              </a:ext>
            </a:extLst>
          </p:cNvPr>
          <p:cNvSpPr>
            <a:spLocks noGrp="1"/>
          </p:cNvSpPr>
          <p:nvPr>
            <p:ph type="body" sz="quarter" idx="13"/>
          </p:nvPr>
        </p:nvSpPr>
        <p:spPr>
          <a:xfrm>
            <a:off x="381000" y="1380682"/>
            <a:ext cx="8519652" cy="4410517"/>
          </a:xfrm>
        </p:spPr>
        <p:txBody>
          <a:bodyPr/>
          <a:lstStyle/>
          <a:p>
            <a:pPr marL="0" indent="0">
              <a:buNone/>
            </a:pPr>
            <a:r>
              <a:rPr lang="en-US" sz="1200" b="1" dirty="0"/>
              <a:t>Objective: </a:t>
            </a:r>
            <a:r>
              <a:rPr lang="en-US" sz="1200" dirty="0"/>
              <a:t>Practice a conversation with a team member about what the agentic era means for people at work: the skills and mindsets that matter most and how people stay valued and relevant as their work evolves.</a:t>
            </a:r>
            <a:br>
              <a:rPr lang="en-US" sz="1200" dirty="0"/>
            </a:br>
            <a:endParaRPr lang="en-US" sz="1200" dirty="0"/>
          </a:p>
          <a:p>
            <a:pPr marL="0" indent="0">
              <a:buNone/>
            </a:pPr>
            <a:r>
              <a:rPr lang="en-US" sz="1200" b="1" dirty="0"/>
              <a:t>Your role: </a:t>
            </a:r>
            <a:r>
              <a:rPr lang="en-US" sz="1200" dirty="0"/>
              <a:t>You are the leader. Riley, a team member at Ember, is feeling both nervous and excited about what the AI transformation could mean for them and wants to talk it through with you. Riley will start the chat, so read Riley's first message and reply to it.</a:t>
            </a:r>
            <a:br>
              <a:rPr lang="en-US" sz="1200" dirty="0"/>
            </a:br>
            <a:endParaRPr lang="en-US" sz="1200" dirty="0"/>
          </a:p>
          <a:p>
            <a:pPr marL="0" indent="0">
              <a:buNone/>
            </a:pPr>
            <a:r>
              <a:rPr lang="en-US" sz="1200" b="1" dirty="0"/>
              <a:t>Before you begin: </a:t>
            </a:r>
            <a:r>
              <a:rPr lang="en-US" sz="1200" dirty="0"/>
              <a:t>Take one minute as a table to think back on the three simulation moments you just worked through (prioritizing first steps, leading a team through uncertainty, scaling a breakthrough) and what the facilitators covered in the debrief about the skills and mindsets that matter the most in the age of AI.</a:t>
            </a:r>
            <a:br>
              <a:rPr lang="en-US" sz="1200" dirty="0"/>
            </a:br>
            <a:endParaRPr lang="en-US" sz="1200" dirty="0"/>
          </a:p>
          <a:p>
            <a:pPr marL="0" indent="0">
              <a:buNone/>
            </a:pPr>
            <a:r>
              <a:rPr lang="en-US" sz="1200" b="1" dirty="0"/>
              <a:t>What to do</a:t>
            </a:r>
            <a:r>
              <a:rPr lang="en-US" sz="1200" dirty="0"/>
              <a:t>: Have a real conversation with Riley, not a briefing, the way you would with someone on your team. Draw on what you took from the three moments and your own experience, and speak from it as your own. Riley wasn't in the leadership conversations at Ember and doesn't know about the simulation. Riley has real concerns and real hopes, and will respond to how you show up.</a:t>
            </a:r>
            <a:br>
              <a:rPr lang="en-US" sz="1200" dirty="0"/>
            </a:br>
            <a:endParaRPr lang="en-US" sz="1200" dirty="0"/>
          </a:p>
          <a:p>
            <a:pPr marL="0" indent="0">
              <a:buNone/>
            </a:pPr>
            <a:r>
              <a:rPr lang="en-US" sz="1200" b="1" dirty="0"/>
              <a:t>Logistics: </a:t>
            </a:r>
            <a:r>
              <a:rPr lang="en-US" sz="1200" dirty="0"/>
              <a:t>One person types at a time; the table can talk it through and rotate typing. No need to use slides or notes.</a:t>
            </a:r>
            <a:br>
              <a:rPr lang="en-US" sz="1200" dirty="0"/>
            </a:br>
            <a:endParaRPr lang="en-US" sz="1200" dirty="0"/>
          </a:p>
          <a:p>
            <a:pPr marL="0" indent="0">
              <a:buNone/>
            </a:pPr>
            <a:r>
              <a:rPr lang="en-US" sz="1200" b="1" dirty="0"/>
              <a:t>Time: </a:t>
            </a:r>
            <a:r>
              <a:rPr lang="en-US" sz="1200" dirty="0"/>
              <a:t>About 5-7 minutes. Riley will wrap up and thank you when the conversation reaches a natural close. Keep the transcript visible at your table for the group debrief.</a:t>
            </a:r>
          </a:p>
        </p:txBody>
      </p:sp>
      <p:sp>
        <p:nvSpPr>
          <p:cNvPr id="3" name="Title 2">
            <a:extLst>
              <a:ext uri="{FF2B5EF4-FFF2-40B4-BE49-F238E27FC236}">
                <a16:creationId xmlns:a16="http://schemas.microsoft.com/office/drawing/2014/main" id="{9F18BDCB-8D42-805D-FAF6-440F65366391}"/>
              </a:ext>
            </a:extLst>
          </p:cNvPr>
          <p:cNvSpPr>
            <a:spLocks noGrp="1"/>
          </p:cNvSpPr>
          <p:nvPr>
            <p:ph type="title"/>
          </p:nvPr>
        </p:nvSpPr>
        <p:spPr/>
        <p:txBody>
          <a:bodyPr/>
          <a:lstStyle/>
          <a:p>
            <a:r>
              <a:rPr lang="en-US" dirty="0"/>
              <a:t>Bot Title:  Practicing the Three Human Intelligences </a:t>
            </a:r>
            <a:br>
              <a:rPr lang="en-US" dirty="0"/>
            </a:br>
            <a:r>
              <a:rPr lang="en-US" dirty="0"/>
              <a:t>Bot Language Update</a:t>
            </a:r>
            <a:endParaRPr lang="en-US" i="1" dirty="0"/>
          </a:p>
        </p:txBody>
      </p:sp>
      <p:sp>
        <p:nvSpPr>
          <p:cNvPr id="6" name="TextBox 5">
            <a:extLst>
              <a:ext uri="{FF2B5EF4-FFF2-40B4-BE49-F238E27FC236}">
                <a16:creationId xmlns:a16="http://schemas.microsoft.com/office/drawing/2014/main" id="{17FAAFB4-69AD-C488-B668-B258BDA5A768}"/>
              </a:ext>
            </a:extLst>
          </p:cNvPr>
          <p:cNvSpPr txBox="1"/>
          <p:nvPr/>
        </p:nvSpPr>
        <p:spPr>
          <a:xfrm>
            <a:off x="8360229" y="360510"/>
            <a:ext cx="3744685" cy="1200329"/>
          </a:xfrm>
          <a:prstGeom prst="rect">
            <a:avLst/>
          </a:prstGeom>
          <a:solidFill>
            <a:srgbClr val="92D050"/>
          </a:solidFill>
        </p:spPr>
        <p:txBody>
          <a:bodyPr wrap="square" rtlCol="0">
            <a:spAutoFit/>
          </a:bodyPr>
          <a:lstStyle/>
          <a:p>
            <a:r>
              <a:rPr lang="en-US" b="1" dirty="0"/>
              <a:t>Digital (27-Oct):</a:t>
            </a:r>
            <a:r>
              <a:rPr lang="en-US" dirty="0"/>
              <a:t> Done</a:t>
            </a:r>
          </a:p>
          <a:p>
            <a:r>
              <a:rPr lang="en-US"/>
              <a:t>Updated bot </a:t>
            </a:r>
            <a:r>
              <a:rPr lang="en-US" dirty="0"/>
              <a:t>title as</a:t>
            </a:r>
            <a:br>
              <a:rPr lang="en-US" dirty="0"/>
            </a:br>
            <a:r>
              <a:rPr lang="en-US" dirty="0"/>
              <a:t>“</a:t>
            </a:r>
            <a:r>
              <a:rPr lang="en-US" b="1" dirty="0"/>
              <a:t>Practicing the Three Human Intelligences”</a:t>
            </a:r>
            <a:endParaRPr lang="en-IN" dirty="0"/>
          </a:p>
        </p:txBody>
      </p:sp>
    </p:spTree>
    <p:extLst>
      <p:ext uri="{BB962C8B-B14F-4D97-AF65-F5344CB8AC3E}">
        <p14:creationId xmlns:p14="http://schemas.microsoft.com/office/powerpoint/2010/main" val="6529699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BTS Colors">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CA1C68"/>
      </a:hlink>
      <a:folHlink>
        <a:srgbClr val="A2A5A8"/>
      </a:folHlink>
    </a:clrScheme>
    <a:fontScheme name="Custom 3">
      <a:majorFont>
        <a:latin typeface="Tenorite"/>
        <a:ea typeface="Tenorite"/>
        <a:cs typeface="Arial"/>
      </a:majorFont>
      <a:minorFont>
        <a:latin typeface="Tenorite"/>
        <a:ea typeface="Tenorite"/>
        <a:cs typeface="Arial"/>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Presentation5" id="{ECB22910-232F-224A-8C7F-E59F7D117CB0}" vid="{765BB555-9A6A-4D4D-82C8-498DD8A32C5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870</TotalTime>
  <Words>1912</Words>
  <Application>Microsoft Office PowerPoint</Application>
  <PresentationFormat>Widescreen</PresentationFormat>
  <Paragraphs>66</Paragraphs>
  <Slides>7</Slides>
  <Notes>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7</vt:i4>
      </vt:variant>
    </vt:vector>
  </HeadingPairs>
  <TitlesOfParts>
    <vt:vector size="15" baseType="lpstr">
      <vt:lpstr>Aptos</vt:lpstr>
      <vt:lpstr>Aptos Display</vt:lpstr>
      <vt:lpstr>Arial</vt:lpstr>
      <vt:lpstr>Calibri</vt:lpstr>
      <vt:lpstr>Tenorite</vt:lpstr>
      <vt:lpstr>Verdana</vt:lpstr>
      <vt:lpstr>Office Theme</vt:lpstr>
      <vt:lpstr>1_Office Theme</vt:lpstr>
      <vt:lpstr>PowerPoint Presentation</vt:lpstr>
      <vt:lpstr>Source Doc: Moment 1</vt:lpstr>
      <vt:lpstr>Source doc Moment 1</vt:lpstr>
      <vt:lpstr>Source Doc: Moment 2</vt:lpstr>
      <vt:lpstr>Source Doc Moment 2</vt:lpstr>
      <vt:lpstr>Source Doc: Moment 3</vt:lpstr>
      <vt:lpstr>Bot Title:  Practicing the Three Human Intelligences  Bot Language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Kevin Claypool</dc:creator>
  <cp:lastModifiedBy>Smita Vaish</cp:lastModifiedBy>
  <cp:revision>8</cp:revision>
  <dcterms:created xsi:type="dcterms:W3CDTF">2026-10-19T18:05:45Z</dcterms:created>
  <dcterms:modified xsi:type="dcterms:W3CDTF">2026-10-27T10:08:00Z</dcterms:modified>
</cp:coreProperties>
</file>