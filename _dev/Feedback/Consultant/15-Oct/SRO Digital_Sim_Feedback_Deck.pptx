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69" r:id="rId3"/>
    <p:sldId id="264" r:id="rId4"/>
    <p:sldId id="274" r:id="rId5"/>
    <p:sldId id="273" r:id="rId6"/>
    <p:sldId id="275" r:id="rId7"/>
    <p:sldId id="271" r:id="rId8"/>
    <p:sldId id="257" r:id="rId9"/>
    <p:sldId id="258" r:id="rId10"/>
    <p:sldId id="259" r:id="rId11"/>
    <p:sldId id="260" r:id="rId12"/>
    <p:sldId id="261" r:id="rId13"/>
    <p:sldId id="267" r:id="rId14"/>
    <p:sldId id="262" r:id="rId15"/>
    <p:sldId id="265" r:id="rId16"/>
    <p:sldId id="266" r:id="rId17"/>
    <p:sldId id="263" r:id="rId18"/>
    <p:sldId id="270" r:id="rId19"/>
    <p:sldId id="272" r:id="rId20"/>
    <p:sldId id="276" r:id="rId21"/>
    <p:sldId id="277" r:id="rId22"/>
    <p:sldId id="278" r:id="rId23"/>
    <p:sldId id="279" r:id="rId24"/>
    <p:sldId id="280" r:id="rId25"/>
    <p:sldId id="281"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1CEA573-440F-4BF8-3DB3-538290D66EE1}">
          <p14:sldIdLst>
            <p14:sldId id="256"/>
          </p14:sldIdLst>
        </p14:section>
        <p14:section name="14-Oct" id="{BDE9679B-52D9-B44C-ED0F-04605F7832B7}">
          <p14:sldIdLst>
            <p14:sldId id="269"/>
            <p14:sldId id="264"/>
            <p14:sldId id="274"/>
            <p14:sldId id="273"/>
            <p14:sldId id="275"/>
            <p14:sldId id="271"/>
          </p14:sldIdLst>
        </p14:section>
        <p14:section name="12-Oct" id="{D59AD6AB-2A6A-4CEE-951D-0BBA445B2C47}">
          <p14:sldIdLst>
            <p14:sldId id="257"/>
            <p14:sldId id="258"/>
            <p14:sldId id="259"/>
            <p14:sldId id="260"/>
            <p14:sldId id="261"/>
            <p14:sldId id="267"/>
            <p14:sldId id="262"/>
            <p14:sldId id="265"/>
          </p14:sldIdLst>
        </p14:section>
        <p14:section name="FOR DEV TEAM" id="{BC95F96B-1602-3253-29DA-873B0D30F489}">
          <p14:sldIdLst>
            <p14:sldId id="266"/>
            <p14:sldId id="263"/>
            <p14:sldId id="270"/>
            <p14:sldId id="272"/>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9893B1-4827-4671-892B-5C169966A25E}" v="9" dt="2026-10-14T20:29:35.132"/>
    <p1510:client id="{92A4FCFC-6976-4581-B860-9E6495347CB6}" v="6" dt="2026-10-14T17:52:38.2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13" autoAdjust="0"/>
    <p:restoredTop sz="83476" autoAdjust="0"/>
  </p:normalViewPr>
  <p:slideViewPr>
    <p:cSldViewPr snapToGrid="0" snapToObjects="1">
      <p:cViewPr varScale="1">
        <p:scale>
          <a:sx n="94" d="100"/>
          <a:sy n="94" d="100"/>
        </p:scale>
        <p:origin x="67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laypool" userId="52047897047_tp_box_2" providerId="OAuth2" clId="{CA4CF585-0989-4D92-86E9-697F3F8B2F84}"/>
    <pc:docChg chg="undo custSel addSld modSld modSection">
      <pc:chgData name="Kevin Claypool" userId="52047897047_tp_box_2" providerId="OAuth2" clId="{CA4CF585-0989-4D92-86E9-697F3F8B2F84}" dt="2026-10-14T20:31:25.358" v="598" actId="13926"/>
      <pc:docMkLst>
        <pc:docMk/>
      </pc:docMkLst>
      <pc:sldChg chg="modSp mod">
        <pc:chgData name="Kevin Claypool" userId="52047897047_tp_box_2" providerId="OAuth2" clId="{CA4CF585-0989-4D92-86E9-697F3F8B2F84}" dt="2026-10-14T20:31:25.358" v="598" actId="13926"/>
        <pc:sldMkLst>
          <pc:docMk/>
          <pc:sldMk cId="0" sldId="259"/>
        </pc:sldMkLst>
        <pc:spChg chg="mod">
          <ac:chgData name="Kevin Claypool" userId="52047897047_tp_box_2" providerId="OAuth2" clId="{CA4CF585-0989-4D92-86E9-697F3F8B2F84}" dt="2026-10-14T20:31:25.358" v="598" actId="13926"/>
          <ac:spMkLst>
            <pc:docMk/>
            <pc:sldMk cId="0" sldId="259"/>
            <ac:spMk id="2" creationId="{00000000-0000-0000-0000-000000000000}"/>
          </ac:spMkLst>
        </pc:spChg>
      </pc:sldChg>
      <pc:sldChg chg="modSp mod">
        <pc:chgData name="Kevin Claypool" userId="52047897047_tp_box_2" providerId="OAuth2" clId="{CA4CF585-0989-4D92-86E9-697F3F8B2F84}" dt="2026-10-14T20:31:13.869" v="597" actId="13926"/>
        <pc:sldMkLst>
          <pc:docMk/>
          <pc:sldMk cId="0" sldId="261"/>
        </pc:sldMkLst>
        <pc:spChg chg="mod">
          <ac:chgData name="Kevin Claypool" userId="52047897047_tp_box_2" providerId="OAuth2" clId="{CA4CF585-0989-4D92-86E9-697F3F8B2F84}" dt="2026-10-14T20:31:13.869" v="597" actId="13926"/>
          <ac:spMkLst>
            <pc:docMk/>
            <pc:sldMk cId="0" sldId="261"/>
            <ac:spMk id="5" creationId="{00000000-0000-0000-0000-000000000000}"/>
          </ac:spMkLst>
        </pc:spChg>
      </pc:sldChg>
      <pc:sldChg chg="addSp modSp mod">
        <pc:chgData name="Kevin Claypool" userId="52047897047_tp_box_2" providerId="OAuth2" clId="{CA4CF585-0989-4D92-86E9-697F3F8B2F84}" dt="2026-10-14T20:17:57.709" v="173" actId="1076"/>
        <pc:sldMkLst>
          <pc:docMk/>
          <pc:sldMk cId="0" sldId="263"/>
        </pc:sldMkLst>
        <pc:spChg chg="mod">
          <ac:chgData name="Kevin Claypool" userId="52047897047_tp_box_2" providerId="OAuth2" clId="{CA4CF585-0989-4D92-86E9-697F3F8B2F84}" dt="2026-10-14T20:17:47.350" v="171" actId="20577"/>
          <ac:spMkLst>
            <pc:docMk/>
            <pc:sldMk cId="0" sldId="263"/>
            <ac:spMk id="5" creationId="{00000000-0000-0000-0000-000000000000}"/>
          </ac:spMkLst>
        </pc:spChg>
        <pc:spChg chg="add mod">
          <ac:chgData name="Kevin Claypool" userId="52047897047_tp_box_2" providerId="OAuth2" clId="{CA4CF585-0989-4D92-86E9-697F3F8B2F84}" dt="2026-10-14T20:17:57.709" v="173" actId="1076"/>
          <ac:spMkLst>
            <pc:docMk/>
            <pc:sldMk cId="0" sldId="263"/>
            <ac:spMk id="6" creationId="{547763DF-CEBE-33AB-7DB4-513685ACCEC3}"/>
          </ac:spMkLst>
        </pc:spChg>
      </pc:sldChg>
      <pc:sldChg chg="modSp mod">
        <pc:chgData name="Kevin Claypool" userId="52047897047_tp_box_2" providerId="OAuth2" clId="{CA4CF585-0989-4D92-86E9-697F3F8B2F84}" dt="2026-10-14T20:19:05.372" v="339" actId="20577"/>
        <pc:sldMkLst>
          <pc:docMk/>
          <pc:sldMk cId="0" sldId="264"/>
        </pc:sldMkLst>
        <pc:spChg chg="mod">
          <ac:chgData name="Kevin Claypool" userId="52047897047_tp_box_2" providerId="OAuth2" clId="{CA4CF585-0989-4D92-86E9-697F3F8B2F84}" dt="2026-10-14T20:19:05.372" v="339" actId="20577"/>
          <ac:spMkLst>
            <pc:docMk/>
            <pc:sldMk cId="0" sldId="264"/>
            <ac:spMk id="5" creationId="{00000000-0000-0000-0000-000000000000}"/>
          </ac:spMkLst>
        </pc:spChg>
      </pc:sldChg>
      <pc:sldChg chg="addSp modSp mod">
        <pc:chgData name="Kevin Claypool" userId="52047897047_tp_box_2" providerId="OAuth2" clId="{CA4CF585-0989-4D92-86E9-697F3F8B2F84}" dt="2026-10-14T20:21:35.654" v="401" actId="14100"/>
        <pc:sldMkLst>
          <pc:docMk/>
          <pc:sldMk cId="2962625536" sldId="269"/>
        </pc:sldMkLst>
        <pc:spChg chg="add mod">
          <ac:chgData name="Kevin Claypool" userId="52047897047_tp_box_2" providerId="OAuth2" clId="{CA4CF585-0989-4D92-86E9-697F3F8B2F84}" dt="2026-10-14T20:21:35.654" v="401" actId="14100"/>
          <ac:spMkLst>
            <pc:docMk/>
            <pc:sldMk cId="2962625536" sldId="269"/>
            <ac:spMk id="4" creationId="{0D7B6274-76F4-F71D-47BA-5FF2DD595D86}"/>
          </ac:spMkLst>
        </pc:spChg>
      </pc:sldChg>
      <pc:sldChg chg="addSp delSp modSp add mod delAnim modAnim">
        <pc:chgData name="Kevin Claypool" userId="52047897047_tp_box_2" providerId="OAuth2" clId="{CA4CF585-0989-4D92-86E9-697F3F8B2F84}" dt="2026-10-14T20:16:38.864" v="151" actId="113"/>
        <pc:sldMkLst>
          <pc:docMk/>
          <pc:sldMk cId="1355105804" sldId="273"/>
        </pc:sldMkLst>
        <pc:spChg chg="mod">
          <ac:chgData name="Kevin Claypool" userId="52047897047_tp_box_2" providerId="OAuth2" clId="{CA4CF585-0989-4D92-86E9-697F3F8B2F84}" dt="2026-10-14T20:09:03.636" v="23" actId="20577"/>
          <ac:spMkLst>
            <pc:docMk/>
            <pc:sldMk cId="1355105804" sldId="273"/>
            <ac:spMk id="2" creationId="{61BD8C52-1737-6160-1478-400642AD392B}"/>
          </ac:spMkLst>
        </pc:spChg>
        <pc:spChg chg="del">
          <ac:chgData name="Kevin Claypool" userId="52047897047_tp_box_2" providerId="OAuth2" clId="{CA4CF585-0989-4D92-86E9-697F3F8B2F84}" dt="2026-10-14T20:08:50.745" v="2" actId="478"/>
          <ac:spMkLst>
            <pc:docMk/>
            <pc:sldMk cId="1355105804" sldId="273"/>
            <ac:spMk id="5" creationId="{F3218BF9-E81A-FBA0-0A47-58B8BD6E21A3}"/>
          </ac:spMkLst>
        </pc:spChg>
        <pc:spChg chg="add mod">
          <ac:chgData name="Kevin Claypool" userId="52047897047_tp_box_2" providerId="OAuth2" clId="{CA4CF585-0989-4D92-86E9-697F3F8B2F84}" dt="2026-10-14T20:16:38.864" v="151" actId="113"/>
          <ac:spMkLst>
            <pc:docMk/>
            <pc:sldMk cId="1355105804" sldId="273"/>
            <ac:spMk id="7" creationId="{FA69DB1E-DC41-D62F-0845-8AB3B064F136}"/>
          </ac:spMkLst>
        </pc:spChg>
        <pc:spChg chg="add del mod">
          <ac:chgData name="Kevin Claypool" userId="52047897047_tp_box_2" providerId="OAuth2" clId="{CA4CF585-0989-4D92-86E9-697F3F8B2F84}" dt="2026-10-14T20:13:29.307" v="36" actId="478"/>
          <ac:spMkLst>
            <pc:docMk/>
            <pc:sldMk cId="1355105804" sldId="273"/>
            <ac:spMk id="8" creationId="{43382901-BA02-79C5-17F4-FFC1F076A878}"/>
          </ac:spMkLst>
        </pc:spChg>
        <pc:picChg chg="mod">
          <ac:chgData name="Kevin Claypool" userId="52047897047_tp_box_2" providerId="OAuth2" clId="{CA4CF585-0989-4D92-86E9-697F3F8B2F84}" dt="2026-10-14T20:08:48.189" v="1" actId="14100"/>
          <ac:picMkLst>
            <pc:docMk/>
            <pc:sldMk cId="1355105804" sldId="273"/>
            <ac:picMk id="4" creationId="{08C1C295-DF97-027C-3F81-2340D2C43405}"/>
          </ac:picMkLst>
        </pc:picChg>
      </pc:sldChg>
      <pc:sldChg chg="addSp delSp modSp add mod">
        <pc:chgData name="Kevin Claypool" userId="52047897047_tp_box_2" providerId="OAuth2" clId="{CA4CF585-0989-4D92-86E9-697F3F8B2F84}" dt="2026-10-14T20:25:37.057" v="463" actId="14100"/>
        <pc:sldMkLst>
          <pc:docMk/>
          <pc:sldMk cId="2666350613" sldId="274"/>
        </pc:sldMkLst>
        <pc:spChg chg="add mod">
          <ac:chgData name="Kevin Claypool" userId="52047897047_tp_box_2" providerId="OAuth2" clId="{CA4CF585-0989-4D92-86E9-697F3F8B2F84}" dt="2026-10-14T20:25:37.057" v="463" actId="14100"/>
          <ac:spMkLst>
            <pc:docMk/>
            <pc:sldMk cId="2666350613" sldId="274"/>
            <ac:spMk id="5" creationId="{29AEDAA7-DBB6-41BE-EE12-1CB629C7967E}"/>
          </ac:spMkLst>
        </pc:spChg>
        <pc:spChg chg="add del mod">
          <ac:chgData name="Kevin Claypool" userId="52047897047_tp_box_2" providerId="OAuth2" clId="{CA4CF585-0989-4D92-86E9-697F3F8B2F84}" dt="2026-10-14T20:25:34.308" v="462" actId="478"/>
          <ac:spMkLst>
            <pc:docMk/>
            <pc:sldMk cId="2666350613" sldId="274"/>
            <ac:spMk id="7" creationId="{876E6432-A235-BE53-5DD8-0107E3CC2A39}"/>
          </ac:spMkLst>
        </pc:spChg>
        <pc:picChg chg="mod">
          <ac:chgData name="Kevin Claypool" userId="52047897047_tp_box_2" providerId="OAuth2" clId="{CA4CF585-0989-4D92-86E9-697F3F8B2F84}" dt="2026-10-14T20:23:00.308" v="411" actId="1076"/>
          <ac:picMkLst>
            <pc:docMk/>
            <pc:sldMk cId="2666350613" sldId="274"/>
            <ac:picMk id="4" creationId="{74CF0240-B7D9-F6A4-974E-6EB9379410EA}"/>
          </ac:picMkLst>
        </pc:picChg>
      </pc:sldChg>
      <pc:sldChg chg="modSp add mod">
        <pc:chgData name="Kevin Claypool" userId="52047897047_tp_box_2" providerId="OAuth2" clId="{CA4CF585-0989-4D92-86E9-697F3F8B2F84}" dt="2026-10-14T20:29:45.588" v="523" actId="20577"/>
        <pc:sldMkLst>
          <pc:docMk/>
          <pc:sldMk cId="2830605039" sldId="275"/>
        </pc:sldMkLst>
        <pc:spChg chg="mod">
          <ac:chgData name="Kevin Claypool" userId="52047897047_tp_box_2" providerId="OAuth2" clId="{CA4CF585-0989-4D92-86E9-697F3F8B2F84}" dt="2026-10-14T20:29:45.588" v="523" actId="20577"/>
          <ac:spMkLst>
            <pc:docMk/>
            <pc:sldMk cId="2830605039" sldId="275"/>
            <ac:spMk id="2" creationId="{034ADB25-FBAB-26CB-FE70-315D4AC95033}"/>
          </ac:spMkLst>
        </pc:spChg>
      </pc:sldChg>
    </pc:docChg>
  </pc:docChgLst>
  <pc:docChgLst>
    <pc:chgData name="Jiwon Ahn" userId="189427250_tp_box_2" providerId="OAuth2" clId="{06D3413F-32D5-4281-AE3E-C02352499A27}"/>
    <pc:docChg chg="undo custSel addSld delSld modSld sldOrd modSection">
      <pc:chgData name="Jiwon Ahn" userId="189427250_tp_box_2" providerId="OAuth2" clId="{06D3413F-32D5-4281-AE3E-C02352499A27}" dt="2026-10-14T17:53:38.660" v="1189" actId="1076"/>
      <pc:docMkLst>
        <pc:docMk/>
      </pc:docMkLst>
      <pc:sldChg chg="addSp delSp mod">
        <pc:chgData name="Jiwon Ahn" userId="189427250_tp_box_2" providerId="OAuth2" clId="{06D3413F-32D5-4281-AE3E-C02352499A27}" dt="2026-10-14T15:29:06.799" v="1" actId="22"/>
        <pc:sldMkLst>
          <pc:docMk/>
          <pc:sldMk cId="0" sldId="264"/>
        </pc:sldMkLst>
        <pc:picChg chg="add del">
          <ac:chgData name="Jiwon Ahn" userId="189427250_tp_box_2" providerId="OAuth2" clId="{06D3413F-32D5-4281-AE3E-C02352499A27}" dt="2026-10-14T15:29:06.799" v="1" actId="22"/>
          <ac:picMkLst>
            <pc:docMk/>
            <pc:sldMk cId="0" sldId="264"/>
            <ac:picMk id="7" creationId="{97D907A0-1137-C591-1D83-78E92B1305B3}"/>
          </ac:picMkLst>
        </pc:picChg>
      </pc:sldChg>
      <pc:sldChg chg="addSp delSp modSp new del mod ord">
        <pc:chgData name="Jiwon Ahn" userId="189427250_tp_box_2" providerId="OAuth2" clId="{06D3413F-32D5-4281-AE3E-C02352499A27}" dt="2026-10-14T17:51:35.789" v="969" actId="47"/>
        <pc:sldMkLst>
          <pc:docMk/>
          <pc:sldMk cId="3630593303" sldId="268"/>
        </pc:sldMkLst>
        <pc:spChg chg="mod">
          <ac:chgData name="Jiwon Ahn" userId="189427250_tp_box_2" providerId="OAuth2" clId="{06D3413F-32D5-4281-AE3E-C02352499A27}" dt="2026-10-14T16:03:27.319" v="967" actId="20577"/>
          <ac:spMkLst>
            <pc:docMk/>
            <pc:sldMk cId="3630593303" sldId="268"/>
            <ac:spMk id="2" creationId="{92D208DB-1C04-0785-BC85-CAC5FFA91BF4}"/>
          </ac:spMkLst>
        </pc:spChg>
        <pc:spChg chg="add mod">
          <ac:chgData name="Jiwon Ahn" userId="189427250_tp_box_2" providerId="OAuth2" clId="{06D3413F-32D5-4281-AE3E-C02352499A27}" dt="2026-10-14T15:30:04.736" v="101" actId="404"/>
          <ac:spMkLst>
            <pc:docMk/>
            <pc:sldMk cId="3630593303" sldId="268"/>
            <ac:spMk id="8" creationId="{C80F5164-4410-C65F-6018-F518B3C4CC07}"/>
          </ac:spMkLst>
        </pc:spChg>
        <pc:spChg chg="add mod">
          <ac:chgData name="Jiwon Ahn" userId="189427250_tp_box_2" providerId="OAuth2" clId="{06D3413F-32D5-4281-AE3E-C02352499A27}" dt="2026-10-14T16:03:28.622" v="968" actId="6549"/>
          <ac:spMkLst>
            <pc:docMk/>
            <pc:sldMk cId="3630593303" sldId="268"/>
            <ac:spMk id="10" creationId="{F43CD2BC-C273-9C6B-9205-874B4B452871}"/>
          </ac:spMkLst>
        </pc:spChg>
        <pc:picChg chg="add del">
          <ac:chgData name="Jiwon Ahn" userId="189427250_tp_box_2" providerId="OAuth2" clId="{06D3413F-32D5-4281-AE3E-C02352499A27}" dt="2026-10-14T15:29:12.955" v="4" actId="478"/>
          <ac:picMkLst>
            <pc:docMk/>
            <pc:sldMk cId="3630593303" sldId="268"/>
            <ac:picMk id="4" creationId="{4B5D7526-597B-C5E4-2CA6-AB58BD336D37}"/>
          </ac:picMkLst>
        </pc:picChg>
        <pc:picChg chg="add del mod">
          <ac:chgData name="Jiwon Ahn" userId="189427250_tp_box_2" providerId="OAuth2" clId="{06D3413F-32D5-4281-AE3E-C02352499A27}" dt="2026-10-14T16:02:57.670" v="842" actId="478"/>
          <ac:picMkLst>
            <pc:docMk/>
            <pc:sldMk cId="3630593303" sldId="268"/>
            <ac:picMk id="6" creationId="{DA4723D5-6DE4-494C-EAED-F5CCF1BE7C88}"/>
          </ac:picMkLst>
        </pc:picChg>
        <pc:picChg chg="add mod">
          <ac:chgData name="Jiwon Ahn" userId="189427250_tp_box_2" providerId="OAuth2" clId="{06D3413F-32D5-4281-AE3E-C02352499A27}" dt="2026-10-14T16:03:05.087" v="846" actId="27614"/>
          <ac:picMkLst>
            <pc:docMk/>
            <pc:sldMk cId="3630593303" sldId="268"/>
            <ac:picMk id="12" creationId="{EAB873B4-8D93-0FED-F284-20F25068EA09}"/>
          </ac:picMkLst>
        </pc:picChg>
      </pc:sldChg>
      <pc:sldChg chg="add del">
        <pc:chgData name="Jiwon Ahn" userId="189427250_tp_box_2" providerId="OAuth2" clId="{06D3413F-32D5-4281-AE3E-C02352499A27}" dt="2026-10-14T15:31:27.436" v="418"/>
        <pc:sldMkLst>
          <pc:docMk/>
          <pc:sldMk cId="1722943502" sldId="269"/>
        </pc:sldMkLst>
      </pc:sldChg>
      <pc:sldChg chg="delSp modSp add mod ord">
        <pc:chgData name="Jiwon Ahn" userId="189427250_tp_box_2" providerId="OAuth2" clId="{06D3413F-32D5-4281-AE3E-C02352499A27}" dt="2026-10-14T15:34:34.216" v="653"/>
        <pc:sldMkLst>
          <pc:docMk/>
          <pc:sldMk cId="2962625536" sldId="269"/>
        </pc:sldMkLst>
        <pc:spChg chg="mod">
          <ac:chgData name="Jiwon Ahn" userId="189427250_tp_box_2" providerId="OAuth2" clId="{06D3413F-32D5-4281-AE3E-C02352499A27}" dt="2026-10-14T15:34:30.014" v="651" actId="313"/>
          <ac:spMkLst>
            <pc:docMk/>
            <pc:sldMk cId="2962625536" sldId="269"/>
            <ac:spMk id="2" creationId="{D014E930-2482-AD38-519F-707A71F731F3}"/>
          </ac:spMkLst>
        </pc:spChg>
        <pc:spChg chg="del">
          <ac:chgData name="Jiwon Ahn" userId="189427250_tp_box_2" providerId="OAuth2" clId="{06D3413F-32D5-4281-AE3E-C02352499A27}" dt="2026-10-14T15:31:47.846" v="494" actId="478"/>
          <ac:spMkLst>
            <pc:docMk/>
            <pc:sldMk cId="2962625536" sldId="269"/>
            <ac:spMk id="10" creationId="{C900C6E7-4E15-961E-9F1D-7EB7402021E4}"/>
          </ac:spMkLst>
        </pc:spChg>
      </pc:sldChg>
      <pc:sldChg chg="addSp delSp modSp add mod">
        <pc:chgData name="Jiwon Ahn" userId="189427250_tp_box_2" providerId="OAuth2" clId="{06D3413F-32D5-4281-AE3E-C02352499A27}" dt="2026-10-14T15:35:23.403" v="840" actId="20577"/>
        <pc:sldMkLst>
          <pc:docMk/>
          <pc:sldMk cId="671989044" sldId="270"/>
        </pc:sldMkLst>
        <pc:spChg chg="mod">
          <ac:chgData name="Jiwon Ahn" userId="189427250_tp_box_2" providerId="OAuth2" clId="{06D3413F-32D5-4281-AE3E-C02352499A27}" dt="2026-10-14T15:34:14.032" v="646" actId="20577"/>
          <ac:spMkLst>
            <pc:docMk/>
            <pc:sldMk cId="671989044" sldId="270"/>
            <ac:spMk id="2" creationId="{D014E930-2482-AD38-519F-707A71F731F3}"/>
          </ac:spMkLst>
        </pc:spChg>
        <pc:spChg chg="add mod">
          <ac:chgData name="Jiwon Ahn" userId="189427250_tp_box_2" providerId="OAuth2" clId="{06D3413F-32D5-4281-AE3E-C02352499A27}" dt="2026-10-14T15:35:23.403" v="840" actId="20577"/>
          <ac:spMkLst>
            <pc:docMk/>
            <pc:sldMk cId="671989044" sldId="270"/>
            <ac:spMk id="7" creationId="{E0D5D971-EB00-8902-2D73-12E4779316E5}"/>
          </ac:spMkLst>
        </pc:spChg>
        <pc:picChg chg="add mod">
          <ac:chgData name="Jiwon Ahn" userId="189427250_tp_box_2" providerId="OAuth2" clId="{06D3413F-32D5-4281-AE3E-C02352499A27}" dt="2026-10-14T15:34:38.181" v="655" actId="14100"/>
          <ac:picMkLst>
            <pc:docMk/>
            <pc:sldMk cId="671989044" sldId="270"/>
            <ac:picMk id="4" creationId="{D92EE603-BE12-09F6-2AA5-84BA72B60977}"/>
          </ac:picMkLst>
        </pc:picChg>
        <pc:picChg chg="del">
          <ac:chgData name="Jiwon Ahn" userId="189427250_tp_box_2" providerId="OAuth2" clId="{06D3413F-32D5-4281-AE3E-C02352499A27}" dt="2026-10-14T15:33:37.062" v="540" actId="478"/>
          <ac:picMkLst>
            <pc:docMk/>
            <pc:sldMk cId="671989044" sldId="270"/>
            <ac:picMk id="6" creationId="{23B2DA88-E975-8897-082F-68BCB9A67973}"/>
          </ac:picMkLst>
        </pc:picChg>
      </pc:sldChg>
      <pc:sldChg chg="add">
        <pc:chgData name="Jiwon Ahn" userId="189427250_tp_box_2" providerId="OAuth2" clId="{06D3413F-32D5-4281-AE3E-C02352499A27}" dt="2026-10-14T16:02:54.310" v="841"/>
        <pc:sldMkLst>
          <pc:docMk/>
          <pc:sldMk cId="304153698" sldId="271"/>
        </pc:sldMkLst>
      </pc:sldChg>
      <pc:sldChg chg="addSp delSp modSp new mod">
        <pc:chgData name="Jiwon Ahn" userId="189427250_tp_box_2" providerId="OAuth2" clId="{06D3413F-32D5-4281-AE3E-C02352499A27}" dt="2026-10-14T17:53:38.660" v="1189" actId="1076"/>
        <pc:sldMkLst>
          <pc:docMk/>
          <pc:sldMk cId="3194041708" sldId="272"/>
        </pc:sldMkLst>
        <pc:spChg chg="mod">
          <ac:chgData name="Jiwon Ahn" userId="189427250_tp_box_2" providerId="OAuth2" clId="{06D3413F-32D5-4281-AE3E-C02352499A27}" dt="2026-10-14T17:53:36.755" v="1188" actId="20577"/>
          <ac:spMkLst>
            <pc:docMk/>
            <pc:sldMk cId="3194041708" sldId="272"/>
            <ac:spMk id="2" creationId="{13449E22-F2EB-A6C0-C78D-0D464ECFEC76}"/>
          </ac:spMkLst>
        </pc:spChg>
        <pc:spChg chg="add del mod">
          <ac:chgData name="Jiwon Ahn" userId="189427250_tp_box_2" providerId="OAuth2" clId="{06D3413F-32D5-4281-AE3E-C02352499A27}" dt="2026-10-14T17:52:40.664" v="973" actId="478"/>
          <ac:spMkLst>
            <pc:docMk/>
            <pc:sldMk cId="3194041708" sldId="272"/>
            <ac:spMk id="5" creationId="{D25FF01D-246B-E607-A4BF-3337FD0BA14B}"/>
          </ac:spMkLst>
        </pc:spChg>
        <pc:spChg chg="add mod">
          <ac:chgData name="Jiwon Ahn" userId="189427250_tp_box_2" providerId="OAuth2" clId="{06D3413F-32D5-4281-AE3E-C02352499A27}" dt="2026-10-14T17:52:38.229" v="972"/>
          <ac:spMkLst>
            <pc:docMk/>
            <pc:sldMk cId="3194041708" sldId="272"/>
            <ac:spMk id="6" creationId="{A43F8952-B978-60F3-BB90-DBD857D475E9}"/>
          </ac:spMkLst>
        </pc:spChg>
        <pc:picChg chg="add mod">
          <ac:chgData name="Jiwon Ahn" userId="189427250_tp_box_2" providerId="OAuth2" clId="{06D3413F-32D5-4281-AE3E-C02352499A27}" dt="2026-10-14T17:53:38.660" v="1189" actId="1076"/>
          <ac:picMkLst>
            <pc:docMk/>
            <pc:sldMk cId="3194041708" sldId="272"/>
            <ac:picMk id="4" creationId="{C6091348-07C8-B1A6-36D8-795B91A2757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2561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on the digital sim build. Every screenshot after slide 2 was taken at the zoomed size.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6492-DBED-BBF9-8B73-EE0BB206A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A73EC-7BC9-2B30-027A-438016449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423B-36A1-825A-7735-30C41379D85C}"/>
              </a:ext>
            </a:extLst>
          </p:cNvPr>
          <p:cNvSpPr>
            <a:spLocks noGrp="1"/>
          </p:cNvSpPr>
          <p:nvPr>
            <p:ph type="body" idx="1"/>
          </p:nvPr>
        </p:nvSpPr>
        <p:spPr/>
        <p:txBody>
          <a:bodyPr/>
          <a:lstStyle/>
          <a:p>
            <a:r>
              <a:rPr lang="en-US" dirty="0"/>
              <a:t>I know you were already planning to simplify the options. This is just the written note.</a:t>
            </a:r>
          </a:p>
        </p:txBody>
      </p:sp>
      <p:sp>
        <p:nvSpPr>
          <p:cNvPr id="4" name="Slide Number Placeholder 3">
            <a:extLst>
              <a:ext uri="{FF2B5EF4-FFF2-40B4-BE49-F238E27FC236}">
                <a16:creationId xmlns:a16="http://schemas.microsoft.com/office/drawing/2014/main" id="{247F3AFF-152E-DA4A-8C9F-D82033FD7FB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468387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screenshots show the same page. The second was taken with browser zoom increased. All later screenshots use the zoomed size.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generated image is shared in chat. Drop it into the placeholder on the right. The first two images we saw only showed women, so this one should mix men and women.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Saved button already reads Saved before anything is saved on the team name page. A color change would help, and the label may need to change too.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DE6C5-F787-7ABA-1D57-C3749F19D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19A68-001A-84D3-F618-58402F34D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28721-F0CB-0A71-C6C9-0BAA52CECF8E}"/>
              </a:ext>
            </a:extLst>
          </p:cNvPr>
          <p:cNvSpPr>
            <a:spLocks noGrp="1"/>
          </p:cNvSpPr>
          <p:nvPr>
            <p:ph type="body" idx="1"/>
          </p:nvPr>
        </p:nvSpPr>
        <p:spPr/>
        <p:txBody>
          <a:bodyPr/>
          <a:lstStyle/>
          <a:p>
            <a:r>
              <a:rPr lang="en-US" dirty="0"/>
              <a:t>Feedback on the digital sim build. Every screenshot after slide 2 was taken at the zoomed size.</a:t>
            </a:r>
          </a:p>
        </p:txBody>
      </p:sp>
      <p:sp>
        <p:nvSpPr>
          <p:cNvPr id="4" name="Slide Number Placeholder 3">
            <a:extLst>
              <a:ext uri="{FF2B5EF4-FFF2-40B4-BE49-F238E27FC236}">
                <a16:creationId xmlns:a16="http://schemas.microsoft.com/office/drawing/2014/main" id="{1F135C98-2EF4-8C82-240B-F73E87F424E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65339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know you were already planning to simplify the options. This is just the written note.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23A8D-5AFB-4A6D-DA89-99D0E601E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48DB8-89D8-2660-5204-1E3408882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2EBE97-0F00-0C97-11EF-21DE6BF8FC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8D985B-F6AA-EC3D-E97D-AB07CA81A7C6}"/>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779397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8D68-2E88-3123-E703-246164421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1D77E-B771-A538-5D3E-3E5DCE5CC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BCA6B-B26F-E737-A65E-7B2691DE5E0D}"/>
              </a:ext>
            </a:extLst>
          </p:cNvPr>
          <p:cNvSpPr>
            <a:spLocks noGrp="1"/>
          </p:cNvSpPr>
          <p:nvPr>
            <p:ph type="body" idx="1"/>
          </p:nvPr>
        </p:nvSpPr>
        <p:spPr/>
        <p:txBody>
          <a:bodyPr/>
          <a:lstStyle/>
          <a:p>
            <a:r>
              <a:rPr lang="en-US" dirty="0"/>
              <a:t>I know you were already planning to simplify the options. This is just the written note.</a:t>
            </a:r>
          </a:p>
        </p:txBody>
      </p:sp>
      <p:sp>
        <p:nvSpPr>
          <p:cNvPr id="4" name="Slide Number Placeholder 3">
            <a:extLst>
              <a:ext uri="{FF2B5EF4-FFF2-40B4-BE49-F238E27FC236}">
                <a16:creationId xmlns:a16="http://schemas.microsoft.com/office/drawing/2014/main" id="{F9DC1040-E82E-A888-7378-85AC9940E14F}"/>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850994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1ED94-009E-3641-4D16-FB2748847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6BC04-A05A-347D-DFED-7D644DE41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1B79DE-EBDA-6410-DA65-54B269E214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889F6-1CB5-D1DB-DD22-21398FE3CD94}"/>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412603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rtlCol="0"/>
          <a:lstStyle>
            <a:lvl1pPr marL="0" indent="0" algn="l">
              <a:buNone/>
              <a:defRPr lang="en-US" sz="4000" b="1" dirty="0">
                <a:solidFill>
                  <a:schemeClr val="tx1"/>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51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320040"/>
            <a:ext cx="10698480" cy="868680"/>
          </a:xfrm>
          <a:prstGeom prst="rect">
            <a:avLst/>
          </a:prstGeom>
          <a:noFill/>
          <a:ln/>
        </p:spPr>
        <p:txBody>
          <a:bodyPr wrap="square" rtlCol="0"/>
          <a:lstStyle>
            <a:lvl1pPr marL="0" indent="0" algn="l">
              <a:buNone/>
              <a:defRPr lang="en-US" sz="4000" b="1" dirty="0">
                <a:solidFill>
                  <a:schemeClr val="bg1"/>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PAGE">
    <p:bg>
      <p:bgPr>
        <a:solidFill>
          <a:srgbClr val="051A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011680"/>
            <a:ext cx="10515600" cy="1371600"/>
          </a:xfrm>
          <a:prstGeom prst="rect">
            <a:avLst/>
          </a:prstGeom>
          <a:noFill/>
          <a:ln/>
        </p:spPr>
        <p:txBody>
          <a:bodyPr wrap="square" rtlCol="0"/>
          <a:lstStyle>
            <a:lvl1pPr marL="0" indent="0" algn="l">
              <a:buNone/>
              <a:defRPr lang="en-US" sz="6600" b="1" dirty="0">
                <a:solidFill>
                  <a:schemeClr val="bg1"/>
                </a:solidFill>
                <a:latin typeface="Calibri" pitchFamily="34" charset="0"/>
                <a:ea typeface="Calibri" pitchFamily="34" charset="-122"/>
                <a:cs typeface="Calibri" pitchFamily="34" charset="-120"/>
              </a:defRPr>
            </a:lvl1pPr>
          </a:lstStyle>
          <a:p>
            <a:pPr marL="0" indent="0" algn="l">
              <a:buNone/>
            </a:pPr>
            <a:endParaRPr lang="en-US" sz="6600" dirty="0"/>
          </a:p>
        </p:txBody>
      </p:sp>
      <p:sp>
        <p:nvSpPr>
          <p:cNvPr id="3" name="Text 0"/>
          <p:cNvSpPr>
            <a:spLocks noGrp="1"/>
          </p:cNvSpPr>
          <p:nvPr>
            <p:ph type="body" idx="101" hasCustomPrompt="1"/>
          </p:nvPr>
        </p:nvSpPr>
        <p:spPr>
          <a:xfrm>
            <a:off x="822960" y="3566160"/>
            <a:ext cx="10515600" cy="1097280"/>
          </a:xfrm>
          <a:prstGeom prst="rect">
            <a:avLst/>
          </a:prstGeom>
          <a:noFill/>
          <a:ln/>
        </p:spPr>
        <p:txBody>
          <a:bodyPr wrap="square" rtlCol="0"/>
          <a:lstStyle>
            <a:lvl1pPr marL="0" indent="0" algn="l">
              <a:buNone/>
              <a:defRPr lang="en-US" sz="3000" dirty="0">
                <a:solidFill>
                  <a:schemeClr val="accent3"/>
                </a:solidFill>
                <a:latin typeface="Calibri" pitchFamily="34" charset="0"/>
                <a:ea typeface="Calibri" pitchFamily="34" charset="-122"/>
                <a:cs typeface="Calibri" pitchFamily="34" charset="-120"/>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011680"/>
            <a:ext cx="10515600" cy="1371600"/>
          </a:xfrm>
          <a:prstGeom prst="rect">
            <a:avLst/>
          </a:prstGeom>
          <a:noFill/>
          <a:ln/>
        </p:spPr>
        <p:txBody>
          <a:bodyPr wrap="square" lIns="0" tIns="0" rIns="0" bIns="0" rtlCol="0" anchor="b"/>
          <a:lstStyle/>
          <a:p>
            <a:pPr marL="0" indent="0" algn="l">
              <a:buNone/>
            </a:pPr>
            <a:r>
              <a:rPr lang="en-US" sz="6600" b="1" dirty="0">
                <a:solidFill>
                  <a:schemeClr val="bg1"/>
                </a:solidFill>
                <a:latin typeface="Calibri" pitchFamily="34" charset="0"/>
                <a:ea typeface="Calibri" pitchFamily="34" charset="-122"/>
                <a:cs typeface="Calibri" pitchFamily="34" charset="-120"/>
              </a:rPr>
              <a:t>Digital Sim Feedback</a:t>
            </a:r>
            <a:endParaRPr lang="en-US" sz="6600" dirty="0"/>
          </a:p>
        </p:txBody>
      </p:sp>
      <p:sp>
        <p:nvSpPr>
          <p:cNvPr id="3" name="Text 0"/>
          <p:cNvSpPr>
            <a:spLocks noGrp="1"/>
          </p:cNvSpPr>
          <p:nvPr>
            <p:ph type="body" idx="101" hasCustomPrompt="1"/>
          </p:nvPr>
        </p:nvSpPr>
        <p:spPr>
          <a:xfrm>
            <a:off x="822960" y="3566160"/>
            <a:ext cx="10515600" cy="1097280"/>
          </a:xfrm>
          <a:prstGeom prst="rect">
            <a:avLst/>
          </a:prstGeom>
          <a:noFill/>
          <a:ln/>
        </p:spPr>
        <p:txBody>
          <a:bodyPr wrap="square" lIns="0" tIns="0" rIns="0" bIns="0" rtlCol="0" anchor="t"/>
          <a:lstStyle/>
          <a:p>
            <a:pPr marL="0" indent="0" algn="l">
              <a:buNone/>
            </a:pPr>
            <a:r>
              <a:rPr lang="en-US" sz="3000" dirty="0">
                <a:solidFill>
                  <a:schemeClr val="accent3"/>
                </a:solidFill>
                <a:latin typeface="Calibri" pitchFamily="34" charset="0"/>
                <a:ea typeface="Calibri" pitchFamily="34" charset="-122"/>
                <a:cs typeface="Calibri" pitchFamily="34" charset="-120"/>
              </a:rPr>
              <a:t>What to change, screen by screen</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B73B-CE4E-8F3E-E2FC-6A477594B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4E930-2482-AD38-519F-707A71F731F3}"/>
              </a:ext>
            </a:extLst>
          </p:cNvPr>
          <p:cNvSpPr>
            <a:spLocks noGrp="1"/>
          </p:cNvSpPr>
          <p:nvPr>
            <p:ph type="title" idx="100"/>
          </p:nvPr>
        </p:nvSpPr>
        <p:spPr>
          <a:xfrm>
            <a:off x="144379" y="177105"/>
            <a:ext cx="11742821" cy="833548"/>
          </a:xfrm>
        </p:spPr>
        <p:txBody>
          <a:bodyPr/>
          <a:lstStyle/>
          <a:p>
            <a:r>
              <a:rPr lang="en-US" dirty="0"/>
              <a:t>Change “Case Context” to “Welcome to </a:t>
            </a:r>
            <a:r>
              <a:rPr lang="en-US" dirty="0">
                <a:solidFill>
                  <a:srgbClr val="111111"/>
                </a:solidFill>
                <a:latin typeface="Tenorite"/>
              </a:rPr>
              <a:t>Meridian”</a:t>
            </a:r>
            <a:endParaRPr lang="en-US" dirty="0"/>
          </a:p>
        </p:txBody>
      </p:sp>
      <p:pic>
        <p:nvPicPr>
          <p:cNvPr id="6" name="Picture 5" descr="The image shows a document with a responsive layout, featuring a text description of the challenges faced by staffing and workforce solutions industry, including client demands for faster time-to-fill, lower bill rates, and advanced reporting and analytics.&#10;&#10;AI-generated content may be incorrect.">
            <a:extLst>
              <a:ext uri="{FF2B5EF4-FFF2-40B4-BE49-F238E27FC236}">
                <a16:creationId xmlns:a16="http://schemas.microsoft.com/office/drawing/2014/main" id="{23B2DA88-E975-8897-082F-68BCB9A67973}"/>
              </a:ext>
            </a:extLst>
          </p:cNvPr>
          <p:cNvPicPr>
            <a:picLocks noChangeAspect="1"/>
          </p:cNvPicPr>
          <p:nvPr/>
        </p:nvPicPr>
        <p:blipFill>
          <a:blip r:embed="rId2"/>
          <a:stretch>
            <a:fillRect/>
          </a:stretch>
        </p:blipFill>
        <p:spPr>
          <a:xfrm>
            <a:off x="1112520" y="1457265"/>
            <a:ext cx="6369518" cy="4640472"/>
          </a:xfrm>
          <a:prstGeom prst="rect">
            <a:avLst/>
          </a:prstGeom>
        </p:spPr>
      </p:pic>
      <p:sp>
        <p:nvSpPr>
          <p:cNvPr id="5" name="TextBox 4">
            <a:extLst>
              <a:ext uri="{FF2B5EF4-FFF2-40B4-BE49-F238E27FC236}">
                <a16:creationId xmlns:a16="http://schemas.microsoft.com/office/drawing/2014/main" id="{4E61B1E2-F5CB-9771-D725-80A085AE975C}"/>
              </a:ext>
            </a:extLst>
          </p:cNvPr>
          <p:cNvSpPr txBox="1"/>
          <p:nvPr/>
        </p:nvSpPr>
        <p:spPr>
          <a:xfrm>
            <a:off x="8360076" y="1087933"/>
            <a:ext cx="3159760" cy="369332"/>
          </a:xfrm>
          <a:prstGeom prst="rect">
            <a:avLst/>
          </a:prstGeom>
          <a:solidFill>
            <a:srgbClr val="92D050"/>
          </a:solidFill>
        </p:spPr>
        <p:txBody>
          <a:bodyPr wrap="square" rtlCol="0">
            <a:spAutoFit/>
          </a:bodyPr>
          <a:lstStyle/>
          <a:p>
            <a:r>
              <a:rPr lang="en-US" b="1" dirty="0"/>
              <a:t>Digital (15-Oct): Done</a:t>
            </a:r>
            <a:endParaRPr lang="en-IN" dirty="0"/>
          </a:p>
        </p:txBody>
      </p:sp>
    </p:spTree>
    <p:extLst>
      <p:ext uri="{BB962C8B-B14F-4D97-AF65-F5344CB8AC3E}">
        <p14:creationId xmlns:p14="http://schemas.microsoft.com/office/powerpoint/2010/main" val="296262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4004" y="104675"/>
            <a:ext cx="11550316" cy="1856472"/>
          </a:xfrm>
          <a:prstGeom prst="rect">
            <a:avLst/>
          </a:prstGeom>
          <a:noFill/>
          <a:ln/>
        </p:spPr>
        <p:txBody>
          <a:bodyPr wrap="square" lIns="0" tIns="0" rIns="0" bIns="0" rtlCol="0" anchor="ctr"/>
          <a:lstStyle/>
          <a:p>
            <a:r>
              <a:rPr lang="en-US" sz="4000" b="1" dirty="0">
                <a:solidFill>
                  <a:schemeClr val="tx1"/>
                </a:solidFill>
                <a:latin typeface="Calibri" pitchFamily="34" charset="0"/>
                <a:ea typeface="Calibri" pitchFamily="34" charset="-122"/>
                <a:cs typeface="Calibri" pitchFamily="34" charset="-120"/>
              </a:rPr>
              <a:t>Remove em dashes from the case study and scenario text throughout the sim.</a:t>
            </a:r>
            <a:br>
              <a:rPr lang="en-US" sz="4000" b="1" dirty="0">
                <a:solidFill>
                  <a:schemeClr val="tx1"/>
                </a:solidFill>
                <a:latin typeface="Calibri" pitchFamily="34" charset="0"/>
                <a:ea typeface="Calibri" pitchFamily="34" charset="-122"/>
                <a:cs typeface="Calibri" pitchFamily="34" charset="-120"/>
              </a:rPr>
            </a:br>
            <a:r>
              <a:rPr lang="en-US" dirty="0"/>
              <a:t>We can keep them in the options and feedback.</a:t>
            </a:r>
            <a:endParaRPr lang="en-US" sz="4000" dirty="0"/>
          </a:p>
        </p:txBody>
      </p:sp>
      <p:pic>
        <p:nvPicPr>
          <p:cNvPr id="4" name="Image 0" descr="Moment 4 scenario with several em dashes"/>
          <p:cNvPicPr>
            <a:picLocks noChangeAspect="1"/>
          </p:cNvPicPr>
          <p:nvPr/>
        </p:nvPicPr>
        <p:blipFill>
          <a:blip r:embed="rId3"/>
          <a:stretch>
            <a:fillRect/>
          </a:stretch>
        </p:blipFill>
        <p:spPr>
          <a:xfrm>
            <a:off x="154004" y="2434749"/>
            <a:ext cx="6949440" cy="4150134"/>
          </a:xfrm>
          <a:prstGeom prst="rect">
            <a:avLst/>
          </a:prstGeom>
          <a:effectLst>
            <a:outerShdw blurRad="127000" dist="38100" dir="5400000" algn="bl" rotWithShape="0">
              <a:srgbClr val="000000">
                <a:alpha val="28000"/>
              </a:srgbClr>
            </a:outerShdw>
          </a:effectLst>
        </p:spPr>
      </p:pic>
      <p:sp>
        <p:nvSpPr>
          <p:cNvPr id="7" name="TextBox 6">
            <a:extLst>
              <a:ext uri="{FF2B5EF4-FFF2-40B4-BE49-F238E27FC236}">
                <a16:creationId xmlns:a16="http://schemas.microsoft.com/office/drawing/2014/main" id="{8E6B0363-3FD8-1610-68ED-05BEDD74FDC7}"/>
              </a:ext>
            </a:extLst>
          </p:cNvPr>
          <p:cNvSpPr txBox="1"/>
          <p:nvPr/>
        </p:nvSpPr>
        <p:spPr>
          <a:xfrm>
            <a:off x="8544560" y="3244334"/>
            <a:ext cx="3159760" cy="1754326"/>
          </a:xfrm>
          <a:prstGeom prst="rect">
            <a:avLst/>
          </a:prstGeom>
          <a:solidFill>
            <a:srgbClr val="92D050"/>
          </a:solidFill>
        </p:spPr>
        <p:txBody>
          <a:bodyPr wrap="square" rtlCol="0">
            <a:spAutoFit/>
          </a:bodyPr>
          <a:lstStyle/>
          <a:p>
            <a:r>
              <a:rPr lang="en-US" b="1" dirty="0"/>
              <a:t>Digital (15-Oct): </a:t>
            </a:r>
            <a:r>
              <a:rPr lang="en-IN" dirty="0"/>
              <a:t>Em dashes removed from case study and scenario copy (replaced with appropriate punctuation); retained in options and feedback.</a:t>
            </a:r>
            <a:r>
              <a:rPr lang="en-US" b="1" dirty="0"/>
              <a:t> </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DF92C-4217-D5EA-6E12-555BDAAECE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860A5-86C7-21EE-0DA9-F85334CC2E27}"/>
              </a:ext>
            </a:extLst>
          </p:cNvPr>
          <p:cNvSpPr>
            <a:spLocks noGrp="1"/>
          </p:cNvSpPr>
          <p:nvPr>
            <p:ph type="title" idx="100"/>
          </p:nvPr>
        </p:nvSpPr>
        <p:spPr>
          <a:xfrm>
            <a:off x="334478" y="216158"/>
            <a:ext cx="10774680" cy="868680"/>
          </a:xfrm>
        </p:spPr>
        <p:txBody>
          <a:bodyPr/>
          <a:lstStyle/>
          <a:p>
            <a:r>
              <a:rPr lang="en-US" dirty="0"/>
              <a:t>Update M1 text to the following:</a:t>
            </a:r>
          </a:p>
        </p:txBody>
      </p:sp>
      <p:pic>
        <p:nvPicPr>
          <p:cNvPr id="4" name="Picture 3" descr="An image showing a classroom or team meeting room with people at desks and a whiteboard, displaying a case study scenario about prioritizing initiatives for a company, with no agreed criteria and a time constraint.&#10;&#10;AI-generated content may be incorrect.">
            <a:extLst>
              <a:ext uri="{FF2B5EF4-FFF2-40B4-BE49-F238E27FC236}">
                <a16:creationId xmlns:a16="http://schemas.microsoft.com/office/drawing/2014/main" id="{74CF0240-B7D9-F6A4-974E-6EB9379410EA}"/>
              </a:ext>
            </a:extLst>
          </p:cNvPr>
          <p:cNvPicPr>
            <a:picLocks noChangeAspect="1"/>
          </p:cNvPicPr>
          <p:nvPr/>
        </p:nvPicPr>
        <p:blipFill>
          <a:blip r:embed="rId2"/>
          <a:stretch>
            <a:fillRect/>
          </a:stretch>
        </p:blipFill>
        <p:spPr>
          <a:xfrm>
            <a:off x="487680" y="1272814"/>
            <a:ext cx="2788708" cy="951029"/>
          </a:xfrm>
          <a:prstGeom prst="rect">
            <a:avLst/>
          </a:prstGeom>
        </p:spPr>
      </p:pic>
      <p:sp>
        <p:nvSpPr>
          <p:cNvPr id="5"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29AEDAA7-DBB6-41BE-EE12-1CB629C7967E}"/>
              </a:ext>
            </a:extLst>
          </p:cNvPr>
          <p:cNvSpPr txBox="1"/>
          <p:nvPr/>
        </p:nvSpPr>
        <p:spPr>
          <a:xfrm>
            <a:off x="443126" y="2411819"/>
            <a:ext cx="11382527" cy="2185214"/>
          </a:xfrm>
          <a:prstGeom prst="rect">
            <a:avLst/>
          </a:prstGeom>
          <a:noFill/>
          <a:ln>
            <a:noFill/>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The Chief Technology Officer has asked you to lead Meridian's AI prioritization process and bring a recommended portfolio of three funded initiatives to the executive team in four weeks. A cross-functional working group has surfaced twelve use cases spanning recruiting, managed delivery, finance, HR, and IT. Each has a business sponsor, and several already have internal decks built in their favor.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Tenorite"/>
              </a:rPr>
              <a:t>The problem: no agreed framework for deciding. Every sponsor believes their use case should be in the top three. Two of the twelve share an executive sponsor who expects both to move forward. The working group session ended with no shared sense of how to evaluate options. One sponsor stayed behind: "I've been told this is the highest-value initiative in the portfolio. If it's not in the top three, I need to understand why." You have four weeks, no agreed criteria, and a strong personal view on which three cases are the real bets.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111111"/>
              </a:solidFill>
              <a:effectLs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uLnTx/>
                <a:uFillTx/>
                <a:latin typeface="Tenorite"/>
              </a:rPr>
              <a:t>What do you do?</a:t>
            </a:r>
          </a:p>
        </p:txBody>
      </p:sp>
      <p:sp>
        <p:nvSpPr>
          <p:cNvPr id="6" name="TextBox 5">
            <a:extLst>
              <a:ext uri="{FF2B5EF4-FFF2-40B4-BE49-F238E27FC236}">
                <a16:creationId xmlns:a16="http://schemas.microsoft.com/office/drawing/2014/main" id="{6CCE87BF-429D-F561-F1AA-E7964A005190}"/>
              </a:ext>
            </a:extLst>
          </p:cNvPr>
          <p:cNvSpPr txBox="1"/>
          <p:nvPr/>
        </p:nvSpPr>
        <p:spPr>
          <a:xfrm>
            <a:off x="8360076" y="1087933"/>
            <a:ext cx="3159760" cy="369332"/>
          </a:xfrm>
          <a:prstGeom prst="rect">
            <a:avLst/>
          </a:prstGeom>
          <a:solidFill>
            <a:srgbClr val="92D050"/>
          </a:solidFill>
        </p:spPr>
        <p:txBody>
          <a:bodyPr wrap="square" rtlCol="0">
            <a:spAutoFit/>
          </a:bodyPr>
          <a:lstStyle/>
          <a:p>
            <a:r>
              <a:rPr lang="en-US" b="1" dirty="0"/>
              <a:t>Digital (15-Oct): Done</a:t>
            </a:r>
            <a:endParaRPr lang="en-IN" dirty="0"/>
          </a:p>
        </p:txBody>
      </p:sp>
    </p:spTree>
    <p:extLst>
      <p:ext uri="{BB962C8B-B14F-4D97-AF65-F5344CB8AC3E}">
        <p14:creationId xmlns:p14="http://schemas.microsoft.com/office/powerpoint/2010/main" val="2666350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A8D06-9479-4DF2-1264-C2CF9DB0A92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1BD8C52-1737-6160-1478-400642AD392B}"/>
              </a:ext>
            </a:extLst>
          </p:cNvPr>
          <p:cNvSpPr>
            <a:spLocks noGrp="1"/>
          </p:cNvSpPr>
          <p:nvPr>
            <p:ph type="title" idx="100" hasCustomPrompt="1"/>
          </p:nvPr>
        </p:nvSpPr>
        <p:spPr>
          <a:xfrm>
            <a:off x="149469" y="351322"/>
            <a:ext cx="11658600" cy="642486"/>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Update Moment 1 Option-D to the following text.</a:t>
            </a:r>
            <a:endParaRPr lang="en-US" sz="4000" dirty="0"/>
          </a:p>
        </p:txBody>
      </p:sp>
      <p:pic>
        <p:nvPicPr>
          <p:cNvPr id="4" name="Image 0" descr="Moment 1 decision options">
            <a:extLst>
              <a:ext uri="{FF2B5EF4-FFF2-40B4-BE49-F238E27FC236}">
                <a16:creationId xmlns:a16="http://schemas.microsoft.com/office/drawing/2014/main" id="{08C1C295-DF97-027C-3F81-2340D2C43405}"/>
              </a:ext>
            </a:extLst>
          </p:cNvPr>
          <p:cNvPicPr>
            <a:picLocks noChangeAspect="1"/>
          </p:cNvPicPr>
          <p:nvPr/>
        </p:nvPicPr>
        <p:blipFill>
          <a:blip r:embed="rId3"/>
          <a:stretch>
            <a:fillRect/>
          </a:stretch>
        </p:blipFill>
        <p:spPr>
          <a:xfrm>
            <a:off x="548640" y="1554480"/>
            <a:ext cx="2093058" cy="1267851"/>
          </a:xfrm>
          <a:prstGeom prst="rect">
            <a:avLst/>
          </a:prstGeom>
          <a:effectLst>
            <a:outerShdw blurRad="127000" dist="38100" dir="5400000" algn="bl" rotWithShape="0">
              <a:srgbClr val="000000">
                <a:alpha val="28000"/>
              </a:srgbClr>
            </a:outerShdw>
          </a:effectLst>
        </p:spPr>
      </p:pic>
      <p:sp>
        <p:nvSpPr>
          <p:cNvPr id="7" name="TextBox 6">
            <a:extLst>
              <a:ext uri="{FF2B5EF4-FFF2-40B4-BE49-F238E27FC236}">
                <a16:creationId xmlns:a16="http://schemas.microsoft.com/office/drawing/2014/main" id="{FA69DB1E-DC41-D62F-0845-8AB3B064F136}"/>
              </a:ext>
            </a:extLst>
          </p:cNvPr>
          <p:cNvSpPr txBox="1"/>
          <p:nvPr/>
        </p:nvSpPr>
        <p:spPr>
          <a:xfrm>
            <a:off x="2943225" y="1545496"/>
            <a:ext cx="8864844" cy="1477328"/>
          </a:xfrm>
          <a:prstGeom prst="rect">
            <a:avLst/>
          </a:prstGeom>
          <a:noFill/>
        </p:spPr>
        <p:txBody>
          <a:bodyPr wrap="square">
            <a:spAutoFit/>
          </a:bodyPr>
          <a:lstStyle/>
          <a:p>
            <a:r>
              <a:rPr lang="en-US" dirty="0"/>
              <a:t>You design a structured pitch process: each of the twelve teams gets five minutes to present to the same panel, made up of you, the CTO, and two business unit leaders, and each pitch is scored against the agreed criteria. After all twelve pitches, the panel identifies the top three. You tell the lobbying sponsor the process will speak for itself: if the initiative is as strong as they believe, it will earn its place.</a:t>
            </a:r>
            <a:endParaRPr lang="en-US" dirty="0">
              <a:effectLst/>
            </a:endParaRPr>
          </a:p>
        </p:txBody>
      </p:sp>
      <p:sp>
        <p:nvSpPr>
          <p:cNvPr id="6" name="TextBox 5">
            <a:extLst>
              <a:ext uri="{FF2B5EF4-FFF2-40B4-BE49-F238E27FC236}">
                <a16:creationId xmlns:a16="http://schemas.microsoft.com/office/drawing/2014/main" id="{8350A438-6C6C-511B-F86A-E49992E01635}"/>
              </a:ext>
            </a:extLst>
          </p:cNvPr>
          <p:cNvSpPr txBox="1"/>
          <p:nvPr/>
        </p:nvSpPr>
        <p:spPr>
          <a:xfrm>
            <a:off x="8360076" y="1087933"/>
            <a:ext cx="3159760" cy="369332"/>
          </a:xfrm>
          <a:prstGeom prst="rect">
            <a:avLst/>
          </a:prstGeom>
          <a:solidFill>
            <a:srgbClr val="92D050"/>
          </a:solidFill>
        </p:spPr>
        <p:txBody>
          <a:bodyPr wrap="square" rtlCol="0">
            <a:spAutoFit/>
          </a:bodyPr>
          <a:lstStyle/>
          <a:p>
            <a:r>
              <a:rPr lang="en-US" b="1" dirty="0"/>
              <a:t>Digital (15-Oct): Done</a:t>
            </a:r>
            <a:endParaRPr lang="en-IN" dirty="0"/>
          </a:p>
        </p:txBody>
      </p:sp>
    </p:spTree>
    <p:extLst>
      <p:ext uri="{BB962C8B-B14F-4D97-AF65-F5344CB8AC3E}">
        <p14:creationId xmlns:p14="http://schemas.microsoft.com/office/powerpoint/2010/main" val="1355105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3676F-5492-CD09-1103-02102F76D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ADB25-FBAB-26CB-FE70-315D4AC95033}"/>
              </a:ext>
            </a:extLst>
          </p:cNvPr>
          <p:cNvSpPr>
            <a:spLocks noGrp="1"/>
          </p:cNvSpPr>
          <p:nvPr>
            <p:ph type="title" idx="100"/>
          </p:nvPr>
        </p:nvSpPr>
        <p:spPr>
          <a:xfrm>
            <a:off x="117043" y="135868"/>
            <a:ext cx="11541557" cy="766500"/>
          </a:xfrm>
        </p:spPr>
        <p:txBody>
          <a:bodyPr/>
          <a:lstStyle/>
          <a:p>
            <a:r>
              <a:rPr lang="en-US" dirty="0"/>
              <a:t>Update M3 Option-B feedback text to the following</a:t>
            </a:r>
          </a:p>
        </p:txBody>
      </p:sp>
      <p:pic>
        <p:nvPicPr>
          <p:cNvPr id="4" name="Picture 3" descr="A case study scenario describes how a team, led by Mia, successfully implemented a pilot with two teams to build an enterprise template, resulting in improved documentation and trust, and a successful rollout to all teams.&#10;&#10;AI-generated content may be incorrect.">
            <a:extLst>
              <a:ext uri="{FF2B5EF4-FFF2-40B4-BE49-F238E27FC236}">
                <a16:creationId xmlns:a16="http://schemas.microsoft.com/office/drawing/2014/main" id="{9F43BBF9-694D-7E10-6F93-B83018E18AD9}"/>
              </a:ext>
            </a:extLst>
          </p:cNvPr>
          <p:cNvPicPr>
            <a:picLocks noChangeAspect="1"/>
          </p:cNvPicPr>
          <p:nvPr/>
        </p:nvPicPr>
        <p:blipFill>
          <a:blip r:embed="rId2"/>
          <a:stretch>
            <a:fillRect/>
          </a:stretch>
        </p:blipFill>
        <p:spPr>
          <a:xfrm>
            <a:off x="117043" y="3277960"/>
            <a:ext cx="12192000" cy="2891660"/>
          </a:xfrm>
          <a:prstGeom prst="rect">
            <a:avLst/>
          </a:prstGeom>
        </p:spPr>
      </p:pic>
      <p:sp>
        <p:nvSpPr>
          <p:cNvPr id="5" name="TextBox 4">
            <a:extLst>
              <a:ext uri="{FF2B5EF4-FFF2-40B4-BE49-F238E27FC236}">
                <a16:creationId xmlns:a16="http://schemas.microsoft.com/office/drawing/2014/main" id="{65E13667-A8E3-0AFB-22EF-0B8912B104A3}"/>
              </a:ext>
            </a:extLst>
          </p:cNvPr>
          <p:cNvSpPr txBox="1"/>
          <p:nvPr/>
        </p:nvSpPr>
        <p:spPr>
          <a:xfrm>
            <a:off x="249654" y="902368"/>
            <a:ext cx="11408945" cy="1477328"/>
          </a:xfrm>
          <a:prstGeom prst="rect">
            <a:avLst/>
          </a:prstGeom>
          <a:noFill/>
        </p:spPr>
        <p:txBody>
          <a:bodyPr wrap="square">
            <a:spAutoFit/>
          </a:bodyPr>
          <a:lstStyle/>
          <a:p>
            <a:r>
              <a:rPr lang="en-US" sz="1800" dirty="0"/>
              <a:t>There is pushback on the timeline, but you hold the position: scaling without documentation fragments the knowledge that made the breakthrough possible and produces inconsistent results across teams. Two pilot teams are selected. Mia co-facilitates the onboarding, and documentation is built in real time as edge cases surface. Six weeks later, the enterprise template is solid and the rollout to the remaining six teams goes cleanly. It takes longer up front, but the result is replicable, measurable, and compounds over time.</a:t>
            </a:r>
            <a:endParaRPr lang="en-IN" dirty="0"/>
          </a:p>
        </p:txBody>
      </p:sp>
      <p:sp>
        <p:nvSpPr>
          <p:cNvPr id="8" name="TextBox 7">
            <a:extLst>
              <a:ext uri="{FF2B5EF4-FFF2-40B4-BE49-F238E27FC236}">
                <a16:creationId xmlns:a16="http://schemas.microsoft.com/office/drawing/2014/main" id="{DDDE2F88-CB97-23F8-0173-DA3BDC696AA2}"/>
              </a:ext>
            </a:extLst>
          </p:cNvPr>
          <p:cNvSpPr txBox="1"/>
          <p:nvPr/>
        </p:nvSpPr>
        <p:spPr>
          <a:xfrm>
            <a:off x="8360076" y="2384787"/>
            <a:ext cx="3159760" cy="369332"/>
          </a:xfrm>
          <a:prstGeom prst="rect">
            <a:avLst/>
          </a:prstGeom>
          <a:solidFill>
            <a:srgbClr val="92D050"/>
          </a:solidFill>
        </p:spPr>
        <p:txBody>
          <a:bodyPr wrap="square" rtlCol="0">
            <a:spAutoFit/>
          </a:bodyPr>
          <a:lstStyle/>
          <a:p>
            <a:r>
              <a:rPr lang="en-US" b="1" dirty="0"/>
              <a:t>Digital (15-Oct): Done</a:t>
            </a:r>
            <a:endParaRPr lang="en-IN" dirty="0"/>
          </a:p>
        </p:txBody>
      </p:sp>
    </p:spTree>
    <p:extLst>
      <p:ext uri="{BB962C8B-B14F-4D97-AF65-F5344CB8AC3E}">
        <p14:creationId xmlns:p14="http://schemas.microsoft.com/office/powerpoint/2010/main" val="2830605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208DB-1C04-0785-BC85-CAC5FFA91BF4}"/>
              </a:ext>
            </a:extLst>
          </p:cNvPr>
          <p:cNvSpPr>
            <a:spLocks noGrp="1"/>
          </p:cNvSpPr>
          <p:nvPr>
            <p:ph type="title" idx="100"/>
          </p:nvPr>
        </p:nvSpPr>
        <p:spPr>
          <a:xfrm>
            <a:off x="1032310" y="128605"/>
            <a:ext cx="11159690" cy="685800"/>
          </a:xfrm>
        </p:spPr>
        <p:txBody>
          <a:bodyPr/>
          <a:lstStyle/>
          <a:p>
            <a:r>
              <a:rPr lang="en-US" dirty="0"/>
              <a:t>Tested with iPad resolution – is this the right view?</a:t>
            </a:r>
          </a:p>
        </p:txBody>
      </p:sp>
      <p:pic>
        <p:nvPicPr>
          <p:cNvPr id="6" name="Picture 5" descr="The image shows a document with a responsive layout, featuring a text description of the challenges faced by staffing and workforce solutions industry, including client demands for faster time-to-fill, lower bill rates, and advanced reporting and analytics.&#10;&#10;AI-generated content may be incorrect.">
            <a:extLst>
              <a:ext uri="{FF2B5EF4-FFF2-40B4-BE49-F238E27FC236}">
                <a16:creationId xmlns:a16="http://schemas.microsoft.com/office/drawing/2014/main" id="{DA4723D5-6DE4-494C-EAED-F5CCF1BE7C88}"/>
              </a:ext>
            </a:extLst>
          </p:cNvPr>
          <p:cNvPicPr>
            <a:picLocks noChangeAspect="1"/>
          </p:cNvPicPr>
          <p:nvPr/>
        </p:nvPicPr>
        <p:blipFill>
          <a:blip r:embed="rId2"/>
          <a:stretch>
            <a:fillRect/>
          </a:stretch>
        </p:blipFill>
        <p:spPr>
          <a:xfrm>
            <a:off x="1417321" y="1915442"/>
            <a:ext cx="6369518" cy="4640472"/>
          </a:xfrm>
          <a:prstGeom prst="rect">
            <a:avLst/>
          </a:prstGeom>
        </p:spPr>
      </p:pic>
      <p:sp>
        <p:nvSpPr>
          <p:cNvPr id="8" name="Number badge">
            <a:extLst>
              <a:ext uri="{FF2B5EF4-FFF2-40B4-BE49-F238E27FC236}">
                <a16:creationId xmlns:a16="http://schemas.microsoft.com/office/drawing/2014/main" id="{C80F5164-4410-C65F-6018-F518B3C4CC07}"/>
              </a:ext>
            </a:extLst>
          </p:cNvPr>
          <p:cNvSpPr txBox="1"/>
          <p:nvPr/>
        </p:nvSpPr>
        <p:spPr>
          <a:xfrm>
            <a:off x="205740" y="201168"/>
            <a:ext cx="685800" cy="68580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JAH</a:t>
            </a:r>
            <a:endParaRPr lang="en-US" sz="2000" dirty="0"/>
          </a:p>
        </p:txBody>
      </p:sp>
      <p:sp>
        <p:nvSpPr>
          <p:cNvPr id="10" name="Text 4">
            <a:extLst>
              <a:ext uri="{FF2B5EF4-FFF2-40B4-BE49-F238E27FC236}">
                <a16:creationId xmlns:a16="http://schemas.microsoft.com/office/drawing/2014/main" id="{F43CD2BC-C273-9C6B-9205-874B4B452871}"/>
              </a:ext>
            </a:extLst>
          </p:cNvPr>
          <p:cNvSpPr txBox="1"/>
          <p:nvPr/>
        </p:nvSpPr>
        <p:spPr>
          <a:xfrm>
            <a:off x="8101392" y="2704795"/>
            <a:ext cx="3826041" cy="1280160"/>
          </a:xfrm>
          <a:prstGeom prst="rect">
            <a:avLst/>
          </a:prstGeom>
          <a:noFill/>
          <a:ln/>
        </p:spPr>
        <p:txBody>
          <a:bodyPr wrap="square" lIns="0" tIns="0" rIns="0" bIns="0" rtlCol="0" anchor="t"/>
          <a:lstStyle/>
          <a:p>
            <a:pPr marL="0" indent="0">
              <a:buNone/>
            </a:pPr>
            <a:r>
              <a:rPr lang="en-US" sz="3000" b="1" dirty="0">
                <a:solidFill>
                  <a:schemeClr val="tx1"/>
                </a:solidFill>
              </a:rPr>
              <a:t>I’ve tested Chrome Developer Tools with the iPad Air resolution setting. </a:t>
            </a:r>
            <a:r>
              <a:rPr lang="en-US" sz="3000" b="1" dirty="0"/>
              <a:t>Text and graphic sizes are too small. </a:t>
            </a:r>
            <a:endParaRPr lang="en-US" sz="3000" dirty="0"/>
          </a:p>
        </p:txBody>
      </p:sp>
      <p:sp>
        <p:nvSpPr>
          <p:cNvPr id="4" name="TextBox 3">
            <a:extLst>
              <a:ext uri="{FF2B5EF4-FFF2-40B4-BE49-F238E27FC236}">
                <a16:creationId xmlns:a16="http://schemas.microsoft.com/office/drawing/2014/main" id="{7AEF7B47-B99E-3A23-1921-3EA09C166C72}"/>
              </a:ext>
            </a:extLst>
          </p:cNvPr>
          <p:cNvSpPr txBox="1"/>
          <p:nvPr/>
        </p:nvSpPr>
        <p:spPr>
          <a:xfrm>
            <a:off x="8624770" y="886968"/>
            <a:ext cx="3159760" cy="369332"/>
          </a:xfrm>
          <a:prstGeom prst="rect">
            <a:avLst/>
          </a:prstGeom>
          <a:solidFill>
            <a:srgbClr val="92D050"/>
          </a:solidFill>
        </p:spPr>
        <p:txBody>
          <a:bodyPr wrap="square" rtlCol="0">
            <a:spAutoFit/>
          </a:bodyPr>
          <a:lstStyle/>
          <a:p>
            <a:r>
              <a:rPr lang="en-US" b="1" dirty="0"/>
              <a:t>Digital (15-Oct): </a:t>
            </a:r>
            <a:endParaRPr lang="en-IN" dirty="0"/>
          </a:p>
        </p:txBody>
      </p:sp>
    </p:spTree>
    <p:extLst>
      <p:ext uri="{BB962C8B-B14F-4D97-AF65-F5344CB8AC3E}">
        <p14:creationId xmlns:p14="http://schemas.microsoft.com/office/powerpoint/2010/main" val="304153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Make everything bigger</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4" name="Text 2"/>
          <p:cNvSpPr txBox="1"/>
          <p:nvPr/>
        </p:nvSpPr>
        <p:spPr>
          <a:xfrm>
            <a:off x="548640" y="1371600"/>
            <a:ext cx="5486400" cy="411480"/>
          </a:xfrm>
          <a:prstGeom prst="rect">
            <a:avLst/>
          </a:prstGeom>
          <a:noFill/>
          <a:ln/>
        </p:spPr>
        <p:txBody>
          <a:bodyPr wrap="square" lIns="0" tIns="0" rIns="0" bIns="0" rtlCol="0" anchor="ctr"/>
          <a:lstStyle/>
          <a:p>
            <a:pPr marL="0" indent="0">
              <a:buNone/>
            </a:pPr>
            <a:r>
              <a:rPr lang="en-US" sz="2400" b="1" dirty="0">
                <a:solidFill>
                  <a:schemeClr val="accent6"/>
                </a:solidFill>
              </a:rPr>
              <a:t>Now</a:t>
            </a:r>
            <a:endParaRPr lang="en-US" sz="2400" dirty="0"/>
          </a:p>
        </p:txBody>
      </p:sp>
      <p:sp>
        <p:nvSpPr>
          <p:cNvPr id="5" name="Text 3"/>
          <p:cNvSpPr txBox="1"/>
          <p:nvPr/>
        </p:nvSpPr>
        <p:spPr>
          <a:xfrm>
            <a:off x="6309360" y="1371600"/>
            <a:ext cx="5486400" cy="411480"/>
          </a:xfrm>
          <a:prstGeom prst="rect">
            <a:avLst/>
          </a:prstGeom>
          <a:noFill/>
          <a:ln/>
        </p:spPr>
        <p:txBody>
          <a:bodyPr wrap="square" lIns="0" tIns="0" rIns="0" bIns="0" rtlCol="0" anchor="ctr"/>
          <a:lstStyle/>
          <a:p>
            <a:pPr marL="0" indent="0">
              <a:buNone/>
            </a:pPr>
            <a:r>
              <a:rPr lang="en-US" sz="2400" b="1" dirty="0">
                <a:solidFill>
                  <a:schemeClr val="accent2"/>
                </a:solidFill>
              </a:rPr>
              <a:t>Zoomed in (use this as the new default)</a:t>
            </a:r>
            <a:endParaRPr lang="en-US" sz="2400" dirty="0"/>
          </a:p>
        </p:txBody>
      </p:sp>
      <p:pic>
        <p:nvPicPr>
          <p:cNvPr id="6" name="Image 0" descr="Moment 1 scenario at the current size"/>
          <p:cNvPicPr>
            <a:picLocks noChangeAspect="1"/>
          </p:cNvPicPr>
          <p:nvPr/>
        </p:nvPicPr>
        <p:blipFill>
          <a:blip r:embed="rId3"/>
          <a:stretch>
            <a:fillRect/>
          </a:stretch>
        </p:blipFill>
        <p:spPr>
          <a:xfrm>
            <a:off x="548640" y="1828800"/>
            <a:ext cx="5440680" cy="3295735"/>
          </a:xfrm>
          <a:prstGeom prst="rect">
            <a:avLst/>
          </a:prstGeom>
          <a:effectLst>
            <a:outerShdw blurRad="127000" dist="38100" dir="5400000" algn="bl" rotWithShape="0">
              <a:srgbClr val="000000">
                <a:alpha val="28000"/>
              </a:srgbClr>
            </a:outerShdw>
          </a:effectLst>
        </p:spPr>
      </p:pic>
      <p:pic>
        <p:nvPicPr>
          <p:cNvPr id="7" name="Image 1" descr="Moment 1 scenario zoomed in"/>
          <p:cNvPicPr>
            <a:picLocks noChangeAspect="1"/>
          </p:cNvPicPr>
          <p:nvPr/>
        </p:nvPicPr>
        <p:blipFill>
          <a:blip r:embed="rId4"/>
          <a:stretch>
            <a:fillRect/>
          </a:stretch>
        </p:blipFill>
        <p:spPr>
          <a:xfrm>
            <a:off x="6263640" y="1828800"/>
            <a:ext cx="5440680" cy="3265047"/>
          </a:xfrm>
          <a:prstGeom prst="rect">
            <a:avLst/>
          </a:prstGeom>
          <a:effectLst>
            <a:outerShdw blurRad="127000" dist="38100" dir="5400000" algn="bl" rotWithShape="0">
              <a:srgbClr val="000000">
                <a:alpha val="28000"/>
              </a:srgbClr>
            </a:outerShdw>
          </a:effectLst>
        </p:spPr>
      </p:pic>
      <p:sp>
        <p:nvSpPr>
          <p:cNvPr id="8" name="Text 4"/>
          <p:cNvSpPr txBox="1"/>
          <p:nvPr/>
        </p:nvSpPr>
        <p:spPr>
          <a:xfrm>
            <a:off x="548640" y="5257800"/>
            <a:ext cx="11064240" cy="1188720"/>
          </a:xfrm>
          <a:prstGeom prst="rect">
            <a:avLst/>
          </a:prstGeom>
          <a:noFill/>
          <a:ln/>
        </p:spPr>
        <p:txBody>
          <a:bodyPr wrap="square" lIns="0" tIns="0" rIns="0" bIns="0" rtlCol="0" anchor="t"/>
          <a:lstStyle/>
          <a:p>
            <a:pPr marL="0" indent="0">
              <a:buNone/>
            </a:pPr>
            <a:r>
              <a:rPr lang="en-US" sz="3200" b="1" dirty="0">
                <a:solidFill>
                  <a:schemeClr val="tx1"/>
                </a:solidFill>
              </a:rPr>
              <a:t>Increase the size of everything: the logo, team name, buttons, and all text.</a:t>
            </a:r>
            <a:endParaRPr lang="en-US" sz="3200" dirty="0"/>
          </a:p>
        </p:txBody>
      </p:sp>
      <p:sp>
        <p:nvSpPr>
          <p:cNvPr id="9" name="TextBox 8">
            <a:extLst>
              <a:ext uri="{FF2B5EF4-FFF2-40B4-BE49-F238E27FC236}">
                <a16:creationId xmlns:a16="http://schemas.microsoft.com/office/drawing/2014/main" id="{06AA0772-1EFC-F245-6D16-53D90B83481F}"/>
              </a:ext>
            </a:extLst>
          </p:cNvPr>
          <p:cNvSpPr txBox="1"/>
          <p:nvPr/>
        </p:nvSpPr>
        <p:spPr>
          <a:xfrm>
            <a:off x="6868160" y="320040"/>
            <a:ext cx="3159760" cy="369332"/>
          </a:xfrm>
          <a:prstGeom prst="rect">
            <a:avLst/>
          </a:prstGeom>
          <a:solidFill>
            <a:srgbClr val="92D050"/>
          </a:solidFill>
        </p:spPr>
        <p:txBody>
          <a:bodyPr wrap="square" rtlCol="0">
            <a:spAutoFit/>
          </a:bodyPr>
          <a:lstStyle/>
          <a:p>
            <a:r>
              <a:rPr lang="en-US" b="1" dirty="0"/>
              <a:t>Digital (13-Oct): </a:t>
            </a:r>
            <a:r>
              <a:rPr lang="en-US" dirty="0"/>
              <a:t>Done</a:t>
            </a:r>
            <a:r>
              <a:rPr lang="en-US" b="1" dirty="0"/>
              <a:t> </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Team name page: much, much bigger</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2</a:t>
            </a:r>
            <a:endParaRPr lang="en-US" sz="2800" dirty="0"/>
          </a:p>
        </p:txBody>
      </p:sp>
      <p:pic>
        <p:nvPicPr>
          <p:cNvPr id="4" name="Image 0" descr="Team name entry page"/>
          <p:cNvPicPr>
            <a:picLocks noChangeAspect="1"/>
          </p:cNvPicPr>
          <p:nvPr/>
        </p:nvPicPr>
        <p:blipFill>
          <a:blip r:embed="rId3"/>
          <a:stretch>
            <a:fillRect/>
          </a:stretch>
        </p:blipFill>
        <p:spPr>
          <a:xfrm>
            <a:off x="548640" y="1554480"/>
            <a:ext cx="6949440" cy="4202930"/>
          </a:xfrm>
          <a:prstGeom prst="rect">
            <a:avLst/>
          </a:prstGeom>
          <a:effectLst>
            <a:outerShdw blurRad="127000" dist="38100" dir="5400000" algn="bl" rotWithShape="0">
              <a:srgbClr val="000000">
                <a:alpha val="28000"/>
              </a:srgbClr>
            </a:outerShdw>
          </a:effectLst>
        </p:spPr>
      </p:pic>
      <p:sp>
        <p:nvSpPr>
          <p:cNvPr id="5" name="Text 2"/>
          <p:cNvSpPr txBox="1"/>
          <p:nvPr/>
        </p:nvSpPr>
        <p:spPr>
          <a:xfrm>
            <a:off x="7863840" y="1645920"/>
            <a:ext cx="3840480" cy="4023360"/>
          </a:xfrm>
          <a:prstGeom prst="rect">
            <a:avLst/>
          </a:prstGeom>
          <a:noFill/>
          <a:ln/>
        </p:spPr>
        <p:txBody>
          <a:bodyPr wrap="square" lIns="0" tIns="0" rIns="0" bIns="0" rtlCol="0" anchor="t"/>
          <a:lstStyle/>
          <a:p>
            <a:pPr marL="0" indent="0">
              <a:spcAft>
                <a:spcPts val="1400"/>
              </a:spcAft>
              <a:buNone/>
            </a:pPr>
            <a:r>
              <a:rPr lang="en-US" sz="3600" b="1" dirty="0">
                <a:solidFill>
                  <a:schemeClr val="tx1"/>
                </a:solidFill>
              </a:rPr>
              <a:t>The text is tiny.</a:t>
            </a:r>
            <a:endParaRPr lang="en-US" sz="3600" dirty="0"/>
          </a:p>
          <a:p>
            <a:pPr marL="0" indent="0">
              <a:buNone/>
            </a:pPr>
            <a:r>
              <a:rPr lang="en-US" sz="2800" dirty="0">
                <a:solidFill>
                  <a:schemeClr val="tx1"/>
                </a:solidFill>
              </a:rPr>
              <a:t>Enlarge the heading, the name field, the character counter, and the button.</a:t>
            </a:r>
            <a:endParaRPr lang="en-US" sz="3600" dirty="0"/>
          </a:p>
        </p:txBody>
      </p:sp>
      <p:sp>
        <p:nvSpPr>
          <p:cNvPr id="7" name="TextBox 6">
            <a:extLst>
              <a:ext uri="{FF2B5EF4-FFF2-40B4-BE49-F238E27FC236}">
                <a16:creationId xmlns:a16="http://schemas.microsoft.com/office/drawing/2014/main" id="{6C2C1918-053C-FCD0-E466-CBA361DE12DB}"/>
              </a:ext>
            </a:extLst>
          </p:cNvPr>
          <p:cNvSpPr txBox="1"/>
          <p:nvPr/>
        </p:nvSpPr>
        <p:spPr>
          <a:xfrm>
            <a:off x="8036560" y="1080008"/>
            <a:ext cx="3159760" cy="369332"/>
          </a:xfrm>
          <a:prstGeom prst="rect">
            <a:avLst/>
          </a:prstGeom>
          <a:solidFill>
            <a:srgbClr val="92D050"/>
          </a:solidFill>
        </p:spPr>
        <p:txBody>
          <a:bodyPr wrap="square" rtlCol="0">
            <a:spAutoFit/>
          </a:bodyPr>
          <a:lstStyle/>
          <a:p>
            <a:r>
              <a:rPr lang="en-US" b="1" dirty="0"/>
              <a:t>Digital (13-Oct): </a:t>
            </a:r>
            <a:r>
              <a:rPr lang="en-US" dirty="0"/>
              <a:t>Done </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highlight>
                  <a:srgbClr val="FFFF00"/>
                </a:highlight>
                <a:latin typeface="Calibri" pitchFamily="34" charset="0"/>
                <a:ea typeface="Calibri" pitchFamily="34" charset="-122"/>
                <a:cs typeface="Calibri" pitchFamily="34" charset="-120"/>
              </a:rPr>
              <a:t>After submit: add a thank-you message</a:t>
            </a:r>
            <a:endParaRPr lang="en-US" sz="4000" dirty="0">
              <a:highlight>
                <a:srgbClr val="FFFF00"/>
              </a:highlight>
            </a:endParaRPr>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3</a:t>
            </a:r>
            <a:endParaRPr lang="en-US" sz="2800" dirty="0"/>
          </a:p>
        </p:txBody>
      </p:sp>
      <p:pic>
        <p:nvPicPr>
          <p:cNvPr id="4" name="Image 0" descr="Team name page after saving"/>
          <p:cNvPicPr>
            <a:picLocks noChangeAspect="1"/>
          </p:cNvPicPr>
          <p:nvPr/>
        </p:nvPicPr>
        <p:blipFill>
          <a:blip r:embed="rId3"/>
          <a:stretch>
            <a:fillRect/>
          </a:stretch>
        </p:blipFill>
        <p:spPr>
          <a:xfrm>
            <a:off x="548640" y="1645920"/>
            <a:ext cx="4663440" cy="3961492"/>
          </a:xfrm>
          <a:prstGeom prst="rect">
            <a:avLst/>
          </a:prstGeom>
          <a:effectLst>
            <a:outerShdw blurRad="127000" dist="38100" dir="5400000" algn="bl" rotWithShape="0">
              <a:srgbClr val="000000">
                <a:alpha val="28000"/>
              </a:srgbClr>
            </a:outerShdw>
          </a:effectLst>
        </p:spPr>
      </p:pic>
      <p:sp>
        <p:nvSpPr>
          <p:cNvPr id="5" name="Arrow"/>
          <p:cNvSpPr/>
          <p:nvPr/>
        </p:nvSpPr>
        <p:spPr>
          <a:xfrm>
            <a:off x="5349240" y="3246120"/>
            <a:ext cx="685800" cy="548640"/>
          </a:xfrm>
          <a:prstGeom prst="rightArrow">
            <a:avLst/>
          </a:prstGeom>
          <a:solidFill>
            <a:schemeClr val="accent1"/>
          </a:solidFill>
          <a:ln w="12700">
            <a:solidFill>
              <a:schemeClr val="accent1"/>
            </a:solidFill>
            <a:prstDash val="solid"/>
          </a:ln>
        </p:spPr>
        <p:txBody>
          <a:bodyPr/>
          <a:lstStyle/>
          <a:p>
            <a:endParaRPr lang="en-US"/>
          </a:p>
        </p:txBody>
      </p:sp>
      <p:sp>
        <p:nvSpPr>
          <p:cNvPr id="6" name="Mock pop-up"/>
          <p:cNvSpPr txBox="1"/>
          <p:nvPr/>
        </p:nvSpPr>
        <p:spPr>
          <a:xfrm>
            <a:off x="6217920" y="1645920"/>
            <a:ext cx="5486400" cy="3931920"/>
          </a:xfrm>
          <a:prstGeom prst="roundRect">
            <a:avLst>
              <a:gd name="adj" fmla="val 4651"/>
            </a:avLst>
          </a:prstGeom>
          <a:solidFill>
            <a:schemeClr val="tx1"/>
          </a:solidFill>
          <a:ln/>
        </p:spPr>
        <p:txBody>
          <a:bodyPr wrap="square" lIns="5080" tIns="5080" rIns="5080" bIns="5080" rtlCol="0" anchor="ctr"/>
          <a:lstStyle/>
          <a:p>
            <a:pPr marL="0" indent="0" algn="ctr">
              <a:spcAft>
                <a:spcPts val="1200"/>
              </a:spcAft>
              <a:buNone/>
            </a:pPr>
            <a:r>
              <a:rPr lang="en-US" sz="4400" b="1" dirty="0">
                <a:solidFill>
                  <a:schemeClr val="accent1"/>
                </a:solidFill>
              </a:rPr>
              <a:t>Thank you!</a:t>
            </a:r>
            <a:endParaRPr lang="en-US" sz="4400" dirty="0"/>
          </a:p>
          <a:p>
            <a:pPr marL="0" indent="0" algn="ctr">
              <a:buNone/>
            </a:pPr>
            <a:r>
              <a:rPr lang="en-US" sz="2800" dirty="0">
                <a:solidFill>
                  <a:schemeClr val="bg1"/>
                </a:solidFill>
              </a:rPr>
              <a:t>Sit tight. Your facilitator will move everyone forward once all teams have submitted their names.</a:t>
            </a:r>
            <a:endParaRPr lang="en-US" sz="4400" dirty="0"/>
          </a:p>
        </p:txBody>
      </p:sp>
      <p:sp>
        <p:nvSpPr>
          <p:cNvPr id="7" name="Text 4"/>
          <p:cNvSpPr txBox="1"/>
          <p:nvPr/>
        </p:nvSpPr>
        <p:spPr>
          <a:xfrm>
            <a:off x="6217920" y="5760720"/>
            <a:ext cx="5486400" cy="731520"/>
          </a:xfrm>
          <a:prstGeom prst="rect">
            <a:avLst/>
          </a:prstGeom>
          <a:noFill/>
          <a:ln/>
        </p:spPr>
        <p:txBody>
          <a:bodyPr wrap="square" lIns="0" tIns="0" rIns="0" bIns="0" rtlCol="0" anchor="t"/>
          <a:lstStyle/>
          <a:p>
            <a:pPr marL="0" indent="0">
              <a:buNone/>
            </a:pPr>
            <a:r>
              <a:rPr lang="en-US" sz="2000" dirty="0">
                <a:solidFill>
                  <a:schemeClr val="accent6"/>
                </a:solidFill>
              </a:rPr>
              <a:t>Suggested wording shown in the pop-up. Show it right after the team name is saved.</a:t>
            </a:r>
            <a:endParaRPr lang="en-US" sz="2000" dirty="0"/>
          </a:p>
        </p:txBody>
      </p:sp>
      <p:sp>
        <p:nvSpPr>
          <p:cNvPr id="9" name="TextBox 8">
            <a:extLst>
              <a:ext uri="{FF2B5EF4-FFF2-40B4-BE49-F238E27FC236}">
                <a16:creationId xmlns:a16="http://schemas.microsoft.com/office/drawing/2014/main" id="{18A1E837-3C97-5921-7620-E160A6732D1A}"/>
              </a:ext>
            </a:extLst>
          </p:cNvPr>
          <p:cNvSpPr txBox="1"/>
          <p:nvPr/>
        </p:nvSpPr>
        <p:spPr>
          <a:xfrm>
            <a:off x="8260080" y="181094"/>
            <a:ext cx="3159760" cy="369332"/>
          </a:xfrm>
          <a:prstGeom prst="rect">
            <a:avLst/>
          </a:prstGeom>
          <a:solidFill>
            <a:srgbClr val="92D050"/>
          </a:solidFill>
        </p:spPr>
        <p:txBody>
          <a:bodyPr wrap="square" rtlCol="0">
            <a:spAutoFit/>
          </a:bodyPr>
          <a:lstStyle/>
          <a:p>
            <a:r>
              <a:rPr lang="en-US" b="1" dirty="0"/>
              <a:t>Digital (13-Oct): </a:t>
            </a:r>
            <a:r>
              <a:rPr lang="en-US" dirty="0"/>
              <a:t>Done</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Case study: break up the wall of text</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4</a:t>
            </a:r>
            <a:endParaRPr lang="en-US" sz="2800" dirty="0"/>
          </a:p>
        </p:txBody>
      </p:sp>
      <p:pic>
        <p:nvPicPr>
          <p:cNvPr id="4" name="Image 0" descr="Case Context page, all text"/>
          <p:cNvPicPr>
            <a:picLocks noChangeAspect="1"/>
          </p:cNvPicPr>
          <p:nvPr/>
        </p:nvPicPr>
        <p:blipFill>
          <a:blip r:embed="rId3"/>
          <a:stretch>
            <a:fillRect/>
          </a:stretch>
        </p:blipFill>
        <p:spPr>
          <a:xfrm>
            <a:off x="548640" y="1554480"/>
            <a:ext cx="5486400" cy="3401700"/>
          </a:xfrm>
          <a:prstGeom prst="rect">
            <a:avLst/>
          </a:prstGeom>
          <a:effectLst>
            <a:outerShdw blurRad="127000" dist="38100" dir="5400000" algn="bl" rotWithShape="0">
              <a:srgbClr val="000000">
                <a:alpha val="28000"/>
              </a:srgbClr>
            </a:outerShdw>
          </a:effectLst>
        </p:spPr>
      </p:pic>
      <p:sp>
        <p:nvSpPr>
          <p:cNvPr id="5" name="Image placeholder"/>
          <p:cNvSpPr txBox="1"/>
          <p:nvPr/>
        </p:nvSpPr>
        <p:spPr>
          <a:xfrm>
            <a:off x="6400800" y="1554480"/>
            <a:ext cx="5303520" cy="3401568"/>
          </a:xfrm>
          <a:prstGeom prst="roundRect">
            <a:avLst>
              <a:gd name="adj" fmla="val 4032"/>
            </a:avLst>
          </a:prstGeom>
          <a:solidFill>
            <a:schemeClr val="bg2"/>
          </a:solidFill>
          <a:ln w="31750">
            <a:solidFill>
              <a:schemeClr val="accent2"/>
            </a:solidFill>
            <a:prstDash val="dash"/>
          </a:ln>
        </p:spPr>
        <p:txBody>
          <a:bodyPr wrap="square" lIns="5080" tIns="5080" rIns="5080" bIns="5080" rtlCol="0" anchor="ctr"/>
          <a:lstStyle/>
          <a:p>
            <a:pPr marL="0" indent="0" algn="ctr">
              <a:spcAft>
                <a:spcPts val="800"/>
              </a:spcAft>
              <a:buNone/>
            </a:pPr>
            <a:r>
              <a:rPr lang="en-US" sz="3000" b="1" dirty="0">
                <a:solidFill>
                  <a:schemeClr val="tx1"/>
                </a:solidFill>
              </a:rPr>
              <a:t>Add an image here</a:t>
            </a:r>
            <a:endParaRPr lang="en-US" sz="3000" dirty="0"/>
          </a:p>
          <a:p>
            <a:pPr marL="0" indent="0" algn="ctr">
              <a:buNone/>
            </a:pPr>
            <a:r>
              <a:rPr lang="en-US" sz="2200" dirty="0">
                <a:solidFill>
                  <a:schemeClr val="tx1"/>
                </a:solidFill>
              </a:rPr>
              <a:t>A varied group of men and women working together in an office with greenery</a:t>
            </a:r>
            <a:endParaRPr lang="en-US" sz="3000" dirty="0"/>
          </a:p>
        </p:txBody>
      </p:sp>
      <p:sp>
        <p:nvSpPr>
          <p:cNvPr id="6" name="Text 3"/>
          <p:cNvSpPr txBox="1"/>
          <p:nvPr/>
        </p:nvSpPr>
        <p:spPr>
          <a:xfrm>
            <a:off x="548640" y="5257800"/>
            <a:ext cx="11064240" cy="1188720"/>
          </a:xfrm>
          <a:prstGeom prst="rect">
            <a:avLst/>
          </a:prstGeom>
          <a:noFill/>
          <a:ln/>
        </p:spPr>
        <p:txBody>
          <a:bodyPr wrap="square" lIns="0" tIns="0" rIns="0" bIns="0" rtlCol="0" anchor="t"/>
          <a:lstStyle/>
          <a:p>
            <a:pPr marL="0" indent="0">
              <a:buNone/>
            </a:pPr>
            <a:r>
              <a:rPr lang="en-US" sz="3200" b="1" dirty="0">
                <a:solidFill>
                  <a:schemeClr val="tx1"/>
                </a:solidFill>
              </a:rPr>
              <a:t>Break up the text with an image. Show a mix of men and women so the group feels diverse. </a:t>
            </a:r>
            <a:r>
              <a:rPr lang="en-US" sz="3200" b="1" dirty="0"/>
              <a:t>See examples for i</a:t>
            </a:r>
            <a:r>
              <a:rPr lang="en-US" sz="3200" b="1" dirty="0">
                <a:solidFill>
                  <a:schemeClr val="tx1"/>
                </a:solidFill>
              </a:rPr>
              <a:t>nspiration.</a:t>
            </a:r>
            <a:endParaRPr lang="en-US" sz="3200" dirty="0"/>
          </a:p>
        </p:txBody>
      </p:sp>
      <p:pic>
        <p:nvPicPr>
          <p:cNvPr id="8" name="Picture 7">
            <a:extLst>
              <a:ext uri="{FF2B5EF4-FFF2-40B4-BE49-F238E27FC236}">
                <a16:creationId xmlns:a16="http://schemas.microsoft.com/office/drawing/2014/main" id="{F18DADA6-402C-6BF0-485E-2BEE6FA57C9E}"/>
              </a:ext>
            </a:extLst>
          </p:cNvPr>
          <p:cNvPicPr>
            <a:picLocks noChangeAspect="1"/>
          </p:cNvPicPr>
          <p:nvPr/>
        </p:nvPicPr>
        <p:blipFill>
          <a:blip r:embed="rId4"/>
          <a:stretch>
            <a:fillRect/>
          </a:stretch>
        </p:blipFill>
        <p:spPr>
          <a:xfrm>
            <a:off x="6156962" y="2839796"/>
            <a:ext cx="2326640" cy="2116252"/>
          </a:xfrm>
          <a:prstGeom prst="rect">
            <a:avLst/>
          </a:prstGeom>
        </p:spPr>
      </p:pic>
      <p:pic>
        <p:nvPicPr>
          <p:cNvPr id="10" name="Picture 9">
            <a:extLst>
              <a:ext uri="{FF2B5EF4-FFF2-40B4-BE49-F238E27FC236}">
                <a16:creationId xmlns:a16="http://schemas.microsoft.com/office/drawing/2014/main" id="{A828B235-7533-CE57-5FEF-E71BA524835E}"/>
              </a:ext>
            </a:extLst>
          </p:cNvPr>
          <p:cNvPicPr>
            <a:picLocks noChangeAspect="1"/>
          </p:cNvPicPr>
          <p:nvPr/>
        </p:nvPicPr>
        <p:blipFill>
          <a:blip r:embed="rId5"/>
          <a:stretch>
            <a:fillRect/>
          </a:stretch>
        </p:blipFill>
        <p:spPr>
          <a:xfrm>
            <a:off x="9052560" y="1513319"/>
            <a:ext cx="2481532" cy="2652954"/>
          </a:xfrm>
          <a:prstGeom prst="rect">
            <a:avLst/>
          </a:prstGeom>
        </p:spPr>
      </p:pic>
      <p:sp>
        <p:nvSpPr>
          <p:cNvPr id="9" name="TextBox 8">
            <a:extLst>
              <a:ext uri="{FF2B5EF4-FFF2-40B4-BE49-F238E27FC236}">
                <a16:creationId xmlns:a16="http://schemas.microsoft.com/office/drawing/2014/main" id="{E73B1BF4-0282-4406-B797-190D6B7FFE39}"/>
              </a:ext>
            </a:extLst>
          </p:cNvPr>
          <p:cNvSpPr txBox="1"/>
          <p:nvPr/>
        </p:nvSpPr>
        <p:spPr>
          <a:xfrm>
            <a:off x="8280400" y="174944"/>
            <a:ext cx="3159760" cy="369332"/>
          </a:xfrm>
          <a:prstGeom prst="rect">
            <a:avLst/>
          </a:prstGeom>
          <a:solidFill>
            <a:srgbClr val="92D050"/>
          </a:solidFill>
        </p:spPr>
        <p:txBody>
          <a:bodyPr wrap="square" rtlCol="0">
            <a:spAutoFit/>
          </a:bodyPr>
          <a:lstStyle/>
          <a:p>
            <a:r>
              <a:rPr lang="en-US" b="1" dirty="0"/>
              <a:t>Digital (13-Oct): </a:t>
            </a:r>
            <a:r>
              <a:rPr lang="en-US" dirty="0"/>
              <a:t>Done</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Moment scenarios: add an image to each</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5</a:t>
            </a:r>
            <a:endParaRPr lang="en-US" sz="2800" dirty="0"/>
          </a:p>
        </p:txBody>
      </p:sp>
      <p:pic>
        <p:nvPicPr>
          <p:cNvPr id="4" name="Image 0" descr="Moment 1 scenario page, text only"/>
          <p:cNvPicPr>
            <a:picLocks noChangeAspect="1"/>
          </p:cNvPicPr>
          <p:nvPr/>
        </p:nvPicPr>
        <p:blipFill>
          <a:blip r:embed="rId3"/>
          <a:stretch>
            <a:fillRect/>
          </a:stretch>
        </p:blipFill>
        <p:spPr>
          <a:xfrm>
            <a:off x="548640" y="1554480"/>
            <a:ext cx="6949440" cy="4170480"/>
          </a:xfrm>
          <a:prstGeom prst="rect">
            <a:avLst/>
          </a:prstGeom>
          <a:effectLst>
            <a:outerShdw blurRad="127000" dist="38100" dir="5400000" algn="bl" rotWithShape="0">
              <a:srgbClr val="000000">
                <a:alpha val="28000"/>
              </a:srgbClr>
            </a:outerShdw>
          </a:effectLst>
        </p:spPr>
      </p:pic>
      <p:sp>
        <p:nvSpPr>
          <p:cNvPr id="5" name="Text 2"/>
          <p:cNvSpPr txBox="1"/>
          <p:nvPr/>
        </p:nvSpPr>
        <p:spPr>
          <a:xfrm>
            <a:off x="7863840" y="1577340"/>
            <a:ext cx="3840480" cy="4206240"/>
          </a:xfrm>
          <a:prstGeom prst="rect">
            <a:avLst/>
          </a:prstGeom>
          <a:noFill/>
          <a:ln/>
        </p:spPr>
        <p:txBody>
          <a:bodyPr wrap="square" lIns="0" tIns="0" rIns="0" bIns="0" rtlCol="0" anchor="t"/>
          <a:lstStyle/>
          <a:p>
            <a:pPr marL="0" indent="0">
              <a:spcAft>
                <a:spcPts val="1400"/>
              </a:spcAft>
              <a:buNone/>
            </a:pPr>
            <a:r>
              <a:rPr lang="en-US" sz="3400" b="1" dirty="0">
                <a:solidFill>
                  <a:schemeClr val="tx1"/>
                </a:solidFill>
                <a:highlight>
                  <a:srgbClr val="FFFF00"/>
                </a:highlight>
              </a:rPr>
              <a:t>Every Moment scenario needs an image.</a:t>
            </a:r>
          </a:p>
          <a:p>
            <a:pPr marL="0" indent="0">
              <a:spcAft>
                <a:spcPts val="1400"/>
              </a:spcAft>
              <a:buNone/>
            </a:pPr>
            <a:r>
              <a:rPr lang="en-US" sz="3400" b="1" dirty="0">
                <a:highlight>
                  <a:srgbClr val="FFFF00"/>
                </a:highlight>
              </a:rPr>
              <a:t>Remove the title after the : just keep Moment 1, 2, 3, etc. </a:t>
            </a:r>
            <a:endParaRPr lang="en-US" sz="3400" dirty="0">
              <a:highlight>
                <a:srgbClr val="FFFF00"/>
              </a:highlight>
            </a:endParaRPr>
          </a:p>
          <a:p>
            <a:pPr marL="0" indent="0">
              <a:buNone/>
            </a:pPr>
            <a:r>
              <a:rPr lang="en-US" sz="2800" b="1" dirty="0">
                <a:solidFill>
                  <a:schemeClr val="tx1"/>
                </a:solidFill>
                <a:highlight>
                  <a:srgbClr val="FFFF00"/>
                </a:highlight>
              </a:rPr>
              <a:t>Moments 1 to 4, plus the new information page.</a:t>
            </a:r>
            <a:endParaRPr lang="en-US" sz="3400" b="1" dirty="0">
              <a:highlight>
                <a:srgbClr val="FFFF00"/>
              </a:highlight>
            </a:endParaRPr>
          </a:p>
        </p:txBody>
      </p:sp>
      <p:sp>
        <p:nvSpPr>
          <p:cNvPr id="7" name="TextBox 6">
            <a:extLst>
              <a:ext uri="{FF2B5EF4-FFF2-40B4-BE49-F238E27FC236}">
                <a16:creationId xmlns:a16="http://schemas.microsoft.com/office/drawing/2014/main" id="{9131A9D9-111E-68C5-ED47-9CC35BDB775C}"/>
              </a:ext>
            </a:extLst>
          </p:cNvPr>
          <p:cNvSpPr txBox="1"/>
          <p:nvPr/>
        </p:nvSpPr>
        <p:spPr>
          <a:xfrm>
            <a:off x="8681720" y="135374"/>
            <a:ext cx="3159760" cy="369332"/>
          </a:xfrm>
          <a:prstGeom prst="rect">
            <a:avLst/>
          </a:prstGeom>
          <a:solidFill>
            <a:srgbClr val="92D050"/>
          </a:solidFill>
        </p:spPr>
        <p:txBody>
          <a:bodyPr wrap="square" rtlCol="0">
            <a:spAutoFit/>
          </a:bodyPr>
          <a:lstStyle/>
          <a:p>
            <a:r>
              <a:rPr lang="en-US" b="1" dirty="0"/>
              <a:t>Digital (13-Oct): </a:t>
            </a:r>
            <a:r>
              <a:rPr lang="en-US" dirty="0"/>
              <a:t>Done</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3590A-C8BE-9B3F-2FA9-F50122C6B467}"/>
              </a:ext>
            </a:extLst>
          </p:cNvPr>
          <p:cNvSpPr>
            <a:spLocks noGrp="1"/>
          </p:cNvSpPr>
          <p:nvPr>
            <p:ph type="title" idx="100"/>
          </p:nvPr>
        </p:nvSpPr>
        <p:spPr/>
        <p:txBody>
          <a:bodyPr/>
          <a:lstStyle/>
          <a:p>
            <a:r>
              <a:rPr lang="en-US" dirty="0"/>
              <a:t>Example ideas for moment images</a:t>
            </a:r>
          </a:p>
        </p:txBody>
      </p:sp>
      <p:pic>
        <p:nvPicPr>
          <p:cNvPr id="4" name="Picture 3">
            <a:extLst>
              <a:ext uri="{FF2B5EF4-FFF2-40B4-BE49-F238E27FC236}">
                <a16:creationId xmlns:a16="http://schemas.microsoft.com/office/drawing/2014/main" id="{C5CEA0F2-92EE-9B2B-71D0-FE1071F6D6CB}"/>
              </a:ext>
            </a:extLst>
          </p:cNvPr>
          <p:cNvPicPr>
            <a:picLocks noChangeAspect="1"/>
          </p:cNvPicPr>
          <p:nvPr/>
        </p:nvPicPr>
        <p:blipFill>
          <a:blip r:embed="rId2"/>
          <a:stretch>
            <a:fillRect/>
          </a:stretch>
        </p:blipFill>
        <p:spPr>
          <a:xfrm>
            <a:off x="5417539" y="2629348"/>
            <a:ext cx="2240842" cy="3731960"/>
          </a:xfrm>
          <a:prstGeom prst="rect">
            <a:avLst/>
          </a:prstGeom>
        </p:spPr>
      </p:pic>
      <p:pic>
        <p:nvPicPr>
          <p:cNvPr id="6" name="Picture 5">
            <a:extLst>
              <a:ext uri="{FF2B5EF4-FFF2-40B4-BE49-F238E27FC236}">
                <a16:creationId xmlns:a16="http://schemas.microsoft.com/office/drawing/2014/main" id="{17FF2FDD-ECBD-4213-CFD8-843FC5BC4A51}"/>
              </a:ext>
            </a:extLst>
          </p:cNvPr>
          <p:cNvPicPr>
            <a:picLocks noChangeAspect="1"/>
          </p:cNvPicPr>
          <p:nvPr/>
        </p:nvPicPr>
        <p:blipFill>
          <a:blip r:embed="rId3"/>
          <a:stretch>
            <a:fillRect/>
          </a:stretch>
        </p:blipFill>
        <p:spPr>
          <a:xfrm>
            <a:off x="2814918" y="2653552"/>
            <a:ext cx="1990164" cy="2657917"/>
          </a:xfrm>
          <a:prstGeom prst="rect">
            <a:avLst/>
          </a:prstGeom>
        </p:spPr>
      </p:pic>
      <p:pic>
        <p:nvPicPr>
          <p:cNvPr id="8" name="Picture 7">
            <a:extLst>
              <a:ext uri="{FF2B5EF4-FFF2-40B4-BE49-F238E27FC236}">
                <a16:creationId xmlns:a16="http://schemas.microsoft.com/office/drawing/2014/main" id="{500076F1-C3DF-F221-0931-69EBC92642F7}"/>
              </a:ext>
            </a:extLst>
          </p:cNvPr>
          <p:cNvPicPr>
            <a:picLocks noChangeAspect="1"/>
          </p:cNvPicPr>
          <p:nvPr/>
        </p:nvPicPr>
        <p:blipFill>
          <a:blip r:embed="rId4"/>
          <a:stretch>
            <a:fillRect/>
          </a:stretch>
        </p:blipFill>
        <p:spPr>
          <a:xfrm>
            <a:off x="201481" y="2629348"/>
            <a:ext cx="2240842" cy="2788024"/>
          </a:xfrm>
          <a:prstGeom prst="rect">
            <a:avLst/>
          </a:prstGeom>
        </p:spPr>
      </p:pic>
      <p:pic>
        <p:nvPicPr>
          <p:cNvPr id="10" name="Picture 9">
            <a:extLst>
              <a:ext uri="{FF2B5EF4-FFF2-40B4-BE49-F238E27FC236}">
                <a16:creationId xmlns:a16="http://schemas.microsoft.com/office/drawing/2014/main" id="{6F46BDBA-8F0C-767C-C46A-D5147FDA4E04}"/>
              </a:ext>
            </a:extLst>
          </p:cNvPr>
          <p:cNvPicPr>
            <a:picLocks noChangeAspect="1"/>
          </p:cNvPicPr>
          <p:nvPr/>
        </p:nvPicPr>
        <p:blipFill>
          <a:blip r:embed="rId5"/>
          <a:stretch>
            <a:fillRect/>
          </a:stretch>
        </p:blipFill>
        <p:spPr>
          <a:xfrm>
            <a:off x="8291784" y="2814918"/>
            <a:ext cx="3510484" cy="3018161"/>
          </a:xfrm>
          <a:prstGeom prst="rect">
            <a:avLst/>
          </a:prstGeom>
        </p:spPr>
      </p:pic>
      <p:sp>
        <p:nvSpPr>
          <p:cNvPr id="5" name="TextBox 4">
            <a:extLst>
              <a:ext uri="{FF2B5EF4-FFF2-40B4-BE49-F238E27FC236}">
                <a16:creationId xmlns:a16="http://schemas.microsoft.com/office/drawing/2014/main" id="{0D9A8DBF-4A98-DA6C-3794-9D4FBCCFDA72}"/>
              </a:ext>
            </a:extLst>
          </p:cNvPr>
          <p:cNvSpPr txBox="1"/>
          <p:nvPr/>
        </p:nvSpPr>
        <p:spPr>
          <a:xfrm>
            <a:off x="8717280" y="1004054"/>
            <a:ext cx="3159760" cy="369332"/>
          </a:xfrm>
          <a:prstGeom prst="rect">
            <a:avLst/>
          </a:prstGeom>
          <a:solidFill>
            <a:srgbClr val="92D050"/>
          </a:solidFill>
        </p:spPr>
        <p:txBody>
          <a:bodyPr wrap="square" rtlCol="0">
            <a:spAutoFit/>
          </a:bodyPr>
          <a:lstStyle/>
          <a:p>
            <a:r>
              <a:rPr lang="en-US" b="1" dirty="0"/>
              <a:t>Digital (13-Oct): </a:t>
            </a:r>
            <a:r>
              <a:rPr lang="en-US" dirty="0"/>
              <a:t>Done</a:t>
            </a:r>
            <a:endParaRPr lang="en-IN" dirty="0"/>
          </a:p>
        </p:txBody>
      </p:sp>
    </p:spTree>
    <p:extLst>
      <p:ext uri="{BB962C8B-B14F-4D97-AF65-F5344CB8AC3E}">
        <p14:creationId xmlns:p14="http://schemas.microsoft.com/office/powerpoint/2010/main" val="1323134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Submit and Saved buttons: change color</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6</a:t>
            </a:r>
            <a:endParaRPr lang="en-US" sz="2800" dirty="0"/>
          </a:p>
        </p:txBody>
      </p:sp>
      <p:sp>
        <p:nvSpPr>
          <p:cNvPr id="4" name="Text 2"/>
          <p:cNvSpPr txBox="1"/>
          <p:nvPr/>
        </p:nvSpPr>
        <p:spPr>
          <a:xfrm>
            <a:off x="822960" y="1371600"/>
            <a:ext cx="3657600" cy="411480"/>
          </a:xfrm>
          <a:prstGeom prst="rect">
            <a:avLst/>
          </a:prstGeom>
          <a:noFill/>
          <a:ln/>
        </p:spPr>
        <p:txBody>
          <a:bodyPr wrap="square" lIns="0" tIns="0" rIns="0" bIns="0" rtlCol="0" anchor="ctr"/>
          <a:lstStyle/>
          <a:p>
            <a:pPr marL="0" indent="0">
              <a:buNone/>
            </a:pPr>
            <a:r>
              <a:rPr lang="en-US" sz="2400" b="1" dirty="0">
                <a:solidFill>
                  <a:schemeClr val="accent6"/>
                </a:solidFill>
              </a:rPr>
              <a:t>Now</a:t>
            </a:r>
            <a:endParaRPr lang="en-US" sz="2400" dirty="0"/>
          </a:p>
        </p:txBody>
      </p:sp>
      <p:sp>
        <p:nvSpPr>
          <p:cNvPr id="5" name="Text 3"/>
          <p:cNvSpPr txBox="1"/>
          <p:nvPr/>
        </p:nvSpPr>
        <p:spPr>
          <a:xfrm>
            <a:off x="6400800" y="1371600"/>
            <a:ext cx="5029200" cy="411480"/>
          </a:xfrm>
          <a:prstGeom prst="rect">
            <a:avLst/>
          </a:prstGeom>
          <a:noFill/>
          <a:ln/>
        </p:spPr>
        <p:txBody>
          <a:bodyPr wrap="square" lIns="0" tIns="0" rIns="0" bIns="0" rtlCol="0" anchor="ctr"/>
          <a:lstStyle/>
          <a:p>
            <a:pPr marL="0" indent="0">
              <a:buNone/>
            </a:pPr>
            <a:r>
              <a:rPr lang="en-US" sz="2400" b="1" dirty="0">
                <a:solidFill>
                  <a:schemeClr val="accent2"/>
                </a:solidFill>
              </a:rPr>
              <a:t>After a click (example)</a:t>
            </a:r>
            <a:endParaRPr lang="en-US" sz="2400" dirty="0"/>
          </a:p>
        </p:txBody>
      </p:sp>
      <p:pic>
        <p:nvPicPr>
          <p:cNvPr id="6" name="Image 0" descr="Submit button"/>
          <p:cNvPicPr>
            <a:picLocks noChangeAspect="1"/>
          </p:cNvPicPr>
          <p:nvPr/>
        </p:nvPicPr>
        <p:blipFill>
          <a:blip r:embed="rId3"/>
          <a:stretch>
            <a:fillRect/>
          </a:stretch>
        </p:blipFill>
        <p:spPr>
          <a:xfrm>
            <a:off x="822960" y="1920240"/>
            <a:ext cx="3108960" cy="1213253"/>
          </a:xfrm>
          <a:prstGeom prst="rect">
            <a:avLst/>
          </a:prstGeom>
          <a:effectLst>
            <a:outerShdw blurRad="127000" dist="38100" dir="5400000" algn="bl" rotWithShape="0">
              <a:srgbClr val="000000">
                <a:alpha val="28000"/>
              </a:srgbClr>
            </a:outerShdw>
          </a:effectLst>
        </p:spPr>
      </p:pic>
      <p:sp>
        <p:nvSpPr>
          <p:cNvPr id="8" name="Arrow"/>
          <p:cNvSpPr/>
          <p:nvPr/>
        </p:nvSpPr>
        <p:spPr>
          <a:xfrm>
            <a:off x="4732020" y="2148840"/>
            <a:ext cx="1005840" cy="640080"/>
          </a:xfrm>
          <a:prstGeom prst="rightArrow">
            <a:avLst/>
          </a:prstGeom>
          <a:solidFill>
            <a:schemeClr val="accent6"/>
          </a:solidFill>
          <a:ln w="12700">
            <a:solidFill>
              <a:schemeClr val="accent6"/>
            </a:solidFill>
            <a:prstDash val="solid"/>
          </a:ln>
        </p:spPr>
        <p:txBody>
          <a:bodyPr/>
          <a:lstStyle/>
          <a:p>
            <a:endParaRPr lang="en-US"/>
          </a:p>
        </p:txBody>
      </p:sp>
      <p:sp>
        <p:nvSpPr>
          <p:cNvPr id="10" name="Mock button Saved"/>
          <p:cNvSpPr txBox="1"/>
          <p:nvPr/>
        </p:nvSpPr>
        <p:spPr>
          <a:xfrm>
            <a:off x="6537960" y="2024231"/>
            <a:ext cx="2926080" cy="868680"/>
          </a:xfrm>
          <a:prstGeom prst="roundRect">
            <a:avLst>
              <a:gd name="adj" fmla="val 8421"/>
            </a:avLst>
          </a:prstGeom>
          <a:solidFill>
            <a:schemeClr val="accent4"/>
          </a:solidFill>
          <a:ln/>
        </p:spPr>
        <p:txBody>
          <a:bodyPr wrap="square" lIns="0" tIns="0" rIns="0" bIns="0" rtlCol="0" anchor="ctr"/>
          <a:lstStyle/>
          <a:p>
            <a:pPr marL="0" indent="0" algn="ctr">
              <a:buNone/>
            </a:pPr>
            <a:r>
              <a:rPr lang="en-US" sz="3000" b="1" dirty="0">
                <a:solidFill>
                  <a:schemeClr val="bg1"/>
                </a:solidFill>
              </a:rPr>
              <a:t>Saved</a:t>
            </a:r>
            <a:endParaRPr lang="en-US" sz="3000" dirty="0"/>
          </a:p>
        </p:txBody>
      </p:sp>
      <p:sp>
        <p:nvSpPr>
          <p:cNvPr id="11" name="Text 7"/>
          <p:cNvSpPr txBox="1"/>
          <p:nvPr/>
        </p:nvSpPr>
        <p:spPr>
          <a:xfrm>
            <a:off x="548640" y="5029200"/>
            <a:ext cx="11064240" cy="1371600"/>
          </a:xfrm>
          <a:prstGeom prst="rect">
            <a:avLst/>
          </a:prstGeom>
          <a:noFill/>
          <a:ln/>
        </p:spPr>
        <p:txBody>
          <a:bodyPr wrap="square" lIns="0" tIns="0" rIns="0" bIns="0" rtlCol="0" anchor="t"/>
          <a:lstStyle/>
          <a:p>
            <a:pPr marL="0" indent="0">
              <a:buNone/>
            </a:pPr>
            <a:r>
              <a:rPr lang="en-US" sz="3200" b="1" dirty="0">
                <a:solidFill>
                  <a:schemeClr val="tx1"/>
                </a:solidFill>
              </a:rPr>
              <a:t>Change the color once it is clicked, so teams can see it worked. Example: yellow, then green.</a:t>
            </a:r>
            <a:endParaRPr lang="en-US" sz="3200" dirty="0"/>
          </a:p>
        </p:txBody>
      </p:sp>
      <p:sp>
        <p:nvSpPr>
          <p:cNvPr id="9" name="TextBox 8">
            <a:extLst>
              <a:ext uri="{FF2B5EF4-FFF2-40B4-BE49-F238E27FC236}">
                <a16:creationId xmlns:a16="http://schemas.microsoft.com/office/drawing/2014/main" id="{AA2AD711-167E-198A-F8C2-DB47D1008504}"/>
              </a:ext>
            </a:extLst>
          </p:cNvPr>
          <p:cNvSpPr txBox="1"/>
          <p:nvPr/>
        </p:nvSpPr>
        <p:spPr>
          <a:xfrm>
            <a:off x="8595360" y="137160"/>
            <a:ext cx="3159760" cy="369332"/>
          </a:xfrm>
          <a:prstGeom prst="rect">
            <a:avLst/>
          </a:prstGeom>
          <a:solidFill>
            <a:srgbClr val="92D050"/>
          </a:solidFill>
        </p:spPr>
        <p:txBody>
          <a:bodyPr wrap="square" rtlCol="0">
            <a:spAutoFit/>
          </a:bodyPr>
          <a:lstStyle/>
          <a:p>
            <a:r>
              <a:rPr lang="en-US" b="1" dirty="0"/>
              <a:t>Digital (13-Oct): </a:t>
            </a:r>
            <a:r>
              <a:rPr lang="en-US" dirty="0"/>
              <a:t>Done</a:t>
            </a:r>
            <a:r>
              <a:rPr lang="en-US" b="1" dirty="0"/>
              <a:t> </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Add the split-screen look elsewhere</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9</a:t>
            </a:r>
            <a:endParaRPr lang="en-US" sz="2800" dirty="0"/>
          </a:p>
        </p:txBody>
      </p:sp>
      <p:sp>
        <p:nvSpPr>
          <p:cNvPr id="4" name="Text 2"/>
          <p:cNvSpPr txBox="1"/>
          <p:nvPr/>
        </p:nvSpPr>
        <p:spPr>
          <a:xfrm>
            <a:off x="548640" y="1371600"/>
            <a:ext cx="5486400" cy="411480"/>
          </a:xfrm>
          <a:prstGeom prst="rect">
            <a:avLst/>
          </a:prstGeom>
          <a:noFill/>
          <a:ln/>
        </p:spPr>
        <p:txBody>
          <a:bodyPr wrap="square" lIns="0" tIns="0" rIns="0" bIns="0" rtlCol="0" anchor="ctr"/>
          <a:lstStyle/>
          <a:p>
            <a:pPr marL="0" indent="0">
              <a:buNone/>
            </a:pPr>
            <a:r>
              <a:rPr lang="en-US" sz="2400" b="1" dirty="0">
                <a:solidFill>
                  <a:schemeClr val="accent4"/>
                </a:solidFill>
              </a:rPr>
              <a:t>We love this</a:t>
            </a:r>
            <a:endParaRPr lang="en-US" sz="2400" dirty="0"/>
          </a:p>
        </p:txBody>
      </p:sp>
      <p:pic>
        <p:nvPicPr>
          <p:cNvPr id="6" name="Image 0" descr="Team name page with split-screen photo"/>
          <p:cNvPicPr>
            <a:picLocks noChangeAspect="1"/>
          </p:cNvPicPr>
          <p:nvPr/>
        </p:nvPicPr>
        <p:blipFill>
          <a:blip r:embed="rId3"/>
          <a:stretch>
            <a:fillRect/>
          </a:stretch>
        </p:blipFill>
        <p:spPr>
          <a:xfrm>
            <a:off x="548640" y="1828800"/>
            <a:ext cx="5440680" cy="3290452"/>
          </a:xfrm>
          <a:prstGeom prst="rect">
            <a:avLst/>
          </a:prstGeom>
          <a:effectLst>
            <a:outerShdw blurRad="127000" dist="38100" dir="5400000" algn="bl" rotWithShape="0">
              <a:srgbClr val="000000">
                <a:alpha val="28000"/>
              </a:srgbClr>
            </a:outerShdw>
          </a:effectLst>
        </p:spPr>
      </p:pic>
      <p:sp>
        <p:nvSpPr>
          <p:cNvPr id="8" name="Text 4"/>
          <p:cNvSpPr txBox="1"/>
          <p:nvPr/>
        </p:nvSpPr>
        <p:spPr>
          <a:xfrm>
            <a:off x="548640" y="5257800"/>
            <a:ext cx="11064240" cy="1280160"/>
          </a:xfrm>
          <a:prstGeom prst="rect">
            <a:avLst/>
          </a:prstGeom>
          <a:noFill/>
          <a:ln/>
        </p:spPr>
        <p:txBody>
          <a:bodyPr wrap="square" lIns="0" tIns="0" rIns="0" bIns="0" rtlCol="0" anchor="t"/>
          <a:lstStyle/>
          <a:p>
            <a:pPr marL="0" indent="0">
              <a:buNone/>
            </a:pPr>
            <a:r>
              <a:rPr lang="en-US" sz="3000" b="1" dirty="0">
                <a:solidFill>
                  <a:schemeClr val="tx1"/>
                </a:solidFill>
              </a:rPr>
              <a:t>Use the split-screen photo style on the facilitator screens for a bit of visual variety.</a:t>
            </a:r>
            <a:endParaRPr lang="en-US" sz="3000" dirty="0"/>
          </a:p>
        </p:txBody>
      </p:sp>
      <p:sp>
        <p:nvSpPr>
          <p:cNvPr id="7" name="TextBox 6">
            <a:extLst>
              <a:ext uri="{FF2B5EF4-FFF2-40B4-BE49-F238E27FC236}">
                <a16:creationId xmlns:a16="http://schemas.microsoft.com/office/drawing/2014/main" id="{A736C38B-1F42-AF57-2031-70C1AC8FBD9E}"/>
              </a:ext>
            </a:extLst>
          </p:cNvPr>
          <p:cNvSpPr txBox="1"/>
          <p:nvPr/>
        </p:nvSpPr>
        <p:spPr>
          <a:xfrm>
            <a:off x="6400801" y="1188720"/>
            <a:ext cx="5440680" cy="1200329"/>
          </a:xfrm>
          <a:prstGeom prst="rect">
            <a:avLst/>
          </a:prstGeom>
          <a:solidFill>
            <a:schemeClr val="accent1"/>
          </a:solidFill>
        </p:spPr>
        <p:txBody>
          <a:bodyPr wrap="square" rtlCol="0">
            <a:spAutoFit/>
          </a:bodyPr>
          <a:lstStyle/>
          <a:p>
            <a:r>
              <a:rPr lang="en-US" b="1" dirty="0"/>
              <a:t>Digital (13-Oct): </a:t>
            </a:r>
            <a:r>
              <a:rPr lang="en-US" dirty="0"/>
              <a:t>Please suggest which screen would you like us to update. </a:t>
            </a:r>
          </a:p>
          <a:p>
            <a:r>
              <a:rPr lang="en-US" dirty="0"/>
              <a:t>We could not find/identify any screen on the facilitator side where this split-screen photo style can be applied.</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8BB6B-6831-21DF-024A-C19B521A8F9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D4A761-4886-9505-DD10-21BEF1ECE378}"/>
              </a:ext>
            </a:extLst>
          </p:cNvPr>
          <p:cNvSpPr>
            <a:spLocks noGrp="1"/>
          </p:cNvSpPr>
          <p:nvPr>
            <p:ph type="title" idx="100" hasCustomPrompt="1"/>
          </p:nvPr>
        </p:nvSpPr>
        <p:spPr>
          <a:xfrm>
            <a:off x="822960" y="2011680"/>
            <a:ext cx="10515600" cy="1371600"/>
          </a:xfrm>
          <a:prstGeom prst="rect">
            <a:avLst/>
          </a:prstGeom>
          <a:noFill/>
          <a:ln/>
        </p:spPr>
        <p:txBody>
          <a:bodyPr wrap="square" lIns="0" tIns="0" rIns="0" bIns="0" rtlCol="0" anchor="b"/>
          <a:lstStyle/>
          <a:p>
            <a:pPr marL="0" indent="0" algn="l">
              <a:buNone/>
            </a:pPr>
            <a:r>
              <a:rPr lang="en-US" sz="6600" b="1" dirty="0">
                <a:solidFill>
                  <a:schemeClr val="bg1"/>
                </a:solidFill>
                <a:latin typeface="Calibri" pitchFamily="34" charset="0"/>
                <a:ea typeface="Calibri" pitchFamily="34" charset="-122"/>
                <a:cs typeface="Calibri" pitchFamily="34" charset="-120"/>
              </a:rPr>
              <a:t>DEV TEAM </a:t>
            </a:r>
            <a:endParaRPr lang="en-US" sz="6600" dirty="0"/>
          </a:p>
        </p:txBody>
      </p:sp>
      <p:sp>
        <p:nvSpPr>
          <p:cNvPr id="3" name="Text 0">
            <a:extLst>
              <a:ext uri="{FF2B5EF4-FFF2-40B4-BE49-F238E27FC236}">
                <a16:creationId xmlns:a16="http://schemas.microsoft.com/office/drawing/2014/main" id="{D38EDD93-11FE-34BE-7933-8F0C445C2D07}"/>
              </a:ext>
            </a:extLst>
          </p:cNvPr>
          <p:cNvSpPr>
            <a:spLocks noGrp="1"/>
          </p:cNvSpPr>
          <p:nvPr>
            <p:ph type="body" idx="101" hasCustomPrompt="1"/>
          </p:nvPr>
        </p:nvSpPr>
        <p:spPr>
          <a:xfrm>
            <a:off x="822960" y="3566160"/>
            <a:ext cx="10515600" cy="1097280"/>
          </a:xfrm>
          <a:prstGeom prst="rect">
            <a:avLst/>
          </a:prstGeom>
          <a:noFill/>
          <a:ln/>
        </p:spPr>
        <p:txBody>
          <a:bodyPr wrap="square" lIns="0" tIns="0" rIns="0" bIns="0" rtlCol="0" anchor="t"/>
          <a:lstStyle/>
          <a:p>
            <a:pPr marL="0" indent="0" algn="l">
              <a:buNone/>
            </a:pPr>
            <a:r>
              <a:rPr lang="en-US" sz="3000" dirty="0">
                <a:solidFill>
                  <a:schemeClr val="accent3"/>
                </a:solidFill>
                <a:latin typeface="Calibri" pitchFamily="34" charset="0"/>
                <a:ea typeface="Calibri" pitchFamily="34" charset="-122"/>
                <a:cs typeface="Calibri" pitchFamily="34" charset="-120"/>
              </a:rPr>
              <a:t>DIGITAL TEAM CAN IGNORE</a:t>
            </a:r>
            <a:endParaRPr lang="en-US" sz="3000" dirty="0"/>
          </a:p>
        </p:txBody>
      </p:sp>
    </p:spTree>
    <p:extLst>
      <p:ext uri="{BB962C8B-B14F-4D97-AF65-F5344CB8AC3E}">
        <p14:creationId xmlns:p14="http://schemas.microsoft.com/office/powerpoint/2010/main" val="213976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For Kevin: equalize the Moment text</a:t>
            </a:r>
            <a:endParaRPr lang="en-US" sz="4000" dirty="0"/>
          </a:p>
        </p:txBody>
      </p:sp>
      <p:sp>
        <p:nvSpPr>
          <p:cNvPr id="3" name="Number badge"/>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7</a:t>
            </a:r>
            <a:endParaRPr lang="en-US" sz="2800" dirty="0"/>
          </a:p>
        </p:txBody>
      </p:sp>
      <p:pic>
        <p:nvPicPr>
          <p:cNvPr id="4" name="Image 0" descr="Moment 1 decision options"/>
          <p:cNvPicPr>
            <a:picLocks noChangeAspect="1"/>
          </p:cNvPicPr>
          <p:nvPr/>
        </p:nvPicPr>
        <p:blipFill>
          <a:blip r:embed="rId3"/>
          <a:stretch>
            <a:fillRect/>
          </a:stretch>
        </p:blipFill>
        <p:spPr>
          <a:xfrm>
            <a:off x="548640" y="1554480"/>
            <a:ext cx="6949440" cy="4209561"/>
          </a:xfrm>
          <a:prstGeom prst="rect">
            <a:avLst/>
          </a:prstGeom>
          <a:effectLst>
            <a:outerShdw blurRad="127000" dist="38100" dir="5400000" algn="bl" rotWithShape="0">
              <a:srgbClr val="000000">
                <a:alpha val="28000"/>
              </a:srgbClr>
            </a:outerShdw>
          </a:effectLst>
        </p:spPr>
      </p:pic>
      <p:sp>
        <p:nvSpPr>
          <p:cNvPr id="5" name="Text 2"/>
          <p:cNvSpPr txBox="1"/>
          <p:nvPr/>
        </p:nvSpPr>
        <p:spPr>
          <a:xfrm>
            <a:off x="7863840" y="1645920"/>
            <a:ext cx="3840480" cy="4572000"/>
          </a:xfrm>
          <a:prstGeom prst="rect">
            <a:avLst/>
          </a:prstGeom>
          <a:noFill/>
          <a:ln/>
        </p:spPr>
        <p:txBody>
          <a:bodyPr wrap="square" lIns="0" tIns="0" rIns="0" bIns="0" rtlCol="0" anchor="t"/>
          <a:lstStyle/>
          <a:p>
            <a:pPr marL="0" indent="0">
              <a:spcAft>
                <a:spcPts val="1000"/>
              </a:spcAft>
              <a:buNone/>
            </a:pPr>
            <a:r>
              <a:rPr lang="en-US" sz="3600" b="1" dirty="0">
                <a:solidFill>
                  <a:schemeClr val="tx1"/>
                </a:solidFill>
              </a:rPr>
              <a:t>Kevin,</a:t>
            </a:r>
            <a:r>
              <a:rPr lang="en-US" sz="3600" b="1" dirty="0"/>
              <a:t> as you review text (you mentioned simplifying) aim to equalize the length. </a:t>
            </a:r>
            <a:r>
              <a:rPr lang="en-US" sz="2400" dirty="0">
                <a:solidFill>
                  <a:schemeClr val="tx1"/>
                </a:solidFill>
              </a:rPr>
              <a:t>Option A runs 4 lines. Option D runs 2. Simplify each one.</a:t>
            </a:r>
          </a:p>
          <a:p>
            <a:pPr marL="0" indent="0">
              <a:spcAft>
                <a:spcPts val="1000"/>
              </a:spcAft>
              <a:buNone/>
            </a:pPr>
            <a:r>
              <a:rPr lang="en-US" sz="2400" dirty="0"/>
              <a:t>SEE FOLLOWING SLIDE</a:t>
            </a:r>
            <a:endParaRPr lang="en-US" sz="3600" dirty="0"/>
          </a:p>
        </p:txBody>
      </p:sp>
      <p:sp>
        <p:nvSpPr>
          <p:cNvPr id="6" name="Arrow: Down 5">
            <a:extLst>
              <a:ext uri="{FF2B5EF4-FFF2-40B4-BE49-F238E27FC236}">
                <a16:creationId xmlns:a16="http://schemas.microsoft.com/office/drawing/2014/main" id="{547763DF-CEBE-33AB-7DB4-513685ACCEC3}"/>
              </a:ext>
            </a:extLst>
          </p:cNvPr>
          <p:cNvSpPr/>
          <p:nvPr/>
        </p:nvSpPr>
        <p:spPr>
          <a:xfrm>
            <a:off x="10814537" y="5319346"/>
            <a:ext cx="633047" cy="14243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B73B-CE4E-8F3E-E2FC-6A477594B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4E930-2482-AD38-519F-707A71F731F3}"/>
              </a:ext>
            </a:extLst>
          </p:cNvPr>
          <p:cNvSpPr>
            <a:spLocks noGrp="1"/>
          </p:cNvSpPr>
          <p:nvPr>
            <p:ph type="title" idx="100"/>
          </p:nvPr>
        </p:nvSpPr>
        <p:spPr>
          <a:xfrm>
            <a:off x="1417320" y="320040"/>
            <a:ext cx="10774680" cy="868680"/>
          </a:xfrm>
        </p:spPr>
        <p:txBody>
          <a:bodyPr/>
          <a:lstStyle/>
          <a:p>
            <a:r>
              <a:rPr lang="en-US" dirty="0"/>
              <a:t>Add CTO (Chief Technology? Talent? Officer)</a:t>
            </a:r>
          </a:p>
        </p:txBody>
      </p:sp>
      <p:sp>
        <p:nvSpPr>
          <p:cNvPr id="8" name="Number badge">
            <a:extLst>
              <a:ext uri="{FF2B5EF4-FFF2-40B4-BE49-F238E27FC236}">
                <a16:creationId xmlns:a16="http://schemas.microsoft.com/office/drawing/2014/main" id="{064713D5-6656-CB39-B3F3-27730636E132}"/>
              </a:ext>
            </a:extLst>
          </p:cNvPr>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JAH</a:t>
            </a:r>
            <a:endParaRPr lang="en-US" sz="2000" dirty="0"/>
          </a:p>
        </p:txBody>
      </p:sp>
      <p:pic>
        <p:nvPicPr>
          <p:cNvPr id="4" name="Picture 3" descr="An image showing a classroom or team meeting room with people at desks and a whiteboard, displaying a case study scenario about prioritizing initiatives for a company, with no agreed criteria and a time constraint.&#10;&#10;AI-generated content may be incorrect.">
            <a:extLst>
              <a:ext uri="{FF2B5EF4-FFF2-40B4-BE49-F238E27FC236}">
                <a16:creationId xmlns:a16="http://schemas.microsoft.com/office/drawing/2014/main" id="{D92EE603-BE12-09F6-2AA5-84BA72B60977}"/>
              </a:ext>
            </a:extLst>
          </p:cNvPr>
          <p:cNvPicPr>
            <a:picLocks noChangeAspect="1"/>
          </p:cNvPicPr>
          <p:nvPr/>
        </p:nvPicPr>
        <p:blipFill>
          <a:blip r:embed="rId2"/>
          <a:stretch>
            <a:fillRect/>
          </a:stretch>
        </p:blipFill>
        <p:spPr>
          <a:xfrm>
            <a:off x="51207" y="1532969"/>
            <a:ext cx="7281135" cy="2483076"/>
          </a:xfrm>
          <a:prstGeom prst="rect">
            <a:avLst/>
          </a:prstGeom>
        </p:spPr>
      </p:pic>
      <p:sp>
        <p:nvSpPr>
          <p:cNvPr id="7" name="Text 2">
            <a:extLst>
              <a:ext uri="{FF2B5EF4-FFF2-40B4-BE49-F238E27FC236}">
                <a16:creationId xmlns:a16="http://schemas.microsoft.com/office/drawing/2014/main" id="{E0D5D971-EB00-8902-2D73-12E4779316E5}"/>
              </a:ext>
            </a:extLst>
          </p:cNvPr>
          <p:cNvSpPr txBox="1"/>
          <p:nvPr/>
        </p:nvSpPr>
        <p:spPr>
          <a:xfrm>
            <a:off x="7863840" y="1645920"/>
            <a:ext cx="3840480" cy="4389120"/>
          </a:xfrm>
          <a:prstGeom prst="rect">
            <a:avLst/>
          </a:prstGeom>
          <a:noFill/>
          <a:ln/>
        </p:spPr>
        <p:txBody>
          <a:bodyPr wrap="square" lIns="0" tIns="0" rIns="0" bIns="0" rtlCol="0" anchor="t"/>
          <a:lstStyle/>
          <a:p>
            <a:pPr marL="0" indent="0">
              <a:spcAft>
                <a:spcPts val="1400"/>
              </a:spcAft>
              <a:buNone/>
            </a:pPr>
            <a:r>
              <a:rPr lang="en-US" sz="3600" b="1" dirty="0"/>
              <a:t>- Add full description of abbreviations </a:t>
            </a:r>
          </a:p>
          <a:p>
            <a:pPr marL="0" indent="0">
              <a:spcAft>
                <a:spcPts val="1400"/>
              </a:spcAft>
              <a:buNone/>
            </a:pPr>
            <a:r>
              <a:rPr lang="en-US" sz="3600" b="1" dirty="0"/>
              <a:t>- Will they have some understanding of “who” you’re supposed to be? </a:t>
            </a:r>
            <a:endParaRPr lang="en-US" sz="3600" dirty="0"/>
          </a:p>
        </p:txBody>
      </p:sp>
    </p:spTree>
    <p:extLst>
      <p:ext uri="{BB962C8B-B14F-4D97-AF65-F5344CB8AC3E}">
        <p14:creationId xmlns:p14="http://schemas.microsoft.com/office/powerpoint/2010/main" val="671989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9E22-F2EB-A6C0-C78D-0D464ECFEC76}"/>
              </a:ext>
            </a:extLst>
          </p:cNvPr>
          <p:cNvSpPr>
            <a:spLocks noGrp="1"/>
          </p:cNvSpPr>
          <p:nvPr>
            <p:ph type="title" idx="100"/>
          </p:nvPr>
        </p:nvSpPr>
        <p:spPr/>
        <p:txBody>
          <a:bodyPr/>
          <a:lstStyle/>
          <a:p>
            <a:r>
              <a:rPr lang="en-US" dirty="0"/>
              <a:t>In the feedback – “it takes longer than Option A”.. Let’s add the essence of Option A, so they don’t have to go back to Option A and check</a:t>
            </a:r>
          </a:p>
        </p:txBody>
      </p:sp>
      <p:pic>
        <p:nvPicPr>
          <p:cNvPr id="4" name="Picture 3" descr="A case study scenario describes how a team, led by Mia, successfully implemented a pilot with two teams to build an enterprise template, resulting in improved documentation and trust, and a successful rollout to all teams.&#10;&#10;AI-generated content may be incorrect.">
            <a:extLst>
              <a:ext uri="{FF2B5EF4-FFF2-40B4-BE49-F238E27FC236}">
                <a16:creationId xmlns:a16="http://schemas.microsoft.com/office/drawing/2014/main" id="{C6091348-07C8-B1A6-36D8-795B91A2757D}"/>
              </a:ext>
            </a:extLst>
          </p:cNvPr>
          <p:cNvPicPr>
            <a:picLocks noChangeAspect="1"/>
          </p:cNvPicPr>
          <p:nvPr/>
        </p:nvPicPr>
        <p:blipFill>
          <a:blip r:embed="rId2"/>
          <a:stretch>
            <a:fillRect/>
          </a:stretch>
        </p:blipFill>
        <p:spPr>
          <a:xfrm>
            <a:off x="117043" y="3277960"/>
            <a:ext cx="12192000" cy="2891660"/>
          </a:xfrm>
          <a:prstGeom prst="rect">
            <a:avLst/>
          </a:prstGeom>
        </p:spPr>
      </p:pic>
      <p:sp>
        <p:nvSpPr>
          <p:cNvPr id="6" name="Number badge">
            <a:extLst>
              <a:ext uri="{FF2B5EF4-FFF2-40B4-BE49-F238E27FC236}">
                <a16:creationId xmlns:a16="http://schemas.microsoft.com/office/drawing/2014/main" id="{A43F8952-B978-60F3-BB90-DBD857D475E9}"/>
              </a:ext>
            </a:extLst>
          </p:cNvPr>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JAH</a:t>
            </a:r>
            <a:endParaRPr lang="en-US" sz="2000" dirty="0"/>
          </a:p>
        </p:txBody>
      </p:sp>
    </p:spTree>
    <p:extLst>
      <p:ext uri="{BB962C8B-B14F-4D97-AF65-F5344CB8AC3E}">
        <p14:creationId xmlns:p14="http://schemas.microsoft.com/office/powerpoint/2010/main" val="3194041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0B0D-405E-F2AD-2A88-01A3EB7332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560521-10DC-051C-C6C6-0189B7D2E957}"/>
              </a:ext>
            </a:extLst>
          </p:cNvPr>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Remove em dashes throughout</a:t>
            </a:r>
            <a:endParaRPr lang="en-US" sz="4000" dirty="0"/>
          </a:p>
        </p:txBody>
      </p:sp>
      <p:sp>
        <p:nvSpPr>
          <p:cNvPr id="3" name="Number badge">
            <a:extLst>
              <a:ext uri="{FF2B5EF4-FFF2-40B4-BE49-F238E27FC236}">
                <a16:creationId xmlns:a16="http://schemas.microsoft.com/office/drawing/2014/main" id="{DE328437-6B8F-054B-4230-B16EE8D1592D}"/>
              </a:ext>
            </a:extLst>
          </p:cNvPr>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8</a:t>
            </a:r>
            <a:endParaRPr lang="en-US" sz="2800" dirty="0"/>
          </a:p>
        </p:txBody>
      </p:sp>
      <p:pic>
        <p:nvPicPr>
          <p:cNvPr id="4" name="Image 0" descr="Moment 4 scenario with several em dashes">
            <a:extLst>
              <a:ext uri="{FF2B5EF4-FFF2-40B4-BE49-F238E27FC236}">
                <a16:creationId xmlns:a16="http://schemas.microsoft.com/office/drawing/2014/main" id="{07748389-25B5-6ADB-4FE7-3E24162086B0}"/>
              </a:ext>
            </a:extLst>
          </p:cNvPr>
          <p:cNvPicPr>
            <a:picLocks noChangeAspect="1"/>
          </p:cNvPicPr>
          <p:nvPr/>
        </p:nvPicPr>
        <p:blipFill>
          <a:blip r:embed="rId3"/>
          <a:stretch>
            <a:fillRect/>
          </a:stretch>
        </p:blipFill>
        <p:spPr>
          <a:xfrm>
            <a:off x="548640" y="1554480"/>
            <a:ext cx="6949440" cy="4150134"/>
          </a:xfrm>
          <a:prstGeom prst="rect">
            <a:avLst/>
          </a:prstGeom>
          <a:effectLst>
            <a:outerShdw blurRad="127000" dist="38100" dir="5400000" algn="bl" rotWithShape="0">
              <a:srgbClr val="000000">
                <a:alpha val="28000"/>
              </a:srgbClr>
            </a:outerShdw>
          </a:effectLst>
        </p:spPr>
      </p:pic>
      <p:sp>
        <p:nvSpPr>
          <p:cNvPr id="5" name="Text 2">
            <a:extLst>
              <a:ext uri="{FF2B5EF4-FFF2-40B4-BE49-F238E27FC236}">
                <a16:creationId xmlns:a16="http://schemas.microsoft.com/office/drawing/2014/main" id="{0258E938-EDF1-FF4A-6589-43B1644486CA}"/>
              </a:ext>
            </a:extLst>
          </p:cNvPr>
          <p:cNvSpPr txBox="1"/>
          <p:nvPr/>
        </p:nvSpPr>
        <p:spPr>
          <a:xfrm>
            <a:off x="7863840" y="1645920"/>
            <a:ext cx="3840480" cy="4389120"/>
          </a:xfrm>
          <a:prstGeom prst="rect">
            <a:avLst/>
          </a:prstGeom>
          <a:noFill/>
          <a:ln/>
        </p:spPr>
        <p:txBody>
          <a:bodyPr wrap="square" lIns="0" tIns="0" rIns="0" bIns="0" rtlCol="0" anchor="t"/>
          <a:lstStyle/>
          <a:p>
            <a:pPr marL="0" indent="0">
              <a:spcAft>
                <a:spcPts val="1400"/>
              </a:spcAft>
              <a:buNone/>
            </a:pPr>
            <a:r>
              <a:rPr lang="en-US" sz="3600" b="1" dirty="0"/>
              <a:t>R</a:t>
            </a:r>
            <a:r>
              <a:rPr lang="en-US" sz="3600" b="1" dirty="0">
                <a:solidFill>
                  <a:schemeClr val="tx1"/>
                </a:solidFill>
              </a:rPr>
              <a:t>emove every em dash.</a:t>
            </a:r>
            <a:endParaRPr lang="en-US" sz="3600" dirty="0"/>
          </a:p>
          <a:p>
            <a:pPr marL="0" indent="0">
              <a:buNone/>
            </a:pPr>
            <a:r>
              <a:rPr lang="en-US" sz="2800" dirty="0">
                <a:solidFill>
                  <a:schemeClr val="tx1"/>
                </a:solidFill>
              </a:rPr>
              <a:t>They show up in the case study, scenarios, options, and feedback text.</a:t>
            </a:r>
          </a:p>
          <a:p>
            <a:pPr marL="0" indent="0">
              <a:buNone/>
            </a:pPr>
            <a:endParaRPr lang="en-US" sz="2800" dirty="0"/>
          </a:p>
          <a:p>
            <a:pPr marL="0" indent="0">
              <a:buNone/>
            </a:pPr>
            <a:r>
              <a:rPr lang="en-US" sz="2800" dirty="0">
                <a:highlight>
                  <a:srgbClr val="FFFF00"/>
                </a:highlight>
              </a:rPr>
              <a:t>Kevin agrees, but lets remove them from the case only, we can keep them in the options. </a:t>
            </a:r>
            <a:endParaRPr lang="en-US" sz="3600" dirty="0">
              <a:highlight>
                <a:srgbClr val="FFFF00"/>
              </a:highlight>
            </a:endParaRPr>
          </a:p>
        </p:txBody>
      </p:sp>
    </p:spTree>
    <p:extLst>
      <p:ext uri="{BB962C8B-B14F-4D97-AF65-F5344CB8AC3E}">
        <p14:creationId xmlns:p14="http://schemas.microsoft.com/office/powerpoint/2010/main" val="3440500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3B9DF-3FA7-BCEF-ADA2-488360794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83326-E30F-8DD3-C8D8-2A3DDCCABAB7}"/>
              </a:ext>
            </a:extLst>
          </p:cNvPr>
          <p:cNvSpPr>
            <a:spLocks noGrp="1"/>
          </p:cNvSpPr>
          <p:nvPr>
            <p:ph type="title" idx="100"/>
          </p:nvPr>
        </p:nvSpPr>
        <p:spPr>
          <a:xfrm>
            <a:off x="1417320" y="320040"/>
            <a:ext cx="10774680" cy="868680"/>
          </a:xfrm>
        </p:spPr>
        <p:txBody>
          <a:bodyPr/>
          <a:lstStyle/>
          <a:p>
            <a:r>
              <a:rPr lang="en-US" dirty="0"/>
              <a:t>Should the title of this page be something else? “Case Context” sounds a bit awkward</a:t>
            </a:r>
          </a:p>
        </p:txBody>
      </p:sp>
      <p:pic>
        <p:nvPicPr>
          <p:cNvPr id="6" name="Picture 5" descr="The image shows a document with a responsive layout, featuring a text description of the challenges faced by staffing and workforce solutions industry, including client demands for faster time-to-fill, lower bill rates, and advanced reporting and analytics.&#10;&#10;AI-generated content may be incorrect.">
            <a:extLst>
              <a:ext uri="{FF2B5EF4-FFF2-40B4-BE49-F238E27FC236}">
                <a16:creationId xmlns:a16="http://schemas.microsoft.com/office/drawing/2014/main" id="{7912B0A4-B5E5-AACF-7B9D-2739053B427A}"/>
              </a:ext>
            </a:extLst>
          </p:cNvPr>
          <p:cNvPicPr>
            <a:picLocks noChangeAspect="1"/>
          </p:cNvPicPr>
          <p:nvPr/>
        </p:nvPicPr>
        <p:blipFill>
          <a:blip r:embed="rId2"/>
          <a:stretch>
            <a:fillRect/>
          </a:stretch>
        </p:blipFill>
        <p:spPr>
          <a:xfrm>
            <a:off x="1417321" y="1915442"/>
            <a:ext cx="6369518" cy="4640472"/>
          </a:xfrm>
          <a:prstGeom prst="rect">
            <a:avLst/>
          </a:prstGeom>
        </p:spPr>
      </p:pic>
      <p:sp>
        <p:nvSpPr>
          <p:cNvPr id="8" name="Number badge">
            <a:extLst>
              <a:ext uri="{FF2B5EF4-FFF2-40B4-BE49-F238E27FC236}">
                <a16:creationId xmlns:a16="http://schemas.microsoft.com/office/drawing/2014/main" id="{5C962048-CE69-40C9-E22D-3D99D1C22134}"/>
              </a:ext>
            </a:extLst>
          </p:cNvPr>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JAH</a:t>
            </a:r>
            <a:endParaRPr lang="en-US" sz="2000" dirty="0"/>
          </a:p>
        </p:txBody>
      </p:sp>
      <p:sp>
        <p:nvSpPr>
          <p:cNvPr id="4" name="Text 2">
            <a:extLst>
              <a:ext uri="{FF2B5EF4-FFF2-40B4-BE49-F238E27FC236}">
                <a16:creationId xmlns:a16="http://schemas.microsoft.com/office/drawing/2014/main" id="{E3050EC3-5961-99F1-D8D0-7FE377550994}"/>
              </a:ext>
            </a:extLst>
          </p:cNvPr>
          <p:cNvSpPr txBox="1"/>
          <p:nvPr/>
        </p:nvSpPr>
        <p:spPr>
          <a:xfrm>
            <a:off x="7863840" y="1915442"/>
            <a:ext cx="4023360" cy="4119598"/>
          </a:xfrm>
          <a:prstGeom prst="rect">
            <a:avLst/>
          </a:prstGeom>
          <a:noFill/>
          <a:ln/>
        </p:spPr>
        <p:txBody>
          <a:bodyPr wrap="square" lIns="0" tIns="0" rIns="0" bIns="0" rtlCol="0" anchor="t"/>
          <a:lstStyle/>
          <a:p>
            <a:pPr marL="0" indent="0">
              <a:spcAft>
                <a:spcPts val="1400"/>
              </a:spcAft>
              <a:buNone/>
            </a:pPr>
            <a:r>
              <a:rPr lang="en-US" sz="3600" b="1" dirty="0"/>
              <a:t>New Title: </a:t>
            </a:r>
          </a:p>
          <a:p>
            <a:pPr marL="0" indent="0">
              <a:spcAft>
                <a:spcPts val="1400"/>
              </a:spcAft>
              <a:buNone/>
            </a:pPr>
            <a:endParaRPr lang="en-US" sz="3600" b="1" dirty="0">
              <a:highlight>
                <a:srgbClr val="FFFF00"/>
              </a:highlight>
            </a:endParaRPr>
          </a:p>
          <a:p>
            <a:pPr>
              <a:spcAft>
                <a:spcPts val="1400"/>
              </a:spcAft>
            </a:pPr>
            <a:r>
              <a:rPr lang="en-US" sz="3600" b="1" dirty="0">
                <a:highlight>
                  <a:srgbClr val="FFFF00"/>
                </a:highlight>
              </a:rPr>
              <a:t>Welcome to </a:t>
            </a:r>
            <a:r>
              <a:rPr lang="en-US" sz="3600" b="1" dirty="0">
                <a:solidFill>
                  <a:srgbClr val="111111"/>
                </a:solidFill>
                <a:highlight>
                  <a:srgbClr val="FFFF00"/>
                </a:highlight>
                <a:latin typeface="Tenorite"/>
              </a:rPr>
              <a:t>Meridian</a:t>
            </a:r>
            <a:endParaRPr lang="en-US" sz="3600" b="1" dirty="0">
              <a:highlight>
                <a:srgbClr val="FFFF00"/>
              </a:highlight>
            </a:endParaRPr>
          </a:p>
        </p:txBody>
      </p:sp>
    </p:spTree>
    <p:extLst>
      <p:ext uri="{BB962C8B-B14F-4D97-AF65-F5344CB8AC3E}">
        <p14:creationId xmlns:p14="http://schemas.microsoft.com/office/powerpoint/2010/main" val="3738992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B3B56-B5D8-6586-BCDC-9169C896FB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934FF8-F469-C0E4-68A3-2848E60DEDDE}"/>
              </a:ext>
            </a:extLst>
          </p:cNvPr>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New Text for Moment 1</a:t>
            </a:r>
            <a:endParaRPr lang="en-US" sz="4000" dirty="0"/>
          </a:p>
        </p:txBody>
      </p:sp>
      <p:sp>
        <p:nvSpPr>
          <p:cNvPr id="3" name="Number badge">
            <a:extLst>
              <a:ext uri="{FF2B5EF4-FFF2-40B4-BE49-F238E27FC236}">
                <a16:creationId xmlns:a16="http://schemas.microsoft.com/office/drawing/2014/main" id="{79A63741-4CF5-C800-B3C1-FAEC5A8F5834}"/>
              </a:ext>
            </a:extLst>
          </p:cNvPr>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7</a:t>
            </a:r>
            <a:endParaRPr lang="en-US" sz="2800" dirty="0"/>
          </a:p>
        </p:txBody>
      </p:sp>
      <p:pic>
        <p:nvPicPr>
          <p:cNvPr id="4" name="Image 0" descr="Moment 1 decision options">
            <a:extLst>
              <a:ext uri="{FF2B5EF4-FFF2-40B4-BE49-F238E27FC236}">
                <a16:creationId xmlns:a16="http://schemas.microsoft.com/office/drawing/2014/main" id="{9FE03614-2D05-25F6-AC21-E340E34F579E}"/>
              </a:ext>
            </a:extLst>
          </p:cNvPr>
          <p:cNvPicPr>
            <a:picLocks noChangeAspect="1"/>
          </p:cNvPicPr>
          <p:nvPr/>
        </p:nvPicPr>
        <p:blipFill>
          <a:blip r:embed="rId3"/>
          <a:stretch>
            <a:fillRect/>
          </a:stretch>
        </p:blipFill>
        <p:spPr>
          <a:xfrm>
            <a:off x="548640" y="1554480"/>
            <a:ext cx="2093058" cy="1267851"/>
          </a:xfrm>
          <a:prstGeom prst="rect">
            <a:avLst/>
          </a:prstGeom>
          <a:effectLst>
            <a:outerShdw blurRad="127000" dist="38100" dir="5400000" algn="bl" rotWithShape="0">
              <a:srgbClr val="000000">
                <a:alpha val="28000"/>
              </a:srgbClr>
            </a:outerShdw>
          </a:effectLst>
        </p:spPr>
      </p:pic>
      <p:sp>
        <p:nvSpPr>
          <p:cNvPr id="7" name="TextBox 6">
            <a:extLst>
              <a:ext uri="{FF2B5EF4-FFF2-40B4-BE49-F238E27FC236}">
                <a16:creationId xmlns:a16="http://schemas.microsoft.com/office/drawing/2014/main" id="{9AD473D1-5683-888E-0C21-B5200EFFE2D6}"/>
              </a:ext>
            </a:extLst>
          </p:cNvPr>
          <p:cNvSpPr txBox="1"/>
          <p:nvPr/>
        </p:nvSpPr>
        <p:spPr>
          <a:xfrm>
            <a:off x="2943225" y="1545496"/>
            <a:ext cx="8864844" cy="2585323"/>
          </a:xfrm>
          <a:prstGeom prst="rect">
            <a:avLst/>
          </a:prstGeom>
          <a:noFill/>
        </p:spPr>
        <p:txBody>
          <a:bodyPr wrap="square">
            <a:spAutoFit/>
          </a:bodyPr>
          <a:lstStyle/>
          <a:p>
            <a:r>
              <a:rPr lang="en-US" dirty="0"/>
              <a:t>Instead of making them shorter, I am going to expand option D on moment 1: </a:t>
            </a:r>
          </a:p>
          <a:p>
            <a:endParaRPr lang="en-US" b="1" dirty="0">
              <a:effectLst/>
            </a:endParaRPr>
          </a:p>
          <a:p>
            <a:r>
              <a:rPr lang="en-US" b="1" dirty="0">
                <a:highlight>
                  <a:srgbClr val="FFFF00"/>
                </a:highlight>
              </a:rPr>
              <a:t>New Text for D: </a:t>
            </a:r>
          </a:p>
          <a:p>
            <a:endParaRPr lang="en-US" dirty="0">
              <a:effectLst/>
            </a:endParaRPr>
          </a:p>
          <a:p>
            <a:r>
              <a:rPr lang="en-US" dirty="0"/>
              <a:t>You design a structured pitch process: each of the twelve teams gets five minutes to present to the same panel, made up of you, the CTO, and two business unit leaders, and each pitch is scored against the agreed criteria. After all twelve pitches, the panel identifies the top three. You tell the lobbying sponsor the process will speak for itself: if the initiative is as strong as they believe, it will earn its place.</a:t>
            </a:r>
            <a:endParaRPr lang="en-US" dirty="0">
              <a:effectLst/>
            </a:endParaRPr>
          </a:p>
        </p:txBody>
      </p:sp>
    </p:spTree>
    <p:extLst>
      <p:ext uri="{BB962C8B-B14F-4D97-AF65-F5344CB8AC3E}">
        <p14:creationId xmlns:p14="http://schemas.microsoft.com/office/powerpoint/2010/main" val="4077832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F92AB-4704-C291-A753-9CC4EAD3D76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6A047F-A29E-D58C-0622-648F7FD5D7E9}"/>
              </a:ext>
            </a:extLst>
          </p:cNvPr>
          <p:cNvSpPr>
            <a:spLocks noGrp="1"/>
          </p:cNvSpPr>
          <p:nvPr>
            <p:ph type="title" idx="100" hasCustomPrompt="1"/>
          </p:nvPr>
        </p:nvSpPr>
        <p:spPr>
          <a:xfrm>
            <a:off x="1417320" y="320040"/>
            <a:ext cx="10241280" cy="868680"/>
          </a:xfrm>
          <a:prstGeom prst="rect">
            <a:avLst/>
          </a:prstGeom>
          <a:noFill/>
          <a:ln/>
        </p:spPr>
        <p:txBody>
          <a:bodyPr wrap="square" lIns="0" tIns="0" rIns="0" bIns="0" rtlCol="0" anchor="ctr"/>
          <a:lstStyle/>
          <a:p>
            <a:pPr marL="0" indent="0" algn="l">
              <a:buNone/>
            </a:pPr>
            <a:r>
              <a:rPr lang="en-US" sz="4000" b="1" dirty="0">
                <a:solidFill>
                  <a:schemeClr val="tx1"/>
                </a:solidFill>
                <a:latin typeface="Calibri" pitchFamily="34" charset="0"/>
                <a:ea typeface="Calibri" pitchFamily="34" charset="-122"/>
                <a:cs typeface="Calibri" pitchFamily="34" charset="-120"/>
              </a:rPr>
              <a:t>Remove em dashes throughout</a:t>
            </a:r>
            <a:endParaRPr lang="en-US" sz="4000" dirty="0"/>
          </a:p>
        </p:txBody>
      </p:sp>
      <p:sp>
        <p:nvSpPr>
          <p:cNvPr id="3" name="Number badge">
            <a:extLst>
              <a:ext uri="{FF2B5EF4-FFF2-40B4-BE49-F238E27FC236}">
                <a16:creationId xmlns:a16="http://schemas.microsoft.com/office/drawing/2014/main" id="{9C2D1DBD-EE58-BA07-6AC5-3E734356176A}"/>
              </a:ext>
            </a:extLst>
          </p:cNvPr>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8</a:t>
            </a:r>
            <a:endParaRPr lang="en-US" sz="2800" dirty="0"/>
          </a:p>
        </p:txBody>
      </p:sp>
      <p:pic>
        <p:nvPicPr>
          <p:cNvPr id="4" name="Image 0" descr="Moment 4 scenario with several em dashes">
            <a:extLst>
              <a:ext uri="{FF2B5EF4-FFF2-40B4-BE49-F238E27FC236}">
                <a16:creationId xmlns:a16="http://schemas.microsoft.com/office/drawing/2014/main" id="{C22C9D5A-1BB2-C10C-5BCF-CF5A3989670C}"/>
              </a:ext>
            </a:extLst>
          </p:cNvPr>
          <p:cNvPicPr>
            <a:picLocks noChangeAspect="1"/>
          </p:cNvPicPr>
          <p:nvPr/>
        </p:nvPicPr>
        <p:blipFill>
          <a:blip r:embed="rId3"/>
          <a:stretch>
            <a:fillRect/>
          </a:stretch>
        </p:blipFill>
        <p:spPr>
          <a:xfrm>
            <a:off x="548640" y="1554480"/>
            <a:ext cx="6949440" cy="4150134"/>
          </a:xfrm>
          <a:prstGeom prst="rect">
            <a:avLst/>
          </a:prstGeom>
          <a:effectLst>
            <a:outerShdw blurRad="127000" dist="38100" dir="5400000" algn="bl" rotWithShape="0">
              <a:srgbClr val="000000">
                <a:alpha val="28000"/>
              </a:srgbClr>
            </a:outerShdw>
          </a:effectLst>
        </p:spPr>
      </p:pic>
      <p:sp>
        <p:nvSpPr>
          <p:cNvPr id="5" name="Text 2">
            <a:extLst>
              <a:ext uri="{FF2B5EF4-FFF2-40B4-BE49-F238E27FC236}">
                <a16:creationId xmlns:a16="http://schemas.microsoft.com/office/drawing/2014/main" id="{07F774CE-70C2-5890-39CD-84A29980BF5C}"/>
              </a:ext>
            </a:extLst>
          </p:cNvPr>
          <p:cNvSpPr txBox="1"/>
          <p:nvPr/>
        </p:nvSpPr>
        <p:spPr>
          <a:xfrm>
            <a:off x="7863840" y="1645920"/>
            <a:ext cx="3840480" cy="4389120"/>
          </a:xfrm>
          <a:prstGeom prst="rect">
            <a:avLst/>
          </a:prstGeom>
          <a:noFill/>
          <a:ln/>
        </p:spPr>
        <p:txBody>
          <a:bodyPr wrap="square" lIns="0" tIns="0" rIns="0" bIns="0" rtlCol="0" anchor="t"/>
          <a:lstStyle/>
          <a:p>
            <a:pPr marL="0" indent="0">
              <a:spcAft>
                <a:spcPts val="1400"/>
              </a:spcAft>
              <a:buNone/>
            </a:pPr>
            <a:r>
              <a:rPr lang="en-US" sz="3600" b="1" dirty="0"/>
              <a:t>R</a:t>
            </a:r>
            <a:r>
              <a:rPr lang="en-US" sz="3600" b="1" dirty="0">
                <a:solidFill>
                  <a:schemeClr val="tx1"/>
                </a:solidFill>
              </a:rPr>
              <a:t>emove every em dash.</a:t>
            </a:r>
            <a:endParaRPr lang="en-US" sz="3600" dirty="0"/>
          </a:p>
          <a:p>
            <a:pPr marL="0" indent="0">
              <a:buNone/>
            </a:pPr>
            <a:r>
              <a:rPr lang="en-US" sz="2800" dirty="0">
                <a:solidFill>
                  <a:schemeClr val="tx1"/>
                </a:solidFill>
              </a:rPr>
              <a:t>They show up in the case study, scenarios, options, and feedback text.</a:t>
            </a:r>
          </a:p>
          <a:p>
            <a:pPr marL="0" indent="0">
              <a:buNone/>
            </a:pPr>
            <a:endParaRPr lang="en-US" sz="2800" dirty="0"/>
          </a:p>
          <a:p>
            <a:pPr marL="0" indent="0">
              <a:buNone/>
            </a:pPr>
            <a:r>
              <a:rPr lang="en-US" sz="2800" dirty="0">
                <a:highlight>
                  <a:srgbClr val="FFFF00"/>
                </a:highlight>
              </a:rPr>
              <a:t>Kevin agrees, but lets remove them from the case only, we can keep them in the options. </a:t>
            </a:r>
            <a:endParaRPr lang="en-US" sz="3600" dirty="0">
              <a:highlight>
                <a:srgbClr val="FFFF00"/>
              </a:highlight>
            </a:endParaRPr>
          </a:p>
        </p:txBody>
      </p:sp>
    </p:spTree>
    <p:extLst>
      <p:ext uri="{BB962C8B-B14F-4D97-AF65-F5344CB8AC3E}">
        <p14:creationId xmlns:p14="http://schemas.microsoft.com/office/powerpoint/2010/main" val="3897926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FBFA4-7E41-0F5C-2DEB-7FE79E73D6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DBDD8-2B30-AC8F-50A7-6E8F3291C22E}"/>
              </a:ext>
            </a:extLst>
          </p:cNvPr>
          <p:cNvSpPr>
            <a:spLocks noGrp="1"/>
          </p:cNvSpPr>
          <p:nvPr>
            <p:ph type="title" idx="100"/>
          </p:nvPr>
        </p:nvSpPr>
        <p:spPr>
          <a:xfrm>
            <a:off x="1417320" y="320040"/>
            <a:ext cx="10774680" cy="868680"/>
          </a:xfrm>
        </p:spPr>
        <p:txBody>
          <a:bodyPr/>
          <a:lstStyle/>
          <a:p>
            <a:r>
              <a:rPr lang="en-US" dirty="0"/>
              <a:t>Add CTO (Chief Technology? Talent? Officer)</a:t>
            </a:r>
          </a:p>
        </p:txBody>
      </p:sp>
      <p:sp>
        <p:nvSpPr>
          <p:cNvPr id="8" name="Number badge">
            <a:extLst>
              <a:ext uri="{FF2B5EF4-FFF2-40B4-BE49-F238E27FC236}">
                <a16:creationId xmlns:a16="http://schemas.microsoft.com/office/drawing/2014/main" id="{FBF18147-FC3F-1807-E869-88F15D68C486}"/>
              </a:ext>
            </a:extLst>
          </p:cNvPr>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JAH</a:t>
            </a:r>
            <a:endParaRPr lang="en-US" sz="2000" dirty="0"/>
          </a:p>
        </p:txBody>
      </p:sp>
      <p:pic>
        <p:nvPicPr>
          <p:cNvPr id="4" name="Picture 3" descr="An image showing a classroom or team meeting room with people at desks and a whiteboard, displaying a case study scenario about prioritizing initiatives for a company, with no agreed criteria and a time constraint.&#10;&#10;AI-generated content may be incorrect.">
            <a:extLst>
              <a:ext uri="{FF2B5EF4-FFF2-40B4-BE49-F238E27FC236}">
                <a16:creationId xmlns:a16="http://schemas.microsoft.com/office/drawing/2014/main" id="{DD3B5F66-F6A1-0661-BEB9-D31629C61558}"/>
              </a:ext>
            </a:extLst>
          </p:cNvPr>
          <p:cNvPicPr>
            <a:picLocks noChangeAspect="1"/>
          </p:cNvPicPr>
          <p:nvPr/>
        </p:nvPicPr>
        <p:blipFill>
          <a:blip r:embed="rId2"/>
          <a:stretch>
            <a:fillRect/>
          </a:stretch>
        </p:blipFill>
        <p:spPr>
          <a:xfrm>
            <a:off x="487680" y="1272814"/>
            <a:ext cx="2788708" cy="951029"/>
          </a:xfrm>
          <a:prstGeom prst="rect">
            <a:avLst/>
          </a:prstGeom>
        </p:spPr>
      </p:pic>
      <p:sp>
        <p:nvSpPr>
          <p:cNvPr id="5" name="This is a block of copy, the character style is called Left Rail Body Copy which can be found under the font tab in the Keynote toolbar located on the right under the format menu item.">
            <a:extLst>
              <a:ext uri="{FF2B5EF4-FFF2-40B4-BE49-F238E27FC236}">
                <a16:creationId xmlns:a16="http://schemas.microsoft.com/office/drawing/2014/main" id="{279DBE75-1266-B684-4A5F-07EC1A23A426}"/>
              </a:ext>
            </a:extLst>
          </p:cNvPr>
          <p:cNvSpPr txBox="1"/>
          <p:nvPr/>
        </p:nvSpPr>
        <p:spPr>
          <a:xfrm>
            <a:off x="443126" y="2411819"/>
            <a:ext cx="11382527" cy="2616101"/>
          </a:xfrm>
          <a:prstGeom prst="rect">
            <a:avLst/>
          </a:prstGeom>
          <a:noFill/>
          <a:ln>
            <a:noFill/>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vert="horz" wrap="square" lIns="0" tIns="0" rIns="0" bIns="0" rtlCol="0" anchor="t" anchorCtr="0">
            <a:spAutoFit/>
          </a:bodyPr>
          <a:lstStyle>
            <a:defPPr>
              <a:defRPr lang="en-US"/>
            </a:defPPr>
            <a:lvl1pPr>
              <a:lnSpc>
                <a:spcPct val="120000"/>
              </a:lnSpc>
              <a:spcAft>
                <a:spcPts val="600"/>
              </a:spcAft>
              <a:defRPr sz="1100">
                <a:ea typeface="Helvetica Neue" panose="02000503000000020004" pitchFamily="2" charset="0"/>
                <a:cs typeface="Helvetica Neue" panose="0200050300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highlight>
                  <a:srgbClr val="FFFF00"/>
                </a:highlight>
                <a:uLnTx/>
                <a:uFillTx/>
                <a:latin typeface="Tenorite"/>
              </a:rPr>
              <a:t>New Text for Moment 1: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11111"/>
              </a:solidFill>
              <a:effectLst/>
              <a:highlight>
                <a:srgbClr val="FFFF00"/>
              </a:highligh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highlight>
                  <a:srgbClr val="FFFF00"/>
                </a:highlight>
                <a:uLnTx/>
                <a:uFillTx/>
                <a:latin typeface="Tenorite"/>
              </a:rPr>
              <a:t>The Chief Technology Officer has asked you to lead Meridian's AI prioritization process and bring a recommended portfolio of three funded initiatives to the executive team in four weeks. A cross-functional working group has surfaced twelve use cases spanning recruiting, managed delivery, finance, HR, and IT. Each has a business sponsor, and several already have internal decks built in their favor.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dirty="0">
              <a:solidFill>
                <a:srgbClr val="111111"/>
              </a:solidFill>
              <a:highlight>
                <a:srgbClr val="FFFF00"/>
              </a:highlight>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highlight>
                  <a:srgbClr val="FFFF00"/>
                </a:highlight>
                <a:uLnTx/>
                <a:uFillTx/>
                <a:latin typeface="Tenorite"/>
              </a:rPr>
              <a:t>The problem: no agreed framework for deciding. Every sponsor believes their use case should be in the top three. Two of the twelve share an executive sponsor who expects both to move forward. The working group session ended with no shared sense of how to evaluate options. One sponsor stayed behind: "I've been told this is the highest-value initiative in the portfolio. If it's not in the top three, I need to understand why." You have four weeks, no agreed criteria, and a strong personal view on which three cases are the real bets.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111111"/>
              </a:solidFill>
              <a:effectLst/>
              <a:highlight>
                <a:srgbClr val="FFFF00"/>
              </a:highlight>
              <a:uLnTx/>
              <a:uFillTx/>
              <a:latin typeface="Tenorite"/>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11111"/>
                </a:solidFill>
                <a:effectLst/>
                <a:highlight>
                  <a:srgbClr val="FFFF00"/>
                </a:highlight>
                <a:uLnTx/>
                <a:uFillTx/>
                <a:latin typeface="Tenorite"/>
              </a:rPr>
              <a:t>What do you do?</a:t>
            </a:r>
          </a:p>
        </p:txBody>
      </p:sp>
    </p:spTree>
    <p:extLst>
      <p:ext uri="{BB962C8B-B14F-4D97-AF65-F5344CB8AC3E}">
        <p14:creationId xmlns:p14="http://schemas.microsoft.com/office/powerpoint/2010/main" val="1666712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29854-EDC6-9A55-63B0-DBAE9C7E9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ABDF0-8286-891B-07F3-8F859805CD12}"/>
              </a:ext>
            </a:extLst>
          </p:cNvPr>
          <p:cNvSpPr>
            <a:spLocks noGrp="1"/>
          </p:cNvSpPr>
          <p:nvPr>
            <p:ph type="title" idx="100"/>
          </p:nvPr>
        </p:nvSpPr>
        <p:spPr/>
        <p:txBody>
          <a:bodyPr/>
          <a:lstStyle/>
          <a:p>
            <a:r>
              <a:rPr lang="en-US" sz="1800" dirty="0">
                <a:highlight>
                  <a:srgbClr val="FFFF00"/>
                </a:highlight>
              </a:rPr>
              <a:t>New Text for Option B Outcome: </a:t>
            </a:r>
            <a:br>
              <a:rPr lang="en-US" sz="1800" dirty="0">
                <a:highlight>
                  <a:srgbClr val="FFFF00"/>
                </a:highlight>
              </a:rPr>
            </a:br>
            <a:br>
              <a:rPr lang="en-US" sz="1800" dirty="0">
                <a:highlight>
                  <a:srgbClr val="FFFF00"/>
                </a:highlight>
              </a:rPr>
            </a:br>
            <a:r>
              <a:rPr lang="en-US" sz="1800" dirty="0">
                <a:highlight>
                  <a:srgbClr val="FFFF00"/>
                </a:highlight>
              </a:rPr>
              <a:t>There is pushback on the timeline, but you hold the position: scaling without documentation fragments the knowledge that made the breakthrough possible and produces inconsistent results across teams. Two pilot teams are selected. Mia co-facilitates the onboarding, and documentation is built in real time as edge cases surface. Six weeks later, the enterprise template is solid and the rollout to the remaining six teams goes cleanly. It takes longer up front, but the result is replicable, measurable, and compounds over time.</a:t>
            </a:r>
          </a:p>
        </p:txBody>
      </p:sp>
      <p:pic>
        <p:nvPicPr>
          <p:cNvPr id="4" name="Picture 3" descr="A case study scenario describes how a team, led by Mia, successfully implemented a pilot with two teams to build an enterprise template, resulting in improved documentation and trust, and a successful rollout to all teams.&#10;&#10;AI-generated content may be incorrect.">
            <a:extLst>
              <a:ext uri="{FF2B5EF4-FFF2-40B4-BE49-F238E27FC236}">
                <a16:creationId xmlns:a16="http://schemas.microsoft.com/office/drawing/2014/main" id="{D721BE70-3598-E0BD-30E2-55360B77D037}"/>
              </a:ext>
            </a:extLst>
          </p:cNvPr>
          <p:cNvPicPr>
            <a:picLocks noChangeAspect="1"/>
          </p:cNvPicPr>
          <p:nvPr/>
        </p:nvPicPr>
        <p:blipFill>
          <a:blip r:embed="rId2"/>
          <a:stretch>
            <a:fillRect/>
          </a:stretch>
        </p:blipFill>
        <p:spPr>
          <a:xfrm>
            <a:off x="117043" y="3277960"/>
            <a:ext cx="12192000" cy="2891660"/>
          </a:xfrm>
          <a:prstGeom prst="rect">
            <a:avLst/>
          </a:prstGeom>
        </p:spPr>
      </p:pic>
      <p:sp>
        <p:nvSpPr>
          <p:cNvPr id="6" name="Number badge">
            <a:extLst>
              <a:ext uri="{FF2B5EF4-FFF2-40B4-BE49-F238E27FC236}">
                <a16:creationId xmlns:a16="http://schemas.microsoft.com/office/drawing/2014/main" id="{A8433E10-81C6-8A4D-8A6B-FB39E82D0E3E}"/>
              </a:ext>
            </a:extLst>
          </p:cNvPr>
          <p:cNvSpPr txBox="1"/>
          <p:nvPr/>
        </p:nvSpPr>
        <p:spPr>
          <a:xfrm>
            <a:off x="548640" y="429768"/>
            <a:ext cx="685800" cy="685800"/>
          </a:xfrm>
          <a:prstGeom prst="ellipse">
            <a:avLst/>
          </a:prstGeom>
          <a:solidFill>
            <a:schemeClr val="accent1"/>
          </a:solidFill>
          <a:ln/>
        </p:spPr>
        <p:txBody>
          <a:bodyPr wrap="square" lIns="0" tIns="0" rIns="0" bIns="0" rtlCol="0" anchor="ctr"/>
          <a:lstStyle/>
          <a:p>
            <a:pPr marL="0" indent="0" algn="ctr">
              <a:buNone/>
            </a:pPr>
            <a:r>
              <a:rPr lang="en-US" sz="2000" b="1" dirty="0">
                <a:solidFill>
                  <a:schemeClr val="tx1"/>
                </a:solidFill>
              </a:rPr>
              <a:t>JAH</a:t>
            </a:r>
            <a:endParaRPr lang="en-US" sz="2000" dirty="0"/>
          </a:p>
        </p:txBody>
      </p:sp>
    </p:spTree>
    <p:extLst>
      <p:ext uri="{BB962C8B-B14F-4D97-AF65-F5344CB8AC3E}">
        <p14:creationId xmlns:p14="http://schemas.microsoft.com/office/powerpoint/2010/main" val="3886689484"/>
      </p:ext>
    </p:extLst>
  </p:cSld>
  <p:clrMapOvr>
    <a:masterClrMapping/>
  </p:clrMapOvr>
</p:sld>
</file>

<file path=ppt/theme/theme1.xml><?xml version="1.0" encoding="utf-8"?>
<a:theme xmlns:a="http://schemas.openxmlformats.org/drawingml/2006/main" name="Allegis Sim Feedback">
  <a:themeElements>
    <a:clrScheme name="Allegis Sim Feedback">
      <a:dk1>
        <a:srgbClr val="051A33"/>
      </a:dk1>
      <a:lt1>
        <a:srgbClr val="FFFFFF"/>
      </a:lt1>
      <a:dk2>
        <a:srgbClr val="0B3A66"/>
      </a:dk2>
      <a:lt2>
        <a:srgbClr val="EAF4FA"/>
      </a:lt2>
      <a:accent1>
        <a:srgbClr val="FFB93B"/>
      </a:accent1>
      <a:accent2>
        <a:srgbClr val="2E75B6"/>
      </a:accent2>
      <a:accent3>
        <a:srgbClr val="8FD0EA"/>
      </a:accent3>
      <a:accent4>
        <a:srgbClr val="2E9E5B"/>
      </a:accent4>
      <a:accent5>
        <a:srgbClr val="C0392B"/>
      </a:accent5>
      <a:accent6>
        <a:srgbClr val="6B7A8F"/>
      </a:accent6>
      <a:hlink>
        <a:srgbClr val="2E75B6"/>
      </a:hlink>
      <a:folHlink>
        <a:srgbClr val="6B7A8F"/>
      </a:folHlink>
    </a:clrScheme>
    <a:fontScheme name="Allegis Sim Feedba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463</TotalTime>
  <Words>1700</Words>
  <Application>Microsoft Office PowerPoint</Application>
  <PresentationFormat>Widescreen</PresentationFormat>
  <Paragraphs>137</Paragraphs>
  <Slides>25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Tenorite</vt:lpstr>
      <vt:lpstr>Allegis Sim Feedback</vt:lpstr>
      <vt:lpstr>Digital Sim Feedback</vt:lpstr>
      <vt:lpstr>Change “Case Context” to “Welcome to Meridian”</vt:lpstr>
      <vt:lpstr>Remove em dashes from the case study and scenario text throughout the sim. We can keep them in the options and feedback.</vt:lpstr>
      <vt:lpstr>Update M1 text to the following:</vt:lpstr>
      <vt:lpstr>Update Moment 1 Option-D to the following text.</vt:lpstr>
      <vt:lpstr>Update M3 Option-B feedback text to the following</vt:lpstr>
      <vt:lpstr>Tested with iPad resolution – is this the right view?</vt:lpstr>
      <vt:lpstr>Make everything bigger</vt:lpstr>
      <vt:lpstr>Team name page: much, much bigger</vt:lpstr>
      <vt:lpstr>After submit: add a thank-you message</vt:lpstr>
      <vt:lpstr>Case study: break up the wall of text</vt:lpstr>
      <vt:lpstr>Moment scenarios: add an image to each</vt:lpstr>
      <vt:lpstr>Example ideas for moment images</vt:lpstr>
      <vt:lpstr>Submit and Saved buttons: change color</vt:lpstr>
      <vt:lpstr>Add the split-screen look elsewhere</vt:lpstr>
      <vt:lpstr>DEV TEAM </vt:lpstr>
      <vt:lpstr>For Kevin: equalize the Moment text</vt:lpstr>
      <vt:lpstr>Add CTO (Chief Technology? Talent? Officer)</vt:lpstr>
      <vt:lpstr>In the feedback – “it takes longer than Option A”.. Let’s add the essence of Option A, so they don’t have to go back to Option A and check</vt:lpstr>
      <vt:lpstr>Remove em dashes throughout</vt:lpstr>
      <vt:lpstr>Should the title of this page be something else? “Case Context” sounds a bit awkward</vt:lpstr>
      <vt:lpstr>New Text for Moment 1</vt:lpstr>
      <vt:lpstr>Remove em dashes throughout</vt:lpstr>
      <vt:lpstr>Add CTO (Chief Technology? Talent? Officer)</vt:lpstr>
      <vt:lpstr>New Text for Option B Outcome:   There is pushback on the timeline, but you hold the position: scaling without documentation fragments the knowledge that made the breakthrough possible and produces inconsistent results across teams. Two pilot teams are selected. Mia co-facilitates the onboarding, and documentation is built in real time as edge cases surface. Six weeks later, the enterprise template is solid and the rollout to the remaining six teams goes cleanly. It takes longer up front, but the result is replicable, measurable, and compounds over time.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Sim Feedback</dc:title>
  <dc:subject>PptxGenJS Presentation</dc:subject>
  <dc:creator>BTS</dc:creator>
  <cp:lastModifiedBy>Rahul Bhalekar</cp:lastModifiedBy>
  <cp:revision>35</cp:revision>
  <dcterms:created xsi:type="dcterms:W3CDTF">2026-10-12T23:10:30Z</dcterms:created>
  <dcterms:modified xsi:type="dcterms:W3CDTF">2026-10-15T06:27:38Z</dcterms:modified>
</cp:coreProperties>
</file>