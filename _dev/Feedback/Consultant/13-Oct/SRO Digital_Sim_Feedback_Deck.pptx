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7" r:id="rId8"/>
    <p:sldId id="262" r:id="rId9"/>
    <p:sldId id="265" r:id="rId10"/>
    <p:sldId id="266" r:id="rId11"/>
    <p:sldId id="263" r:id="rId12"/>
    <p:sldId id="264"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B1CEA573-440F-4BF8-3DB3-538290D66EE1}">
          <p14:sldIdLst>
            <p14:sldId id="256"/>
          </p14:sldIdLst>
        </p14:section>
        <p14:section name="Feedback" id="{BDE9679B-52D9-B44C-ED0F-04605F7832B7}">
          <p14:sldIdLst>
            <p14:sldId id="257"/>
            <p14:sldId id="258"/>
            <p14:sldId id="259"/>
            <p14:sldId id="260"/>
            <p14:sldId id="261"/>
            <p14:sldId id="267"/>
            <p14:sldId id="262"/>
            <p14:sldId id="265"/>
          </p14:sldIdLst>
        </p14:section>
        <p14:section name="FOR DEV TEAM" id="{BC95F96B-1602-3253-29DA-873B0D30F489}">
          <p14:sldIdLst>
            <p14:sldId id="266"/>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4713" autoAdjust="0"/>
    <p:restoredTop sz="94610"/>
  </p:normalViewPr>
  <p:slideViewPr>
    <p:cSldViewPr snapToGrid="0" snapToObjects="1">
      <p:cViewPr varScale="1">
        <p:scale>
          <a:sx n="63" d="100"/>
          <a:sy n="63" d="100"/>
        </p:scale>
        <p:origin x="43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825615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on the digital sim build. Every screenshot after slide 2 was taken at the zoomed size.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screenshots show the same page. The second was taken with browser zoom increased. All later screenshots use the zoomed size.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generated image is shared in chat. Drop it into the placeholder on the right. The first two images we saw only showed women, so this one should mix men and women.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Saved button already reads Saved before anything is saved on the team name page. A color change would help, and the label may need to change too.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1DE6C5-F787-7ABA-1D57-C3749F19DC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419A68-001A-84D3-F618-58402F34DE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328721-F0CB-0A71-C6C9-0BAA52CECF8E}"/>
              </a:ext>
            </a:extLst>
          </p:cNvPr>
          <p:cNvSpPr>
            <a:spLocks noGrp="1"/>
          </p:cNvSpPr>
          <p:nvPr>
            <p:ph type="body" idx="1"/>
          </p:nvPr>
        </p:nvSpPr>
        <p:spPr/>
        <p:txBody>
          <a:bodyPr/>
          <a:lstStyle/>
          <a:p>
            <a:r>
              <a:rPr lang="en-US" dirty="0"/>
              <a:t>Feedback on the digital sim build. Every screenshot after slide 2 was taken at the zoomed size.</a:t>
            </a:r>
          </a:p>
        </p:txBody>
      </p:sp>
      <p:sp>
        <p:nvSpPr>
          <p:cNvPr id="4" name="Slide Number Placeholder 3">
            <a:extLst>
              <a:ext uri="{FF2B5EF4-FFF2-40B4-BE49-F238E27FC236}">
                <a16:creationId xmlns:a16="http://schemas.microsoft.com/office/drawing/2014/main" id="{1F135C98-2EF4-8C82-240B-F73E87F424E6}"/>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6653390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know you were already planning to simplify the options. This is just the written note.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417320" y="320040"/>
            <a:ext cx="10241280" cy="868680"/>
          </a:xfrm>
          <a:prstGeom prst="rect">
            <a:avLst/>
          </a:prstGeom>
          <a:noFill/>
          <a:ln/>
        </p:spPr>
        <p:txBody>
          <a:bodyPr wrap="square" rtlCol="0"/>
          <a:lstStyle>
            <a:lvl1pPr marL="0" indent="0" algn="l">
              <a:buNone/>
              <a:defRPr lang="en-US" sz="4000" b="1" dirty="0">
                <a:solidFill>
                  <a:schemeClr val="tx1"/>
                </a:solidFill>
                <a:latin typeface="Calibri" pitchFamily="34" charset="0"/>
                <a:ea typeface="Calibri" pitchFamily="34" charset="-122"/>
                <a:cs typeface="Calibri" pitchFamily="34" charset="-120"/>
              </a:defRPr>
            </a:lvl1pPr>
          </a:lstStyle>
          <a:p>
            <a:pPr marL="0" indent="0" algn="l">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51A33"/>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320040"/>
            <a:ext cx="10698480" cy="868680"/>
          </a:xfrm>
          <a:prstGeom prst="rect">
            <a:avLst/>
          </a:prstGeom>
          <a:noFill/>
          <a:ln/>
        </p:spPr>
        <p:txBody>
          <a:bodyPr wrap="square" rtlCol="0"/>
          <a:lstStyle>
            <a:lvl1pPr marL="0" indent="0" algn="l">
              <a:buNone/>
              <a:defRPr lang="en-US" sz="4000" b="1" dirty="0">
                <a:solidFill>
                  <a:schemeClr val="bg1"/>
                </a:solidFill>
                <a:latin typeface="Calibri" pitchFamily="34" charset="0"/>
                <a:ea typeface="Calibri" pitchFamily="34" charset="-122"/>
                <a:cs typeface="Calibri" pitchFamily="34" charset="-120"/>
              </a:defRPr>
            </a:lvl1pPr>
          </a:lstStyle>
          <a:p>
            <a:pPr marL="0" indent="0" algn="l">
              <a:buNone/>
            </a:pPr>
            <a:endParaRPr lang="en-US" sz="4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PAGE">
    <p:bg>
      <p:bgPr>
        <a:solidFill>
          <a:srgbClr val="051A33"/>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011680"/>
            <a:ext cx="10515600" cy="1371600"/>
          </a:xfrm>
          <a:prstGeom prst="rect">
            <a:avLst/>
          </a:prstGeom>
          <a:noFill/>
          <a:ln/>
        </p:spPr>
        <p:txBody>
          <a:bodyPr wrap="square" rtlCol="0"/>
          <a:lstStyle>
            <a:lvl1pPr marL="0" indent="0" algn="l">
              <a:buNone/>
              <a:defRPr lang="en-US" sz="6600" b="1" dirty="0">
                <a:solidFill>
                  <a:schemeClr val="bg1"/>
                </a:solidFill>
                <a:latin typeface="Calibri" pitchFamily="34" charset="0"/>
                <a:ea typeface="Calibri" pitchFamily="34" charset="-122"/>
                <a:cs typeface="Calibri" pitchFamily="34" charset="-120"/>
              </a:defRPr>
            </a:lvl1pPr>
          </a:lstStyle>
          <a:p>
            <a:pPr marL="0" indent="0" algn="l">
              <a:buNone/>
            </a:pPr>
            <a:endParaRPr lang="en-US" sz="6600" dirty="0"/>
          </a:p>
        </p:txBody>
      </p:sp>
      <p:sp>
        <p:nvSpPr>
          <p:cNvPr id="3" name="Text 0"/>
          <p:cNvSpPr>
            <a:spLocks noGrp="1"/>
          </p:cNvSpPr>
          <p:nvPr>
            <p:ph type="body" idx="101" hasCustomPrompt="1"/>
          </p:nvPr>
        </p:nvSpPr>
        <p:spPr>
          <a:xfrm>
            <a:off x="822960" y="3566160"/>
            <a:ext cx="10515600" cy="1097280"/>
          </a:xfrm>
          <a:prstGeom prst="rect">
            <a:avLst/>
          </a:prstGeom>
          <a:noFill/>
          <a:ln/>
        </p:spPr>
        <p:txBody>
          <a:bodyPr wrap="square" rtlCol="0"/>
          <a:lstStyle>
            <a:lvl1pPr marL="0" indent="0" algn="l">
              <a:buNone/>
              <a:defRPr lang="en-US" sz="3000" dirty="0">
                <a:solidFill>
                  <a:schemeClr val="accent3"/>
                </a:solidFill>
                <a:latin typeface="Calibri" pitchFamily="34" charset="0"/>
                <a:ea typeface="Calibri" pitchFamily="34" charset="-122"/>
                <a:cs typeface="Calibri" pitchFamily="34" charset="-120"/>
              </a:defRPr>
            </a:lvl1pPr>
          </a:lstStyle>
          <a:p>
            <a:pPr marL="0" indent="0" algn="l">
              <a:buNone/>
            </a:pPr>
            <a:endParaRPr lang="en-US" sz="30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011680"/>
            <a:ext cx="10515600" cy="1371600"/>
          </a:xfrm>
          <a:prstGeom prst="rect">
            <a:avLst/>
          </a:prstGeom>
          <a:noFill/>
          <a:ln/>
        </p:spPr>
        <p:txBody>
          <a:bodyPr wrap="square" lIns="0" tIns="0" rIns="0" bIns="0" rtlCol="0" anchor="b"/>
          <a:lstStyle/>
          <a:p>
            <a:pPr marL="0" indent="0" algn="l">
              <a:buNone/>
            </a:pPr>
            <a:r>
              <a:rPr lang="en-US" sz="6600" b="1" dirty="0">
                <a:solidFill>
                  <a:schemeClr val="bg1"/>
                </a:solidFill>
                <a:latin typeface="Calibri" pitchFamily="34" charset="0"/>
                <a:ea typeface="Calibri" pitchFamily="34" charset="-122"/>
                <a:cs typeface="Calibri" pitchFamily="34" charset="-120"/>
              </a:rPr>
              <a:t>Digital Sim Feedback</a:t>
            </a:r>
            <a:endParaRPr lang="en-US" sz="6600" dirty="0"/>
          </a:p>
        </p:txBody>
      </p:sp>
      <p:sp>
        <p:nvSpPr>
          <p:cNvPr id="3" name="Text 0"/>
          <p:cNvSpPr>
            <a:spLocks noGrp="1"/>
          </p:cNvSpPr>
          <p:nvPr>
            <p:ph type="body" idx="101" hasCustomPrompt="1"/>
          </p:nvPr>
        </p:nvSpPr>
        <p:spPr>
          <a:xfrm>
            <a:off x="822960" y="3566160"/>
            <a:ext cx="10515600" cy="1097280"/>
          </a:xfrm>
          <a:prstGeom prst="rect">
            <a:avLst/>
          </a:prstGeom>
          <a:noFill/>
          <a:ln/>
        </p:spPr>
        <p:txBody>
          <a:bodyPr wrap="square" lIns="0" tIns="0" rIns="0" bIns="0" rtlCol="0" anchor="t"/>
          <a:lstStyle/>
          <a:p>
            <a:pPr marL="0" indent="0" algn="l">
              <a:buNone/>
            </a:pPr>
            <a:r>
              <a:rPr lang="en-US" sz="3000" dirty="0">
                <a:solidFill>
                  <a:schemeClr val="accent3"/>
                </a:solidFill>
                <a:latin typeface="Calibri" pitchFamily="34" charset="0"/>
                <a:ea typeface="Calibri" pitchFamily="34" charset="-122"/>
                <a:cs typeface="Calibri" pitchFamily="34" charset="-120"/>
              </a:rPr>
              <a:t>What to change, screen by screen</a:t>
            </a:r>
            <a:endParaRPr lang="en-US"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417320" y="320040"/>
            <a:ext cx="10241280" cy="868680"/>
          </a:xfrm>
          <a:prstGeom prst="rect">
            <a:avLst/>
          </a:prstGeom>
          <a:noFill/>
          <a:ln/>
        </p:spPr>
        <p:txBody>
          <a:bodyPr wrap="square" lIns="0" tIns="0" rIns="0" bIns="0" rtlCol="0" anchor="ctr"/>
          <a:lstStyle/>
          <a:p>
            <a:pPr marL="0" indent="0" algn="l">
              <a:buNone/>
            </a:pPr>
            <a:r>
              <a:rPr lang="en-US" sz="4000" b="1" dirty="0">
                <a:solidFill>
                  <a:schemeClr val="tx1"/>
                </a:solidFill>
                <a:latin typeface="Calibri" pitchFamily="34" charset="0"/>
                <a:ea typeface="Calibri" pitchFamily="34" charset="-122"/>
                <a:cs typeface="Calibri" pitchFamily="34" charset="-120"/>
              </a:rPr>
              <a:t>Make everything bigger</a:t>
            </a:r>
            <a:endParaRPr lang="en-US" sz="4000" dirty="0"/>
          </a:p>
        </p:txBody>
      </p:sp>
      <p:sp>
        <p:nvSpPr>
          <p:cNvPr id="3" name="Number badge"/>
          <p:cNvSpPr txBox="1"/>
          <p:nvPr/>
        </p:nvSpPr>
        <p:spPr>
          <a:xfrm>
            <a:off x="548640" y="429768"/>
            <a:ext cx="685800" cy="685800"/>
          </a:xfrm>
          <a:prstGeom prst="ellipse">
            <a:avLst/>
          </a:prstGeom>
          <a:solidFill>
            <a:schemeClr val="accent1"/>
          </a:solidFill>
          <a:ln/>
        </p:spPr>
        <p:txBody>
          <a:bodyPr wrap="square" lIns="0" tIns="0" rIns="0" bIns="0" rtlCol="0" anchor="ctr"/>
          <a:lstStyle/>
          <a:p>
            <a:pPr marL="0" indent="0" algn="ctr">
              <a:buNone/>
            </a:pPr>
            <a:r>
              <a:rPr lang="en-US" sz="2800" b="1" dirty="0">
                <a:solidFill>
                  <a:schemeClr val="tx1"/>
                </a:solidFill>
              </a:rPr>
              <a:t>1</a:t>
            </a:r>
            <a:endParaRPr lang="en-US" sz="2800" dirty="0"/>
          </a:p>
        </p:txBody>
      </p:sp>
      <p:sp>
        <p:nvSpPr>
          <p:cNvPr id="4" name="Text 2"/>
          <p:cNvSpPr txBox="1"/>
          <p:nvPr/>
        </p:nvSpPr>
        <p:spPr>
          <a:xfrm>
            <a:off x="548640" y="1371600"/>
            <a:ext cx="5486400" cy="411480"/>
          </a:xfrm>
          <a:prstGeom prst="rect">
            <a:avLst/>
          </a:prstGeom>
          <a:noFill/>
          <a:ln/>
        </p:spPr>
        <p:txBody>
          <a:bodyPr wrap="square" lIns="0" tIns="0" rIns="0" bIns="0" rtlCol="0" anchor="ctr"/>
          <a:lstStyle/>
          <a:p>
            <a:pPr marL="0" indent="0">
              <a:buNone/>
            </a:pPr>
            <a:r>
              <a:rPr lang="en-US" sz="2400" b="1" dirty="0">
                <a:solidFill>
                  <a:schemeClr val="accent6"/>
                </a:solidFill>
              </a:rPr>
              <a:t>Now</a:t>
            </a:r>
            <a:endParaRPr lang="en-US" sz="2400" dirty="0"/>
          </a:p>
        </p:txBody>
      </p:sp>
      <p:sp>
        <p:nvSpPr>
          <p:cNvPr id="5" name="Text 3"/>
          <p:cNvSpPr txBox="1"/>
          <p:nvPr/>
        </p:nvSpPr>
        <p:spPr>
          <a:xfrm>
            <a:off x="6309360" y="1371600"/>
            <a:ext cx="5486400" cy="411480"/>
          </a:xfrm>
          <a:prstGeom prst="rect">
            <a:avLst/>
          </a:prstGeom>
          <a:noFill/>
          <a:ln/>
        </p:spPr>
        <p:txBody>
          <a:bodyPr wrap="square" lIns="0" tIns="0" rIns="0" bIns="0" rtlCol="0" anchor="ctr"/>
          <a:lstStyle/>
          <a:p>
            <a:pPr marL="0" indent="0">
              <a:buNone/>
            </a:pPr>
            <a:r>
              <a:rPr lang="en-US" sz="2400" b="1" dirty="0">
                <a:solidFill>
                  <a:schemeClr val="accent2"/>
                </a:solidFill>
              </a:rPr>
              <a:t>Zoomed in (use this as the new default)</a:t>
            </a:r>
            <a:endParaRPr lang="en-US" sz="2400" dirty="0"/>
          </a:p>
        </p:txBody>
      </p:sp>
      <p:pic>
        <p:nvPicPr>
          <p:cNvPr id="6" name="Image 0" descr="Moment 1 scenario at the current size"/>
          <p:cNvPicPr>
            <a:picLocks noChangeAspect="1"/>
          </p:cNvPicPr>
          <p:nvPr/>
        </p:nvPicPr>
        <p:blipFill>
          <a:blip r:embed="rId3"/>
          <a:stretch>
            <a:fillRect/>
          </a:stretch>
        </p:blipFill>
        <p:spPr>
          <a:xfrm>
            <a:off x="548640" y="1828800"/>
            <a:ext cx="5440680" cy="3295735"/>
          </a:xfrm>
          <a:prstGeom prst="rect">
            <a:avLst/>
          </a:prstGeom>
          <a:effectLst>
            <a:outerShdw blurRad="127000" dist="38100" dir="5400000" algn="bl" rotWithShape="0">
              <a:srgbClr val="000000">
                <a:alpha val="28000"/>
              </a:srgbClr>
            </a:outerShdw>
          </a:effectLst>
        </p:spPr>
      </p:pic>
      <p:pic>
        <p:nvPicPr>
          <p:cNvPr id="7" name="Image 1" descr="Moment 1 scenario zoomed in"/>
          <p:cNvPicPr>
            <a:picLocks noChangeAspect="1"/>
          </p:cNvPicPr>
          <p:nvPr/>
        </p:nvPicPr>
        <p:blipFill>
          <a:blip r:embed="rId4"/>
          <a:stretch>
            <a:fillRect/>
          </a:stretch>
        </p:blipFill>
        <p:spPr>
          <a:xfrm>
            <a:off x="6263640" y="1828800"/>
            <a:ext cx="5440680" cy="3265047"/>
          </a:xfrm>
          <a:prstGeom prst="rect">
            <a:avLst/>
          </a:prstGeom>
          <a:effectLst>
            <a:outerShdw blurRad="127000" dist="38100" dir="5400000" algn="bl" rotWithShape="0">
              <a:srgbClr val="000000">
                <a:alpha val="28000"/>
              </a:srgbClr>
            </a:outerShdw>
          </a:effectLst>
        </p:spPr>
      </p:pic>
      <p:sp>
        <p:nvSpPr>
          <p:cNvPr id="8" name="Text 4"/>
          <p:cNvSpPr txBox="1"/>
          <p:nvPr/>
        </p:nvSpPr>
        <p:spPr>
          <a:xfrm>
            <a:off x="548640" y="5257800"/>
            <a:ext cx="11064240" cy="1188720"/>
          </a:xfrm>
          <a:prstGeom prst="rect">
            <a:avLst/>
          </a:prstGeom>
          <a:noFill/>
          <a:ln/>
        </p:spPr>
        <p:txBody>
          <a:bodyPr wrap="square" lIns="0" tIns="0" rIns="0" bIns="0" rtlCol="0" anchor="t"/>
          <a:lstStyle/>
          <a:p>
            <a:pPr marL="0" indent="0">
              <a:buNone/>
            </a:pPr>
            <a:r>
              <a:rPr lang="en-US" sz="3200" b="1" dirty="0">
                <a:solidFill>
                  <a:schemeClr val="tx1"/>
                </a:solidFill>
              </a:rPr>
              <a:t>Increase the size of everything: the logo, team name, buttons, and all text.</a:t>
            </a:r>
            <a:endParaRPr lang="en-US" sz="3200" dirty="0"/>
          </a:p>
        </p:txBody>
      </p:sp>
      <p:sp>
        <p:nvSpPr>
          <p:cNvPr id="9" name="TextBox 8">
            <a:extLst>
              <a:ext uri="{FF2B5EF4-FFF2-40B4-BE49-F238E27FC236}">
                <a16:creationId xmlns:a16="http://schemas.microsoft.com/office/drawing/2014/main" id="{06AA0772-1EFC-F245-6D16-53D90B83481F}"/>
              </a:ext>
            </a:extLst>
          </p:cNvPr>
          <p:cNvSpPr txBox="1"/>
          <p:nvPr/>
        </p:nvSpPr>
        <p:spPr>
          <a:xfrm>
            <a:off x="6868160" y="320040"/>
            <a:ext cx="3159760" cy="369332"/>
          </a:xfrm>
          <a:prstGeom prst="rect">
            <a:avLst/>
          </a:prstGeom>
          <a:solidFill>
            <a:srgbClr val="92D050"/>
          </a:solidFill>
        </p:spPr>
        <p:txBody>
          <a:bodyPr wrap="square" rtlCol="0">
            <a:spAutoFit/>
          </a:bodyPr>
          <a:lstStyle/>
          <a:p>
            <a:r>
              <a:rPr lang="en-US" b="1" dirty="0"/>
              <a:t>Digital (13-Oct): </a:t>
            </a:r>
            <a:r>
              <a:rPr lang="en-US" dirty="0"/>
              <a:t>Done</a:t>
            </a:r>
            <a:r>
              <a:rPr lang="en-US" b="1" dirty="0"/>
              <a:t> </a:t>
            </a: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417320" y="320040"/>
            <a:ext cx="10241280" cy="868680"/>
          </a:xfrm>
          <a:prstGeom prst="rect">
            <a:avLst/>
          </a:prstGeom>
          <a:noFill/>
          <a:ln/>
        </p:spPr>
        <p:txBody>
          <a:bodyPr wrap="square" lIns="0" tIns="0" rIns="0" bIns="0" rtlCol="0" anchor="ctr"/>
          <a:lstStyle/>
          <a:p>
            <a:pPr marL="0" indent="0" algn="l">
              <a:buNone/>
            </a:pPr>
            <a:r>
              <a:rPr lang="en-US" sz="4000" b="1" dirty="0">
                <a:solidFill>
                  <a:schemeClr val="tx1"/>
                </a:solidFill>
                <a:latin typeface="Calibri" pitchFamily="34" charset="0"/>
                <a:ea typeface="Calibri" pitchFamily="34" charset="-122"/>
                <a:cs typeface="Calibri" pitchFamily="34" charset="-120"/>
              </a:rPr>
              <a:t>Team name page: much, much bigger</a:t>
            </a:r>
            <a:endParaRPr lang="en-US" sz="4000" dirty="0"/>
          </a:p>
        </p:txBody>
      </p:sp>
      <p:sp>
        <p:nvSpPr>
          <p:cNvPr id="3" name="Number badge"/>
          <p:cNvSpPr txBox="1"/>
          <p:nvPr/>
        </p:nvSpPr>
        <p:spPr>
          <a:xfrm>
            <a:off x="548640" y="429768"/>
            <a:ext cx="685800" cy="685800"/>
          </a:xfrm>
          <a:prstGeom prst="ellipse">
            <a:avLst/>
          </a:prstGeom>
          <a:solidFill>
            <a:schemeClr val="accent1"/>
          </a:solidFill>
          <a:ln/>
        </p:spPr>
        <p:txBody>
          <a:bodyPr wrap="square" lIns="0" tIns="0" rIns="0" bIns="0" rtlCol="0" anchor="ctr"/>
          <a:lstStyle/>
          <a:p>
            <a:pPr marL="0" indent="0" algn="ctr">
              <a:buNone/>
            </a:pPr>
            <a:r>
              <a:rPr lang="en-US" sz="2800" b="1" dirty="0">
                <a:solidFill>
                  <a:schemeClr val="tx1"/>
                </a:solidFill>
              </a:rPr>
              <a:t>2</a:t>
            </a:r>
            <a:endParaRPr lang="en-US" sz="2800" dirty="0"/>
          </a:p>
        </p:txBody>
      </p:sp>
      <p:pic>
        <p:nvPicPr>
          <p:cNvPr id="4" name="Image 0" descr="Team name entry page"/>
          <p:cNvPicPr>
            <a:picLocks noChangeAspect="1"/>
          </p:cNvPicPr>
          <p:nvPr/>
        </p:nvPicPr>
        <p:blipFill>
          <a:blip r:embed="rId3"/>
          <a:stretch>
            <a:fillRect/>
          </a:stretch>
        </p:blipFill>
        <p:spPr>
          <a:xfrm>
            <a:off x="548640" y="1554480"/>
            <a:ext cx="6949440" cy="4202930"/>
          </a:xfrm>
          <a:prstGeom prst="rect">
            <a:avLst/>
          </a:prstGeom>
          <a:effectLst>
            <a:outerShdw blurRad="127000" dist="38100" dir="5400000" algn="bl" rotWithShape="0">
              <a:srgbClr val="000000">
                <a:alpha val="28000"/>
              </a:srgbClr>
            </a:outerShdw>
          </a:effectLst>
        </p:spPr>
      </p:pic>
      <p:sp>
        <p:nvSpPr>
          <p:cNvPr id="5" name="Text 2"/>
          <p:cNvSpPr txBox="1"/>
          <p:nvPr/>
        </p:nvSpPr>
        <p:spPr>
          <a:xfrm>
            <a:off x="7863840" y="1645920"/>
            <a:ext cx="3840480" cy="4023360"/>
          </a:xfrm>
          <a:prstGeom prst="rect">
            <a:avLst/>
          </a:prstGeom>
          <a:noFill/>
          <a:ln/>
        </p:spPr>
        <p:txBody>
          <a:bodyPr wrap="square" lIns="0" tIns="0" rIns="0" bIns="0" rtlCol="0" anchor="t"/>
          <a:lstStyle/>
          <a:p>
            <a:pPr marL="0" indent="0">
              <a:spcAft>
                <a:spcPts val="1400"/>
              </a:spcAft>
              <a:buNone/>
            </a:pPr>
            <a:r>
              <a:rPr lang="en-US" sz="3600" b="1" dirty="0">
                <a:solidFill>
                  <a:schemeClr val="tx1"/>
                </a:solidFill>
              </a:rPr>
              <a:t>The text is tiny.</a:t>
            </a:r>
            <a:endParaRPr lang="en-US" sz="3600" dirty="0"/>
          </a:p>
          <a:p>
            <a:pPr marL="0" indent="0">
              <a:buNone/>
            </a:pPr>
            <a:r>
              <a:rPr lang="en-US" sz="2800" dirty="0">
                <a:solidFill>
                  <a:schemeClr val="tx1"/>
                </a:solidFill>
              </a:rPr>
              <a:t>Enlarge the heading, the name field, the character counter, and the button.</a:t>
            </a:r>
            <a:endParaRPr lang="en-US" sz="3600" dirty="0"/>
          </a:p>
        </p:txBody>
      </p:sp>
      <p:sp>
        <p:nvSpPr>
          <p:cNvPr id="7" name="TextBox 6">
            <a:extLst>
              <a:ext uri="{FF2B5EF4-FFF2-40B4-BE49-F238E27FC236}">
                <a16:creationId xmlns:a16="http://schemas.microsoft.com/office/drawing/2014/main" id="{6C2C1918-053C-FCD0-E466-CBA361DE12DB}"/>
              </a:ext>
            </a:extLst>
          </p:cNvPr>
          <p:cNvSpPr txBox="1"/>
          <p:nvPr/>
        </p:nvSpPr>
        <p:spPr>
          <a:xfrm>
            <a:off x="8036560" y="1080008"/>
            <a:ext cx="3159760" cy="369332"/>
          </a:xfrm>
          <a:prstGeom prst="rect">
            <a:avLst/>
          </a:prstGeom>
          <a:solidFill>
            <a:srgbClr val="92D050"/>
          </a:solidFill>
        </p:spPr>
        <p:txBody>
          <a:bodyPr wrap="square" rtlCol="0">
            <a:spAutoFit/>
          </a:bodyPr>
          <a:lstStyle/>
          <a:p>
            <a:r>
              <a:rPr lang="en-US" b="1" dirty="0"/>
              <a:t>Digital (13-Oct): </a:t>
            </a:r>
            <a:r>
              <a:rPr lang="en-US" dirty="0"/>
              <a:t>Done </a:t>
            </a:r>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417320" y="320040"/>
            <a:ext cx="10241280" cy="868680"/>
          </a:xfrm>
          <a:prstGeom prst="rect">
            <a:avLst/>
          </a:prstGeom>
          <a:noFill/>
          <a:ln/>
        </p:spPr>
        <p:txBody>
          <a:bodyPr wrap="square" lIns="0" tIns="0" rIns="0" bIns="0" rtlCol="0" anchor="ctr"/>
          <a:lstStyle/>
          <a:p>
            <a:pPr marL="0" indent="0" algn="l">
              <a:buNone/>
            </a:pPr>
            <a:r>
              <a:rPr lang="en-US" sz="4000" b="1" dirty="0">
                <a:solidFill>
                  <a:schemeClr val="tx1"/>
                </a:solidFill>
                <a:latin typeface="Calibri" pitchFamily="34" charset="0"/>
                <a:ea typeface="Calibri" pitchFamily="34" charset="-122"/>
                <a:cs typeface="Calibri" pitchFamily="34" charset="-120"/>
              </a:rPr>
              <a:t>After submit: add a thank-you message</a:t>
            </a:r>
            <a:endParaRPr lang="en-US" sz="4000" dirty="0"/>
          </a:p>
        </p:txBody>
      </p:sp>
      <p:sp>
        <p:nvSpPr>
          <p:cNvPr id="3" name="Number badge"/>
          <p:cNvSpPr txBox="1"/>
          <p:nvPr/>
        </p:nvSpPr>
        <p:spPr>
          <a:xfrm>
            <a:off x="548640" y="429768"/>
            <a:ext cx="685800" cy="685800"/>
          </a:xfrm>
          <a:prstGeom prst="ellipse">
            <a:avLst/>
          </a:prstGeom>
          <a:solidFill>
            <a:schemeClr val="accent1"/>
          </a:solidFill>
          <a:ln/>
        </p:spPr>
        <p:txBody>
          <a:bodyPr wrap="square" lIns="0" tIns="0" rIns="0" bIns="0" rtlCol="0" anchor="ctr"/>
          <a:lstStyle/>
          <a:p>
            <a:pPr marL="0" indent="0" algn="ctr">
              <a:buNone/>
            </a:pPr>
            <a:r>
              <a:rPr lang="en-US" sz="2800" b="1" dirty="0">
                <a:solidFill>
                  <a:schemeClr val="tx1"/>
                </a:solidFill>
              </a:rPr>
              <a:t>3</a:t>
            </a:r>
            <a:endParaRPr lang="en-US" sz="2800" dirty="0"/>
          </a:p>
        </p:txBody>
      </p:sp>
      <p:pic>
        <p:nvPicPr>
          <p:cNvPr id="4" name="Image 0" descr="Team name page after saving"/>
          <p:cNvPicPr>
            <a:picLocks noChangeAspect="1"/>
          </p:cNvPicPr>
          <p:nvPr/>
        </p:nvPicPr>
        <p:blipFill>
          <a:blip r:embed="rId3"/>
          <a:stretch>
            <a:fillRect/>
          </a:stretch>
        </p:blipFill>
        <p:spPr>
          <a:xfrm>
            <a:off x="548640" y="1645920"/>
            <a:ext cx="4663440" cy="3961492"/>
          </a:xfrm>
          <a:prstGeom prst="rect">
            <a:avLst/>
          </a:prstGeom>
          <a:effectLst>
            <a:outerShdw blurRad="127000" dist="38100" dir="5400000" algn="bl" rotWithShape="0">
              <a:srgbClr val="000000">
                <a:alpha val="28000"/>
              </a:srgbClr>
            </a:outerShdw>
          </a:effectLst>
        </p:spPr>
      </p:pic>
      <p:sp>
        <p:nvSpPr>
          <p:cNvPr id="5" name="Arrow"/>
          <p:cNvSpPr/>
          <p:nvPr/>
        </p:nvSpPr>
        <p:spPr>
          <a:xfrm>
            <a:off x="5349240" y="3246120"/>
            <a:ext cx="685800" cy="548640"/>
          </a:xfrm>
          <a:prstGeom prst="rightArrow">
            <a:avLst/>
          </a:prstGeom>
          <a:solidFill>
            <a:schemeClr val="accent1"/>
          </a:solidFill>
          <a:ln w="12700">
            <a:solidFill>
              <a:schemeClr val="accent1"/>
            </a:solidFill>
            <a:prstDash val="solid"/>
          </a:ln>
        </p:spPr>
        <p:txBody>
          <a:bodyPr/>
          <a:lstStyle/>
          <a:p>
            <a:endParaRPr lang="en-US"/>
          </a:p>
        </p:txBody>
      </p:sp>
      <p:sp>
        <p:nvSpPr>
          <p:cNvPr id="6" name="Mock pop-up"/>
          <p:cNvSpPr txBox="1"/>
          <p:nvPr/>
        </p:nvSpPr>
        <p:spPr>
          <a:xfrm>
            <a:off x="6217920" y="1645920"/>
            <a:ext cx="5486400" cy="3931920"/>
          </a:xfrm>
          <a:prstGeom prst="roundRect">
            <a:avLst>
              <a:gd name="adj" fmla="val 4651"/>
            </a:avLst>
          </a:prstGeom>
          <a:solidFill>
            <a:schemeClr val="tx1"/>
          </a:solidFill>
          <a:ln/>
        </p:spPr>
        <p:txBody>
          <a:bodyPr wrap="square" lIns="5080" tIns="5080" rIns="5080" bIns="5080" rtlCol="0" anchor="ctr"/>
          <a:lstStyle/>
          <a:p>
            <a:pPr marL="0" indent="0" algn="ctr">
              <a:spcAft>
                <a:spcPts val="1200"/>
              </a:spcAft>
              <a:buNone/>
            </a:pPr>
            <a:r>
              <a:rPr lang="en-US" sz="4400" b="1" dirty="0">
                <a:solidFill>
                  <a:schemeClr val="accent1"/>
                </a:solidFill>
              </a:rPr>
              <a:t>Thank you!</a:t>
            </a:r>
            <a:endParaRPr lang="en-US" sz="4400" dirty="0"/>
          </a:p>
          <a:p>
            <a:pPr marL="0" indent="0" algn="ctr">
              <a:buNone/>
            </a:pPr>
            <a:r>
              <a:rPr lang="en-US" sz="2800" dirty="0">
                <a:solidFill>
                  <a:schemeClr val="bg1"/>
                </a:solidFill>
              </a:rPr>
              <a:t>Sit tight. Your facilitator will move everyone forward once all teams have submitted their names.</a:t>
            </a:r>
            <a:endParaRPr lang="en-US" sz="4400" dirty="0"/>
          </a:p>
        </p:txBody>
      </p:sp>
      <p:sp>
        <p:nvSpPr>
          <p:cNvPr id="7" name="Text 4"/>
          <p:cNvSpPr txBox="1"/>
          <p:nvPr/>
        </p:nvSpPr>
        <p:spPr>
          <a:xfrm>
            <a:off x="6217920" y="5760720"/>
            <a:ext cx="5486400" cy="731520"/>
          </a:xfrm>
          <a:prstGeom prst="rect">
            <a:avLst/>
          </a:prstGeom>
          <a:noFill/>
          <a:ln/>
        </p:spPr>
        <p:txBody>
          <a:bodyPr wrap="square" lIns="0" tIns="0" rIns="0" bIns="0" rtlCol="0" anchor="t"/>
          <a:lstStyle/>
          <a:p>
            <a:pPr marL="0" indent="0">
              <a:buNone/>
            </a:pPr>
            <a:r>
              <a:rPr lang="en-US" sz="2000" dirty="0">
                <a:solidFill>
                  <a:schemeClr val="accent6"/>
                </a:solidFill>
              </a:rPr>
              <a:t>Suggested wording shown in the pop-up. Show it right after the team name is saved.</a:t>
            </a:r>
            <a:endParaRPr lang="en-US" sz="2000" dirty="0"/>
          </a:p>
        </p:txBody>
      </p:sp>
      <p:sp>
        <p:nvSpPr>
          <p:cNvPr id="9" name="TextBox 8">
            <a:extLst>
              <a:ext uri="{FF2B5EF4-FFF2-40B4-BE49-F238E27FC236}">
                <a16:creationId xmlns:a16="http://schemas.microsoft.com/office/drawing/2014/main" id="{18A1E837-3C97-5921-7620-E160A6732D1A}"/>
              </a:ext>
            </a:extLst>
          </p:cNvPr>
          <p:cNvSpPr txBox="1"/>
          <p:nvPr/>
        </p:nvSpPr>
        <p:spPr>
          <a:xfrm>
            <a:off x="8260080" y="181094"/>
            <a:ext cx="3159760" cy="369332"/>
          </a:xfrm>
          <a:prstGeom prst="rect">
            <a:avLst/>
          </a:prstGeom>
          <a:solidFill>
            <a:srgbClr val="92D050"/>
          </a:solidFill>
        </p:spPr>
        <p:txBody>
          <a:bodyPr wrap="square" rtlCol="0">
            <a:spAutoFit/>
          </a:bodyPr>
          <a:lstStyle/>
          <a:p>
            <a:r>
              <a:rPr lang="en-US" b="1" dirty="0"/>
              <a:t>Digital (13-Oct): </a:t>
            </a:r>
            <a:r>
              <a:rPr lang="en-US" dirty="0"/>
              <a:t>Done</a:t>
            </a: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417320" y="320040"/>
            <a:ext cx="10241280" cy="868680"/>
          </a:xfrm>
          <a:prstGeom prst="rect">
            <a:avLst/>
          </a:prstGeom>
          <a:noFill/>
          <a:ln/>
        </p:spPr>
        <p:txBody>
          <a:bodyPr wrap="square" lIns="0" tIns="0" rIns="0" bIns="0" rtlCol="0" anchor="ctr"/>
          <a:lstStyle/>
          <a:p>
            <a:pPr marL="0" indent="0" algn="l">
              <a:buNone/>
            </a:pPr>
            <a:r>
              <a:rPr lang="en-US" sz="4000" b="1" dirty="0">
                <a:solidFill>
                  <a:schemeClr val="tx1"/>
                </a:solidFill>
                <a:latin typeface="Calibri" pitchFamily="34" charset="0"/>
                <a:ea typeface="Calibri" pitchFamily="34" charset="-122"/>
                <a:cs typeface="Calibri" pitchFamily="34" charset="-120"/>
              </a:rPr>
              <a:t>Case study: break up the wall of text</a:t>
            </a:r>
            <a:endParaRPr lang="en-US" sz="4000" dirty="0"/>
          </a:p>
        </p:txBody>
      </p:sp>
      <p:sp>
        <p:nvSpPr>
          <p:cNvPr id="3" name="Number badge"/>
          <p:cNvSpPr txBox="1"/>
          <p:nvPr/>
        </p:nvSpPr>
        <p:spPr>
          <a:xfrm>
            <a:off x="548640" y="429768"/>
            <a:ext cx="685800" cy="685800"/>
          </a:xfrm>
          <a:prstGeom prst="ellipse">
            <a:avLst/>
          </a:prstGeom>
          <a:solidFill>
            <a:schemeClr val="accent1"/>
          </a:solidFill>
          <a:ln/>
        </p:spPr>
        <p:txBody>
          <a:bodyPr wrap="square" lIns="0" tIns="0" rIns="0" bIns="0" rtlCol="0" anchor="ctr"/>
          <a:lstStyle/>
          <a:p>
            <a:pPr marL="0" indent="0" algn="ctr">
              <a:buNone/>
            </a:pPr>
            <a:r>
              <a:rPr lang="en-US" sz="2800" b="1" dirty="0">
                <a:solidFill>
                  <a:schemeClr val="tx1"/>
                </a:solidFill>
              </a:rPr>
              <a:t>4</a:t>
            </a:r>
            <a:endParaRPr lang="en-US" sz="2800" dirty="0"/>
          </a:p>
        </p:txBody>
      </p:sp>
      <p:pic>
        <p:nvPicPr>
          <p:cNvPr id="4" name="Image 0" descr="Case Context page, all text"/>
          <p:cNvPicPr>
            <a:picLocks noChangeAspect="1"/>
          </p:cNvPicPr>
          <p:nvPr/>
        </p:nvPicPr>
        <p:blipFill>
          <a:blip r:embed="rId3"/>
          <a:stretch>
            <a:fillRect/>
          </a:stretch>
        </p:blipFill>
        <p:spPr>
          <a:xfrm>
            <a:off x="548640" y="1554480"/>
            <a:ext cx="5486400" cy="3401700"/>
          </a:xfrm>
          <a:prstGeom prst="rect">
            <a:avLst/>
          </a:prstGeom>
          <a:effectLst>
            <a:outerShdw blurRad="127000" dist="38100" dir="5400000" algn="bl" rotWithShape="0">
              <a:srgbClr val="000000">
                <a:alpha val="28000"/>
              </a:srgbClr>
            </a:outerShdw>
          </a:effectLst>
        </p:spPr>
      </p:pic>
      <p:sp>
        <p:nvSpPr>
          <p:cNvPr id="5" name="Image placeholder"/>
          <p:cNvSpPr txBox="1"/>
          <p:nvPr/>
        </p:nvSpPr>
        <p:spPr>
          <a:xfrm>
            <a:off x="6400800" y="1554480"/>
            <a:ext cx="5303520" cy="3401568"/>
          </a:xfrm>
          <a:prstGeom prst="roundRect">
            <a:avLst>
              <a:gd name="adj" fmla="val 4032"/>
            </a:avLst>
          </a:prstGeom>
          <a:solidFill>
            <a:schemeClr val="bg2"/>
          </a:solidFill>
          <a:ln w="31750">
            <a:solidFill>
              <a:schemeClr val="accent2"/>
            </a:solidFill>
            <a:prstDash val="dash"/>
          </a:ln>
        </p:spPr>
        <p:txBody>
          <a:bodyPr wrap="square" lIns="5080" tIns="5080" rIns="5080" bIns="5080" rtlCol="0" anchor="ctr"/>
          <a:lstStyle/>
          <a:p>
            <a:pPr marL="0" indent="0" algn="ctr">
              <a:spcAft>
                <a:spcPts val="800"/>
              </a:spcAft>
              <a:buNone/>
            </a:pPr>
            <a:r>
              <a:rPr lang="en-US" sz="3000" b="1" dirty="0">
                <a:solidFill>
                  <a:schemeClr val="tx1"/>
                </a:solidFill>
              </a:rPr>
              <a:t>Add an image here</a:t>
            </a:r>
            <a:endParaRPr lang="en-US" sz="3000" dirty="0"/>
          </a:p>
          <a:p>
            <a:pPr marL="0" indent="0" algn="ctr">
              <a:buNone/>
            </a:pPr>
            <a:r>
              <a:rPr lang="en-US" sz="2200" dirty="0">
                <a:solidFill>
                  <a:schemeClr val="tx1"/>
                </a:solidFill>
              </a:rPr>
              <a:t>A varied group of men and women working together in an office with greenery</a:t>
            </a:r>
            <a:endParaRPr lang="en-US" sz="3000" dirty="0"/>
          </a:p>
        </p:txBody>
      </p:sp>
      <p:sp>
        <p:nvSpPr>
          <p:cNvPr id="6" name="Text 3"/>
          <p:cNvSpPr txBox="1"/>
          <p:nvPr/>
        </p:nvSpPr>
        <p:spPr>
          <a:xfrm>
            <a:off x="548640" y="5257800"/>
            <a:ext cx="11064240" cy="1188720"/>
          </a:xfrm>
          <a:prstGeom prst="rect">
            <a:avLst/>
          </a:prstGeom>
          <a:noFill/>
          <a:ln/>
        </p:spPr>
        <p:txBody>
          <a:bodyPr wrap="square" lIns="0" tIns="0" rIns="0" bIns="0" rtlCol="0" anchor="t"/>
          <a:lstStyle/>
          <a:p>
            <a:pPr marL="0" indent="0">
              <a:buNone/>
            </a:pPr>
            <a:r>
              <a:rPr lang="en-US" sz="3200" b="1" dirty="0">
                <a:solidFill>
                  <a:schemeClr val="tx1"/>
                </a:solidFill>
              </a:rPr>
              <a:t>Break up the text with an image. Show a mix of men and women so the group feels diverse. </a:t>
            </a:r>
            <a:r>
              <a:rPr lang="en-US" sz="3200" b="1" dirty="0"/>
              <a:t>See examples for i</a:t>
            </a:r>
            <a:r>
              <a:rPr lang="en-US" sz="3200" b="1" dirty="0">
                <a:solidFill>
                  <a:schemeClr val="tx1"/>
                </a:solidFill>
              </a:rPr>
              <a:t>nspiration.</a:t>
            </a:r>
            <a:endParaRPr lang="en-US" sz="3200" dirty="0"/>
          </a:p>
        </p:txBody>
      </p:sp>
      <p:pic>
        <p:nvPicPr>
          <p:cNvPr id="8" name="Picture 7">
            <a:extLst>
              <a:ext uri="{FF2B5EF4-FFF2-40B4-BE49-F238E27FC236}">
                <a16:creationId xmlns:a16="http://schemas.microsoft.com/office/drawing/2014/main" id="{F18DADA6-402C-6BF0-485E-2BEE6FA57C9E}"/>
              </a:ext>
            </a:extLst>
          </p:cNvPr>
          <p:cNvPicPr>
            <a:picLocks noChangeAspect="1"/>
          </p:cNvPicPr>
          <p:nvPr/>
        </p:nvPicPr>
        <p:blipFill>
          <a:blip r:embed="rId4"/>
          <a:stretch>
            <a:fillRect/>
          </a:stretch>
        </p:blipFill>
        <p:spPr>
          <a:xfrm>
            <a:off x="6156962" y="2839796"/>
            <a:ext cx="2326640" cy="2116252"/>
          </a:xfrm>
          <a:prstGeom prst="rect">
            <a:avLst/>
          </a:prstGeom>
        </p:spPr>
      </p:pic>
      <p:pic>
        <p:nvPicPr>
          <p:cNvPr id="10" name="Picture 9">
            <a:extLst>
              <a:ext uri="{FF2B5EF4-FFF2-40B4-BE49-F238E27FC236}">
                <a16:creationId xmlns:a16="http://schemas.microsoft.com/office/drawing/2014/main" id="{A828B235-7533-CE57-5FEF-E71BA524835E}"/>
              </a:ext>
            </a:extLst>
          </p:cNvPr>
          <p:cNvPicPr>
            <a:picLocks noChangeAspect="1"/>
          </p:cNvPicPr>
          <p:nvPr/>
        </p:nvPicPr>
        <p:blipFill>
          <a:blip r:embed="rId5"/>
          <a:stretch>
            <a:fillRect/>
          </a:stretch>
        </p:blipFill>
        <p:spPr>
          <a:xfrm>
            <a:off x="9052560" y="1513319"/>
            <a:ext cx="2481532" cy="2652954"/>
          </a:xfrm>
          <a:prstGeom prst="rect">
            <a:avLst/>
          </a:prstGeom>
        </p:spPr>
      </p:pic>
      <p:sp>
        <p:nvSpPr>
          <p:cNvPr id="9" name="TextBox 8">
            <a:extLst>
              <a:ext uri="{FF2B5EF4-FFF2-40B4-BE49-F238E27FC236}">
                <a16:creationId xmlns:a16="http://schemas.microsoft.com/office/drawing/2014/main" id="{E73B1BF4-0282-4406-B797-190D6B7FFE39}"/>
              </a:ext>
            </a:extLst>
          </p:cNvPr>
          <p:cNvSpPr txBox="1"/>
          <p:nvPr/>
        </p:nvSpPr>
        <p:spPr>
          <a:xfrm>
            <a:off x="8280400" y="174944"/>
            <a:ext cx="3159760" cy="369332"/>
          </a:xfrm>
          <a:prstGeom prst="rect">
            <a:avLst/>
          </a:prstGeom>
          <a:solidFill>
            <a:srgbClr val="92D050"/>
          </a:solidFill>
        </p:spPr>
        <p:txBody>
          <a:bodyPr wrap="square" rtlCol="0">
            <a:spAutoFit/>
          </a:bodyPr>
          <a:lstStyle/>
          <a:p>
            <a:r>
              <a:rPr lang="en-US" b="1" dirty="0"/>
              <a:t>Digital (13-Oct): </a:t>
            </a:r>
            <a:r>
              <a:rPr lang="en-US" dirty="0"/>
              <a:t>Done</a:t>
            </a:r>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417320" y="320040"/>
            <a:ext cx="10241280" cy="868680"/>
          </a:xfrm>
          <a:prstGeom prst="rect">
            <a:avLst/>
          </a:prstGeom>
          <a:noFill/>
          <a:ln/>
        </p:spPr>
        <p:txBody>
          <a:bodyPr wrap="square" lIns="0" tIns="0" rIns="0" bIns="0" rtlCol="0" anchor="ctr"/>
          <a:lstStyle/>
          <a:p>
            <a:pPr marL="0" indent="0" algn="l">
              <a:buNone/>
            </a:pPr>
            <a:r>
              <a:rPr lang="en-US" sz="4000" b="1" dirty="0">
                <a:solidFill>
                  <a:schemeClr val="tx1"/>
                </a:solidFill>
                <a:latin typeface="Calibri" pitchFamily="34" charset="0"/>
                <a:ea typeface="Calibri" pitchFamily="34" charset="-122"/>
                <a:cs typeface="Calibri" pitchFamily="34" charset="-120"/>
              </a:rPr>
              <a:t>Moment scenarios: add an image to each</a:t>
            </a:r>
            <a:endParaRPr lang="en-US" sz="4000" dirty="0"/>
          </a:p>
        </p:txBody>
      </p:sp>
      <p:sp>
        <p:nvSpPr>
          <p:cNvPr id="3" name="Number badge"/>
          <p:cNvSpPr txBox="1"/>
          <p:nvPr/>
        </p:nvSpPr>
        <p:spPr>
          <a:xfrm>
            <a:off x="548640" y="429768"/>
            <a:ext cx="685800" cy="685800"/>
          </a:xfrm>
          <a:prstGeom prst="ellipse">
            <a:avLst/>
          </a:prstGeom>
          <a:solidFill>
            <a:schemeClr val="accent1"/>
          </a:solidFill>
          <a:ln/>
        </p:spPr>
        <p:txBody>
          <a:bodyPr wrap="square" lIns="0" tIns="0" rIns="0" bIns="0" rtlCol="0" anchor="ctr"/>
          <a:lstStyle/>
          <a:p>
            <a:pPr marL="0" indent="0" algn="ctr">
              <a:buNone/>
            </a:pPr>
            <a:r>
              <a:rPr lang="en-US" sz="2800" b="1" dirty="0">
                <a:solidFill>
                  <a:schemeClr val="tx1"/>
                </a:solidFill>
              </a:rPr>
              <a:t>5</a:t>
            </a:r>
            <a:endParaRPr lang="en-US" sz="2800" dirty="0"/>
          </a:p>
        </p:txBody>
      </p:sp>
      <p:pic>
        <p:nvPicPr>
          <p:cNvPr id="4" name="Image 0" descr="Moment 1 scenario page, text only"/>
          <p:cNvPicPr>
            <a:picLocks noChangeAspect="1"/>
          </p:cNvPicPr>
          <p:nvPr/>
        </p:nvPicPr>
        <p:blipFill>
          <a:blip r:embed="rId3"/>
          <a:stretch>
            <a:fillRect/>
          </a:stretch>
        </p:blipFill>
        <p:spPr>
          <a:xfrm>
            <a:off x="548640" y="1554480"/>
            <a:ext cx="6949440" cy="4170480"/>
          </a:xfrm>
          <a:prstGeom prst="rect">
            <a:avLst/>
          </a:prstGeom>
          <a:effectLst>
            <a:outerShdw blurRad="127000" dist="38100" dir="5400000" algn="bl" rotWithShape="0">
              <a:srgbClr val="000000">
                <a:alpha val="28000"/>
              </a:srgbClr>
            </a:outerShdw>
          </a:effectLst>
        </p:spPr>
      </p:pic>
      <p:sp>
        <p:nvSpPr>
          <p:cNvPr id="5" name="Text 2"/>
          <p:cNvSpPr txBox="1"/>
          <p:nvPr/>
        </p:nvSpPr>
        <p:spPr>
          <a:xfrm>
            <a:off x="7863840" y="1645920"/>
            <a:ext cx="3840480" cy="4206240"/>
          </a:xfrm>
          <a:prstGeom prst="rect">
            <a:avLst/>
          </a:prstGeom>
          <a:noFill/>
          <a:ln/>
        </p:spPr>
        <p:txBody>
          <a:bodyPr wrap="square" lIns="0" tIns="0" rIns="0" bIns="0" rtlCol="0" anchor="t"/>
          <a:lstStyle/>
          <a:p>
            <a:pPr marL="0" indent="0">
              <a:spcAft>
                <a:spcPts val="1400"/>
              </a:spcAft>
              <a:buNone/>
            </a:pPr>
            <a:r>
              <a:rPr lang="en-US" sz="3400" b="1" dirty="0">
                <a:solidFill>
                  <a:schemeClr val="tx1"/>
                </a:solidFill>
              </a:rPr>
              <a:t>Every Moment scenario needs an image.</a:t>
            </a:r>
            <a:endParaRPr lang="en-US" sz="3400" dirty="0"/>
          </a:p>
          <a:p>
            <a:pPr marL="0" indent="0">
              <a:buNone/>
            </a:pPr>
            <a:r>
              <a:rPr lang="en-US" sz="2800" dirty="0">
                <a:solidFill>
                  <a:schemeClr val="tx1"/>
                </a:solidFill>
              </a:rPr>
              <a:t>Moments 1 to 4, plus the new information page.</a:t>
            </a:r>
            <a:endParaRPr lang="en-US" sz="3400" dirty="0"/>
          </a:p>
        </p:txBody>
      </p:sp>
      <p:sp>
        <p:nvSpPr>
          <p:cNvPr id="7" name="TextBox 6">
            <a:extLst>
              <a:ext uri="{FF2B5EF4-FFF2-40B4-BE49-F238E27FC236}">
                <a16:creationId xmlns:a16="http://schemas.microsoft.com/office/drawing/2014/main" id="{9131A9D9-111E-68C5-ED47-9CC35BDB775C}"/>
              </a:ext>
            </a:extLst>
          </p:cNvPr>
          <p:cNvSpPr txBox="1"/>
          <p:nvPr/>
        </p:nvSpPr>
        <p:spPr>
          <a:xfrm>
            <a:off x="8681720" y="135374"/>
            <a:ext cx="3159760" cy="369332"/>
          </a:xfrm>
          <a:prstGeom prst="rect">
            <a:avLst/>
          </a:prstGeom>
          <a:solidFill>
            <a:srgbClr val="92D050"/>
          </a:solidFill>
        </p:spPr>
        <p:txBody>
          <a:bodyPr wrap="square" rtlCol="0">
            <a:spAutoFit/>
          </a:bodyPr>
          <a:lstStyle/>
          <a:p>
            <a:r>
              <a:rPr lang="en-US" b="1" dirty="0"/>
              <a:t>Digital (13-Oct): </a:t>
            </a:r>
            <a:r>
              <a:rPr lang="en-US" dirty="0"/>
              <a:t>Done</a:t>
            </a:r>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3590A-C8BE-9B3F-2FA9-F50122C6B467}"/>
              </a:ext>
            </a:extLst>
          </p:cNvPr>
          <p:cNvSpPr>
            <a:spLocks noGrp="1"/>
          </p:cNvSpPr>
          <p:nvPr>
            <p:ph type="title" idx="100"/>
          </p:nvPr>
        </p:nvSpPr>
        <p:spPr/>
        <p:txBody>
          <a:bodyPr/>
          <a:lstStyle/>
          <a:p>
            <a:r>
              <a:rPr lang="en-US" dirty="0"/>
              <a:t>Example ideas for moment images</a:t>
            </a:r>
          </a:p>
        </p:txBody>
      </p:sp>
      <p:pic>
        <p:nvPicPr>
          <p:cNvPr id="4" name="Picture 3">
            <a:extLst>
              <a:ext uri="{FF2B5EF4-FFF2-40B4-BE49-F238E27FC236}">
                <a16:creationId xmlns:a16="http://schemas.microsoft.com/office/drawing/2014/main" id="{C5CEA0F2-92EE-9B2B-71D0-FE1071F6D6CB}"/>
              </a:ext>
            </a:extLst>
          </p:cNvPr>
          <p:cNvPicPr>
            <a:picLocks noChangeAspect="1"/>
          </p:cNvPicPr>
          <p:nvPr/>
        </p:nvPicPr>
        <p:blipFill>
          <a:blip r:embed="rId2"/>
          <a:stretch>
            <a:fillRect/>
          </a:stretch>
        </p:blipFill>
        <p:spPr>
          <a:xfrm>
            <a:off x="5417539" y="2629348"/>
            <a:ext cx="2240842" cy="3731960"/>
          </a:xfrm>
          <a:prstGeom prst="rect">
            <a:avLst/>
          </a:prstGeom>
        </p:spPr>
      </p:pic>
      <p:pic>
        <p:nvPicPr>
          <p:cNvPr id="6" name="Picture 5">
            <a:extLst>
              <a:ext uri="{FF2B5EF4-FFF2-40B4-BE49-F238E27FC236}">
                <a16:creationId xmlns:a16="http://schemas.microsoft.com/office/drawing/2014/main" id="{17FF2FDD-ECBD-4213-CFD8-843FC5BC4A51}"/>
              </a:ext>
            </a:extLst>
          </p:cNvPr>
          <p:cNvPicPr>
            <a:picLocks noChangeAspect="1"/>
          </p:cNvPicPr>
          <p:nvPr/>
        </p:nvPicPr>
        <p:blipFill>
          <a:blip r:embed="rId3"/>
          <a:stretch>
            <a:fillRect/>
          </a:stretch>
        </p:blipFill>
        <p:spPr>
          <a:xfrm>
            <a:off x="2814918" y="2653552"/>
            <a:ext cx="1990164" cy="2657917"/>
          </a:xfrm>
          <a:prstGeom prst="rect">
            <a:avLst/>
          </a:prstGeom>
        </p:spPr>
      </p:pic>
      <p:pic>
        <p:nvPicPr>
          <p:cNvPr id="8" name="Picture 7">
            <a:extLst>
              <a:ext uri="{FF2B5EF4-FFF2-40B4-BE49-F238E27FC236}">
                <a16:creationId xmlns:a16="http://schemas.microsoft.com/office/drawing/2014/main" id="{500076F1-C3DF-F221-0931-69EBC92642F7}"/>
              </a:ext>
            </a:extLst>
          </p:cNvPr>
          <p:cNvPicPr>
            <a:picLocks noChangeAspect="1"/>
          </p:cNvPicPr>
          <p:nvPr/>
        </p:nvPicPr>
        <p:blipFill>
          <a:blip r:embed="rId4"/>
          <a:stretch>
            <a:fillRect/>
          </a:stretch>
        </p:blipFill>
        <p:spPr>
          <a:xfrm>
            <a:off x="201481" y="2629348"/>
            <a:ext cx="2240842" cy="2788024"/>
          </a:xfrm>
          <a:prstGeom prst="rect">
            <a:avLst/>
          </a:prstGeom>
        </p:spPr>
      </p:pic>
      <p:pic>
        <p:nvPicPr>
          <p:cNvPr id="10" name="Picture 9">
            <a:extLst>
              <a:ext uri="{FF2B5EF4-FFF2-40B4-BE49-F238E27FC236}">
                <a16:creationId xmlns:a16="http://schemas.microsoft.com/office/drawing/2014/main" id="{6F46BDBA-8F0C-767C-C46A-D5147FDA4E04}"/>
              </a:ext>
            </a:extLst>
          </p:cNvPr>
          <p:cNvPicPr>
            <a:picLocks noChangeAspect="1"/>
          </p:cNvPicPr>
          <p:nvPr/>
        </p:nvPicPr>
        <p:blipFill>
          <a:blip r:embed="rId5"/>
          <a:stretch>
            <a:fillRect/>
          </a:stretch>
        </p:blipFill>
        <p:spPr>
          <a:xfrm>
            <a:off x="8291784" y="2814918"/>
            <a:ext cx="3510484" cy="3018161"/>
          </a:xfrm>
          <a:prstGeom prst="rect">
            <a:avLst/>
          </a:prstGeom>
        </p:spPr>
      </p:pic>
      <p:sp>
        <p:nvSpPr>
          <p:cNvPr id="5" name="TextBox 4">
            <a:extLst>
              <a:ext uri="{FF2B5EF4-FFF2-40B4-BE49-F238E27FC236}">
                <a16:creationId xmlns:a16="http://schemas.microsoft.com/office/drawing/2014/main" id="{0D9A8DBF-4A98-DA6C-3794-9D4FBCCFDA72}"/>
              </a:ext>
            </a:extLst>
          </p:cNvPr>
          <p:cNvSpPr txBox="1"/>
          <p:nvPr/>
        </p:nvSpPr>
        <p:spPr>
          <a:xfrm>
            <a:off x="8717280" y="1004054"/>
            <a:ext cx="3159760" cy="369332"/>
          </a:xfrm>
          <a:prstGeom prst="rect">
            <a:avLst/>
          </a:prstGeom>
          <a:solidFill>
            <a:srgbClr val="92D050"/>
          </a:solidFill>
        </p:spPr>
        <p:txBody>
          <a:bodyPr wrap="square" rtlCol="0">
            <a:spAutoFit/>
          </a:bodyPr>
          <a:lstStyle/>
          <a:p>
            <a:r>
              <a:rPr lang="en-US" b="1" dirty="0"/>
              <a:t>Digital (13-Oct): </a:t>
            </a:r>
            <a:r>
              <a:rPr lang="en-US" dirty="0"/>
              <a:t>Done</a:t>
            </a:r>
            <a:endParaRPr lang="en-IN" dirty="0"/>
          </a:p>
        </p:txBody>
      </p:sp>
    </p:spTree>
    <p:extLst>
      <p:ext uri="{BB962C8B-B14F-4D97-AF65-F5344CB8AC3E}">
        <p14:creationId xmlns:p14="http://schemas.microsoft.com/office/powerpoint/2010/main" val="13231343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417320" y="320040"/>
            <a:ext cx="10241280" cy="868680"/>
          </a:xfrm>
          <a:prstGeom prst="rect">
            <a:avLst/>
          </a:prstGeom>
          <a:noFill/>
          <a:ln/>
        </p:spPr>
        <p:txBody>
          <a:bodyPr wrap="square" lIns="0" tIns="0" rIns="0" bIns="0" rtlCol="0" anchor="ctr"/>
          <a:lstStyle/>
          <a:p>
            <a:pPr marL="0" indent="0" algn="l">
              <a:buNone/>
            </a:pPr>
            <a:r>
              <a:rPr lang="en-US" sz="4000" b="1" dirty="0">
                <a:solidFill>
                  <a:schemeClr val="tx1"/>
                </a:solidFill>
                <a:latin typeface="Calibri" pitchFamily="34" charset="0"/>
                <a:ea typeface="Calibri" pitchFamily="34" charset="-122"/>
                <a:cs typeface="Calibri" pitchFamily="34" charset="-120"/>
              </a:rPr>
              <a:t>Submit and Saved buttons: change color</a:t>
            </a:r>
            <a:endParaRPr lang="en-US" sz="4000" dirty="0"/>
          </a:p>
        </p:txBody>
      </p:sp>
      <p:sp>
        <p:nvSpPr>
          <p:cNvPr id="3" name="Number badge"/>
          <p:cNvSpPr txBox="1"/>
          <p:nvPr/>
        </p:nvSpPr>
        <p:spPr>
          <a:xfrm>
            <a:off x="548640" y="429768"/>
            <a:ext cx="685800" cy="685800"/>
          </a:xfrm>
          <a:prstGeom prst="ellipse">
            <a:avLst/>
          </a:prstGeom>
          <a:solidFill>
            <a:schemeClr val="accent1"/>
          </a:solidFill>
          <a:ln/>
        </p:spPr>
        <p:txBody>
          <a:bodyPr wrap="square" lIns="0" tIns="0" rIns="0" bIns="0" rtlCol="0" anchor="ctr"/>
          <a:lstStyle/>
          <a:p>
            <a:pPr marL="0" indent="0" algn="ctr">
              <a:buNone/>
            </a:pPr>
            <a:r>
              <a:rPr lang="en-US" sz="2800" b="1" dirty="0">
                <a:solidFill>
                  <a:schemeClr val="tx1"/>
                </a:solidFill>
              </a:rPr>
              <a:t>6</a:t>
            </a:r>
            <a:endParaRPr lang="en-US" sz="2800" dirty="0"/>
          </a:p>
        </p:txBody>
      </p:sp>
      <p:sp>
        <p:nvSpPr>
          <p:cNvPr id="4" name="Text 2"/>
          <p:cNvSpPr txBox="1"/>
          <p:nvPr/>
        </p:nvSpPr>
        <p:spPr>
          <a:xfrm>
            <a:off x="822960" y="1371600"/>
            <a:ext cx="3657600" cy="411480"/>
          </a:xfrm>
          <a:prstGeom prst="rect">
            <a:avLst/>
          </a:prstGeom>
          <a:noFill/>
          <a:ln/>
        </p:spPr>
        <p:txBody>
          <a:bodyPr wrap="square" lIns="0" tIns="0" rIns="0" bIns="0" rtlCol="0" anchor="ctr"/>
          <a:lstStyle/>
          <a:p>
            <a:pPr marL="0" indent="0">
              <a:buNone/>
            </a:pPr>
            <a:r>
              <a:rPr lang="en-US" sz="2400" b="1" dirty="0">
                <a:solidFill>
                  <a:schemeClr val="accent6"/>
                </a:solidFill>
              </a:rPr>
              <a:t>Now</a:t>
            </a:r>
            <a:endParaRPr lang="en-US" sz="2400" dirty="0"/>
          </a:p>
        </p:txBody>
      </p:sp>
      <p:sp>
        <p:nvSpPr>
          <p:cNvPr id="5" name="Text 3"/>
          <p:cNvSpPr txBox="1"/>
          <p:nvPr/>
        </p:nvSpPr>
        <p:spPr>
          <a:xfrm>
            <a:off x="6400800" y="1371600"/>
            <a:ext cx="5029200" cy="411480"/>
          </a:xfrm>
          <a:prstGeom prst="rect">
            <a:avLst/>
          </a:prstGeom>
          <a:noFill/>
          <a:ln/>
        </p:spPr>
        <p:txBody>
          <a:bodyPr wrap="square" lIns="0" tIns="0" rIns="0" bIns="0" rtlCol="0" anchor="ctr"/>
          <a:lstStyle/>
          <a:p>
            <a:pPr marL="0" indent="0">
              <a:buNone/>
            </a:pPr>
            <a:r>
              <a:rPr lang="en-US" sz="2400" b="1" dirty="0">
                <a:solidFill>
                  <a:schemeClr val="accent2"/>
                </a:solidFill>
              </a:rPr>
              <a:t>After a click (example)</a:t>
            </a:r>
            <a:endParaRPr lang="en-US" sz="2400" dirty="0"/>
          </a:p>
        </p:txBody>
      </p:sp>
      <p:pic>
        <p:nvPicPr>
          <p:cNvPr id="6" name="Image 0" descr="Submit button"/>
          <p:cNvPicPr>
            <a:picLocks noChangeAspect="1"/>
          </p:cNvPicPr>
          <p:nvPr/>
        </p:nvPicPr>
        <p:blipFill>
          <a:blip r:embed="rId3"/>
          <a:stretch>
            <a:fillRect/>
          </a:stretch>
        </p:blipFill>
        <p:spPr>
          <a:xfrm>
            <a:off x="822960" y="1920240"/>
            <a:ext cx="3108960" cy="1213253"/>
          </a:xfrm>
          <a:prstGeom prst="rect">
            <a:avLst/>
          </a:prstGeom>
          <a:effectLst>
            <a:outerShdw blurRad="127000" dist="38100" dir="5400000" algn="bl" rotWithShape="0">
              <a:srgbClr val="000000">
                <a:alpha val="28000"/>
              </a:srgbClr>
            </a:outerShdw>
          </a:effectLst>
        </p:spPr>
      </p:pic>
      <p:sp>
        <p:nvSpPr>
          <p:cNvPr id="8" name="Arrow"/>
          <p:cNvSpPr/>
          <p:nvPr/>
        </p:nvSpPr>
        <p:spPr>
          <a:xfrm>
            <a:off x="4732020" y="2148840"/>
            <a:ext cx="1005840" cy="640080"/>
          </a:xfrm>
          <a:prstGeom prst="rightArrow">
            <a:avLst/>
          </a:prstGeom>
          <a:solidFill>
            <a:schemeClr val="accent6"/>
          </a:solidFill>
          <a:ln w="12700">
            <a:solidFill>
              <a:schemeClr val="accent6"/>
            </a:solidFill>
            <a:prstDash val="solid"/>
          </a:ln>
        </p:spPr>
        <p:txBody>
          <a:bodyPr/>
          <a:lstStyle/>
          <a:p>
            <a:endParaRPr lang="en-US"/>
          </a:p>
        </p:txBody>
      </p:sp>
      <p:sp>
        <p:nvSpPr>
          <p:cNvPr id="10" name="Mock button Saved"/>
          <p:cNvSpPr txBox="1"/>
          <p:nvPr/>
        </p:nvSpPr>
        <p:spPr>
          <a:xfrm>
            <a:off x="6537960" y="2024231"/>
            <a:ext cx="2926080" cy="868680"/>
          </a:xfrm>
          <a:prstGeom prst="roundRect">
            <a:avLst>
              <a:gd name="adj" fmla="val 8421"/>
            </a:avLst>
          </a:prstGeom>
          <a:solidFill>
            <a:schemeClr val="accent4"/>
          </a:solidFill>
          <a:ln/>
        </p:spPr>
        <p:txBody>
          <a:bodyPr wrap="square" lIns="0" tIns="0" rIns="0" bIns="0" rtlCol="0" anchor="ctr"/>
          <a:lstStyle/>
          <a:p>
            <a:pPr marL="0" indent="0" algn="ctr">
              <a:buNone/>
            </a:pPr>
            <a:r>
              <a:rPr lang="en-US" sz="3000" b="1" dirty="0">
                <a:solidFill>
                  <a:schemeClr val="bg1"/>
                </a:solidFill>
              </a:rPr>
              <a:t>Saved</a:t>
            </a:r>
            <a:endParaRPr lang="en-US" sz="3000" dirty="0"/>
          </a:p>
        </p:txBody>
      </p:sp>
      <p:sp>
        <p:nvSpPr>
          <p:cNvPr id="11" name="Text 7"/>
          <p:cNvSpPr txBox="1"/>
          <p:nvPr/>
        </p:nvSpPr>
        <p:spPr>
          <a:xfrm>
            <a:off x="548640" y="5029200"/>
            <a:ext cx="11064240" cy="1371600"/>
          </a:xfrm>
          <a:prstGeom prst="rect">
            <a:avLst/>
          </a:prstGeom>
          <a:noFill/>
          <a:ln/>
        </p:spPr>
        <p:txBody>
          <a:bodyPr wrap="square" lIns="0" tIns="0" rIns="0" bIns="0" rtlCol="0" anchor="t"/>
          <a:lstStyle/>
          <a:p>
            <a:pPr marL="0" indent="0">
              <a:buNone/>
            </a:pPr>
            <a:r>
              <a:rPr lang="en-US" sz="3200" b="1" dirty="0">
                <a:solidFill>
                  <a:schemeClr val="tx1"/>
                </a:solidFill>
              </a:rPr>
              <a:t>Change the color once it is clicked, so teams can see it worked. Example: yellow, then green.</a:t>
            </a:r>
            <a:endParaRPr lang="en-US" sz="3200" dirty="0"/>
          </a:p>
        </p:txBody>
      </p:sp>
      <p:sp>
        <p:nvSpPr>
          <p:cNvPr id="9" name="TextBox 8">
            <a:extLst>
              <a:ext uri="{FF2B5EF4-FFF2-40B4-BE49-F238E27FC236}">
                <a16:creationId xmlns:a16="http://schemas.microsoft.com/office/drawing/2014/main" id="{AA2AD711-167E-198A-F8C2-DB47D1008504}"/>
              </a:ext>
            </a:extLst>
          </p:cNvPr>
          <p:cNvSpPr txBox="1"/>
          <p:nvPr/>
        </p:nvSpPr>
        <p:spPr>
          <a:xfrm>
            <a:off x="8595360" y="137160"/>
            <a:ext cx="3159760" cy="369332"/>
          </a:xfrm>
          <a:prstGeom prst="rect">
            <a:avLst/>
          </a:prstGeom>
          <a:solidFill>
            <a:srgbClr val="92D050"/>
          </a:solidFill>
        </p:spPr>
        <p:txBody>
          <a:bodyPr wrap="square" rtlCol="0">
            <a:spAutoFit/>
          </a:bodyPr>
          <a:lstStyle/>
          <a:p>
            <a:r>
              <a:rPr lang="en-US" b="1" dirty="0"/>
              <a:t>Digital (13-Oct): </a:t>
            </a:r>
            <a:r>
              <a:rPr lang="en-US" dirty="0"/>
              <a:t>Done</a:t>
            </a:r>
            <a:r>
              <a:rPr lang="en-US" b="1" dirty="0"/>
              <a:t> </a:t>
            </a:r>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417320" y="320040"/>
            <a:ext cx="10241280" cy="868680"/>
          </a:xfrm>
          <a:prstGeom prst="rect">
            <a:avLst/>
          </a:prstGeom>
          <a:noFill/>
          <a:ln/>
        </p:spPr>
        <p:txBody>
          <a:bodyPr wrap="square" lIns="0" tIns="0" rIns="0" bIns="0" rtlCol="0" anchor="ctr"/>
          <a:lstStyle/>
          <a:p>
            <a:pPr marL="0" indent="0" algn="l">
              <a:buNone/>
            </a:pPr>
            <a:r>
              <a:rPr lang="en-US" sz="4000" b="1" dirty="0">
                <a:solidFill>
                  <a:schemeClr val="tx1"/>
                </a:solidFill>
                <a:latin typeface="Calibri" pitchFamily="34" charset="0"/>
                <a:ea typeface="Calibri" pitchFamily="34" charset="-122"/>
                <a:cs typeface="Calibri" pitchFamily="34" charset="-120"/>
              </a:rPr>
              <a:t>Add the split-screen look elsewhere</a:t>
            </a:r>
            <a:endParaRPr lang="en-US" sz="4000" dirty="0"/>
          </a:p>
        </p:txBody>
      </p:sp>
      <p:sp>
        <p:nvSpPr>
          <p:cNvPr id="3" name="Number badge"/>
          <p:cNvSpPr txBox="1"/>
          <p:nvPr/>
        </p:nvSpPr>
        <p:spPr>
          <a:xfrm>
            <a:off x="548640" y="429768"/>
            <a:ext cx="685800" cy="685800"/>
          </a:xfrm>
          <a:prstGeom prst="ellipse">
            <a:avLst/>
          </a:prstGeom>
          <a:solidFill>
            <a:schemeClr val="accent1"/>
          </a:solidFill>
          <a:ln/>
        </p:spPr>
        <p:txBody>
          <a:bodyPr wrap="square" lIns="0" tIns="0" rIns="0" bIns="0" rtlCol="0" anchor="ctr"/>
          <a:lstStyle/>
          <a:p>
            <a:pPr marL="0" indent="0" algn="ctr">
              <a:buNone/>
            </a:pPr>
            <a:r>
              <a:rPr lang="en-US" sz="2800" b="1" dirty="0">
                <a:solidFill>
                  <a:schemeClr val="tx1"/>
                </a:solidFill>
              </a:rPr>
              <a:t>9</a:t>
            </a:r>
            <a:endParaRPr lang="en-US" sz="2800" dirty="0"/>
          </a:p>
        </p:txBody>
      </p:sp>
      <p:sp>
        <p:nvSpPr>
          <p:cNvPr id="4" name="Text 2"/>
          <p:cNvSpPr txBox="1"/>
          <p:nvPr/>
        </p:nvSpPr>
        <p:spPr>
          <a:xfrm>
            <a:off x="548640" y="1371600"/>
            <a:ext cx="5486400" cy="411480"/>
          </a:xfrm>
          <a:prstGeom prst="rect">
            <a:avLst/>
          </a:prstGeom>
          <a:noFill/>
          <a:ln/>
        </p:spPr>
        <p:txBody>
          <a:bodyPr wrap="square" lIns="0" tIns="0" rIns="0" bIns="0" rtlCol="0" anchor="ctr"/>
          <a:lstStyle/>
          <a:p>
            <a:pPr marL="0" indent="0">
              <a:buNone/>
            </a:pPr>
            <a:r>
              <a:rPr lang="en-US" sz="2400" b="1" dirty="0">
                <a:solidFill>
                  <a:schemeClr val="accent4"/>
                </a:solidFill>
              </a:rPr>
              <a:t>We love this</a:t>
            </a:r>
            <a:endParaRPr lang="en-US" sz="2400" dirty="0"/>
          </a:p>
        </p:txBody>
      </p:sp>
      <p:pic>
        <p:nvPicPr>
          <p:cNvPr id="6" name="Image 0" descr="Team name page with split-screen photo"/>
          <p:cNvPicPr>
            <a:picLocks noChangeAspect="1"/>
          </p:cNvPicPr>
          <p:nvPr/>
        </p:nvPicPr>
        <p:blipFill>
          <a:blip r:embed="rId3"/>
          <a:stretch>
            <a:fillRect/>
          </a:stretch>
        </p:blipFill>
        <p:spPr>
          <a:xfrm>
            <a:off x="548640" y="1828800"/>
            <a:ext cx="5440680" cy="3290452"/>
          </a:xfrm>
          <a:prstGeom prst="rect">
            <a:avLst/>
          </a:prstGeom>
          <a:effectLst>
            <a:outerShdw blurRad="127000" dist="38100" dir="5400000" algn="bl" rotWithShape="0">
              <a:srgbClr val="000000">
                <a:alpha val="28000"/>
              </a:srgbClr>
            </a:outerShdw>
          </a:effectLst>
        </p:spPr>
      </p:pic>
      <p:sp>
        <p:nvSpPr>
          <p:cNvPr id="8" name="Text 4"/>
          <p:cNvSpPr txBox="1"/>
          <p:nvPr/>
        </p:nvSpPr>
        <p:spPr>
          <a:xfrm>
            <a:off x="548640" y="5257800"/>
            <a:ext cx="11064240" cy="1280160"/>
          </a:xfrm>
          <a:prstGeom prst="rect">
            <a:avLst/>
          </a:prstGeom>
          <a:noFill/>
          <a:ln/>
        </p:spPr>
        <p:txBody>
          <a:bodyPr wrap="square" lIns="0" tIns="0" rIns="0" bIns="0" rtlCol="0" anchor="t"/>
          <a:lstStyle/>
          <a:p>
            <a:pPr marL="0" indent="0">
              <a:buNone/>
            </a:pPr>
            <a:r>
              <a:rPr lang="en-US" sz="3000" b="1" dirty="0">
                <a:solidFill>
                  <a:schemeClr val="tx1"/>
                </a:solidFill>
              </a:rPr>
              <a:t>Use the split-screen photo style on the facilitator screens for a bit of visual variety.</a:t>
            </a:r>
            <a:endParaRPr lang="en-US" sz="3000" dirty="0"/>
          </a:p>
        </p:txBody>
      </p:sp>
      <p:sp>
        <p:nvSpPr>
          <p:cNvPr id="7" name="TextBox 6">
            <a:extLst>
              <a:ext uri="{FF2B5EF4-FFF2-40B4-BE49-F238E27FC236}">
                <a16:creationId xmlns:a16="http://schemas.microsoft.com/office/drawing/2014/main" id="{A736C38B-1F42-AF57-2031-70C1AC8FBD9E}"/>
              </a:ext>
            </a:extLst>
          </p:cNvPr>
          <p:cNvSpPr txBox="1"/>
          <p:nvPr/>
        </p:nvSpPr>
        <p:spPr>
          <a:xfrm>
            <a:off x="6400801" y="1188720"/>
            <a:ext cx="5440680" cy="1200329"/>
          </a:xfrm>
          <a:prstGeom prst="rect">
            <a:avLst/>
          </a:prstGeom>
          <a:solidFill>
            <a:schemeClr val="accent1"/>
          </a:solidFill>
        </p:spPr>
        <p:txBody>
          <a:bodyPr wrap="square" rtlCol="0">
            <a:spAutoFit/>
          </a:bodyPr>
          <a:lstStyle/>
          <a:p>
            <a:r>
              <a:rPr lang="en-US" b="1" dirty="0"/>
              <a:t>Digital (13-Oct): </a:t>
            </a:r>
            <a:r>
              <a:rPr lang="en-US" dirty="0"/>
              <a:t>Please suggest which screen would you like us to update. </a:t>
            </a:r>
          </a:p>
          <a:p>
            <a:r>
              <a:rPr lang="en-US" dirty="0"/>
              <a:t>We could not find/identify any screen on the facilitator side where this split-screen photo style can be applied.</a:t>
            </a:r>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8BB6B-6831-21DF-024A-C19B521A8F9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CD4A761-4886-9505-DD10-21BEF1ECE378}"/>
              </a:ext>
            </a:extLst>
          </p:cNvPr>
          <p:cNvSpPr>
            <a:spLocks noGrp="1"/>
          </p:cNvSpPr>
          <p:nvPr>
            <p:ph type="title" idx="100" hasCustomPrompt="1"/>
          </p:nvPr>
        </p:nvSpPr>
        <p:spPr>
          <a:xfrm>
            <a:off x="822960" y="2011680"/>
            <a:ext cx="10515600" cy="1371600"/>
          </a:xfrm>
          <a:prstGeom prst="rect">
            <a:avLst/>
          </a:prstGeom>
          <a:noFill/>
          <a:ln/>
        </p:spPr>
        <p:txBody>
          <a:bodyPr wrap="square" lIns="0" tIns="0" rIns="0" bIns="0" rtlCol="0" anchor="b"/>
          <a:lstStyle/>
          <a:p>
            <a:pPr marL="0" indent="0" algn="l">
              <a:buNone/>
            </a:pPr>
            <a:r>
              <a:rPr lang="en-US" sz="6600" b="1" dirty="0">
                <a:solidFill>
                  <a:schemeClr val="bg1"/>
                </a:solidFill>
                <a:latin typeface="Calibri" pitchFamily="34" charset="0"/>
                <a:ea typeface="Calibri" pitchFamily="34" charset="-122"/>
                <a:cs typeface="Calibri" pitchFamily="34" charset="-120"/>
              </a:rPr>
              <a:t>DEV TEAM </a:t>
            </a:r>
            <a:endParaRPr lang="en-US" sz="6600" dirty="0"/>
          </a:p>
        </p:txBody>
      </p:sp>
      <p:sp>
        <p:nvSpPr>
          <p:cNvPr id="3" name="Text 0">
            <a:extLst>
              <a:ext uri="{FF2B5EF4-FFF2-40B4-BE49-F238E27FC236}">
                <a16:creationId xmlns:a16="http://schemas.microsoft.com/office/drawing/2014/main" id="{D38EDD93-11FE-34BE-7933-8F0C445C2D07}"/>
              </a:ext>
            </a:extLst>
          </p:cNvPr>
          <p:cNvSpPr>
            <a:spLocks noGrp="1"/>
          </p:cNvSpPr>
          <p:nvPr>
            <p:ph type="body" idx="101" hasCustomPrompt="1"/>
          </p:nvPr>
        </p:nvSpPr>
        <p:spPr>
          <a:xfrm>
            <a:off x="822960" y="3566160"/>
            <a:ext cx="10515600" cy="1097280"/>
          </a:xfrm>
          <a:prstGeom prst="rect">
            <a:avLst/>
          </a:prstGeom>
          <a:noFill/>
          <a:ln/>
        </p:spPr>
        <p:txBody>
          <a:bodyPr wrap="square" lIns="0" tIns="0" rIns="0" bIns="0" rtlCol="0" anchor="t"/>
          <a:lstStyle/>
          <a:p>
            <a:pPr marL="0" indent="0" algn="l">
              <a:buNone/>
            </a:pPr>
            <a:r>
              <a:rPr lang="en-US" sz="3000" dirty="0">
                <a:solidFill>
                  <a:schemeClr val="accent3"/>
                </a:solidFill>
                <a:latin typeface="Calibri" pitchFamily="34" charset="0"/>
                <a:ea typeface="Calibri" pitchFamily="34" charset="-122"/>
                <a:cs typeface="Calibri" pitchFamily="34" charset="-120"/>
              </a:rPr>
              <a:t>DIGITAL TEAM CAN IGNORE</a:t>
            </a:r>
            <a:endParaRPr lang="en-US" sz="3000" dirty="0"/>
          </a:p>
        </p:txBody>
      </p:sp>
    </p:spTree>
    <p:extLst>
      <p:ext uri="{BB962C8B-B14F-4D97-AF65-F5344CB8AC3E}">
        <p14:creationId xmlns:p14="http://schemas.microsoft.com/office/powerpoint/2010/main" val="2139767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417320" y="320040"/>
            <a:ext cx="10241280" cy="868680"/>
          </a:xfrm>
          <a:prstGeom prst="rect">
            <a:avLst/>
          </a:prstGeom>
          <a:noFill/>
          <a:ln/>
        </p:spPr>
        <p:txBody>
          <a:bodyPr wrap="square" lIns="0" tIns="0" rIns="0" bIns="0" rtlCol="0" anchor="ctr"/>
          <a:lstStyle/>
          <a:p>
            <a:pPr marL="0" indent="0" algn="l">
              <a:buNone/>
            </a:pPr>
            <a:r>
              <a:rPr lang="en-US" sz="4000" b="1" dirty="0">
                <a:solidFill>
                  <a:schemeClr val="tx1"/>
                </a:solidFill>
                <a:latin typeface="Calibri" pitchFamily="34" charset="0"/>
                <a:ea typeface="Calibri" pitchFamily="34" charset="-122"/>
                <a:cs typeface="Calibri" pitchFamily="34" charset="-120"/>
              </a:rPr>
              <a:t>For Kevin: equalize the Moment text</a:t>
            </a:r>
            <a:endParaRPr lang="en-US" sz="4000" dirty="0"/>
          </a:p>
        </p:txBody>
      </p:sp>
      <p:sp>
        <p:nvSpPr>
          <p:cNvPr id="3" name="Number badge"/>
          <p:cNvSpPr txBox="1"/>
          <p:nvPr/>
        </p:nvSpPr>
        <p:spPr>
          <a:xfrm>
            <a:off x="548640" y="429768"/>
            <a:ext cx="685800" cy="685800"/>
          </a:xfrm>
          <a:prstGeom prst="ellipse">
            <a:avLst/>
          </a:prstGeom>
          <a:solidFill>
            <a:schemeClr val="accent1"/>
          </a:solidFill>
          <a:ln/>
        </p:spPr>
        <p:txBody>
          <a:bodyPr wrap="square" lIns="0" tIns="0" rIns="0" bIns="0" rtlCol="0" anchor="ctr"/>
          <a:lstStyle/>
          <a:p>
            <a:pPr marL="0" indent="0" algn="ctr">
              <a:buNone/>
            </a:pPr>
            <a:r>
              <a:rPr lang="en-US" sz="2800" b="1" dirty="0">
                <a:solidFill>
                  <a:schemeClr val="tx1"/>
                </a:solidFill>
              </a:rPr>
              <a:t>7</a:t>
            </a:r>
            <a:endParaRPr lang="en-US" sz="2800" dirty="0"/>
          </a:p>
        </p:txBody>
      </p:sp>
      <p:pic>
        <p:nvPicPr>
          <p:cNvPr id="4" name="Image 0" descr="Moment 1 decision options"/>
          <p:cNvPicPr>
            <a:picLocks noChangeAspect="1"/>
          </p:cNvPicPr>
          <p:nvPr/>
        </p:nvPicPr>
        <p:blipFill>
          <a:blip r:embed="rId3"/>
          <a:stretch>
            <a:fillRect/>
          </a:stretch>
        </p:blipFill>
        <p:spPr>
          <a:xfrm>
            <a:off x="548640" y="1554480"/>
            <a:ext cx="6949440" cy="4209561"/>
          </a:xfrm>
          <a:prstGeom prst="rect">
            <a:avLst/>
          </a:prstGeom>
          <a:effectLst>
            <a:outerShdw blurRad="127000" dist="38100" dir="5400000" algn="bl" rotWithShape="0">
              <a:srgbClr val="000000">
                <a:alpha val="28000"/>
              </a:srgbClr>
            </a:outerShdw>
          </a:effectLst>
        </p:spPr>
      </p:pic>
      <p:sp>
        <p:nvSpPr>
          <p:cNvPr id="5" name="Text 2"/>
          <p:cNvSpPr txBox="1"/>
          <p:nvPr/>
        </p:nvSpPr>
        <p:spPr>
          <a:xfrm>
            <a:off x="7863840" y="1645920"/>
            <a:ext cx="3840480" cy="4572000"/>
          </a:xfrm>
          <a:prstGeom prst="rect">
            <a:avLst/>
          </a:prstGeom>
          <a:noFill/>
          <a:ln/>
        </p:spPr>
        <p:txBody>
          <a:bodyPr wrap="square" lIns="0" tIns="0" rIns="0" bIns="0" rtlCol="0" anchor="t"/>
          <a:lstStyle/>
          <a:p>
            <a:pPr marL="0" indent="0">
              <a:spcAft>
                <a:spcPts val="1000"/>
              </a:spcAft>
              <a:buNone/>
            </a:pPr>
            <a:r>
              <a:rPr lang="en-US" sz="3600" b="1" dirty="0">
                <a:solidFill>
                  <a:schemeClr val="tx1"/>
                </a:solidFill>
              </a:rPr>
              <a:t>Kevin,</a:t>
            </a:r>
            <a:r>
              <a:rPr lang="en-US" sz="3600" b="1" dirty="0"/>
              <a:t> as you review text (you mentioned simplifying) aim to equalize the length. </a:t>
            </a:r>
            <a:r>
              <a:rPr lang="en-US" sz="2400" dirty="0">
                <a:solidFill>
                  <a:schemeClr val="tx1"/>
                </a:solidFill>
              </a:rPr>
              <a:t>Option A runs 4 lines. Option D runs 2. Simplify each one.</a:t>
            </a:r>
            <a:endParaRPr lang="en-US" sz="3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417320" y="320040"/>
            <a:ext cx="10241280" cy="868680"/>
          </a:xfrm>
          <a:prstGeom prst="rect">
            <a:avLst/>
          </a:prstGeom>
          <a:noFill/>
          <a:ln/>
        </p:spPr>
        <p:txBody>
          <a:bodyPr wrap="square" lIns="0" tIns="0" rIns="0" bIns="0" rtlCol="0" anchor="ctr"/>
          <a:lstStyle/>
          <a:p>
            <a:pPr marL="0" indent="0" algn="l">
              <a:buNone/>
            </a:pPr>
            <a:r>
              <a:rPr lang="en-US" sz="4000" b="1" dirty="0">
                <a:solidFill>
                  <a:schemeClr val="tx1"/>
                </a:solidFill>
                <a:latin typeface="Calibri" pitchFamily="34" charset="0"/>
                <a:ea typeface="Calibri" pitchFamily="34" charset="-122"/>
                <a:cs typeface="Calibri" pitchFamily="34" charset="-120"/>
              </a:rPr>
              <a:t>Remove em dashes throughout</a:t>
            </a:r>
            <a:endParaRPr lang="en-US" sz="4000" dirty="0"/>
          </a:p>
        </p:txBody>
      </p:sp>
      <p:sp>
        <p:nvSpPr>
          <p:cNvPr id="3" name="Number badge"/>
          <p:cNvSpPr txBox="1"/>
          <p:nvPr/>
        </p:nvSpPr>
        <p:spPr>
          <a:xfrm>
            <a:off x="548640" y="429768"/>
            <a:ext cx="685800" cy="685800"/>
          </a:xfrm>
          <a:prstGeom prst="ellipse">
            <a:avLst/>
          </a:prstGeom>
          <a:solidFill>
            <a:schemeClr val="accent1"/>
          </a:solidFill>
          <a:ln/>
        </p:spPr>
        <p:txBody>
          <a:bodyPr wrap="square" lIns="0" tIns="0" rIns="0" bIns="0" rtlCol="0" anchor="ctr"/>
          <a:lstStyle/>
          <a:p>
            <a:pPr marL="0" indent="0" algn="ctr">
              <a:buNone/>
            </a:pPr>
            <a:r>
              <a:rPr lang="en-US" sz="2800" b="1" dirty="0">
                <a:solidFill>
                  <a:schemeClr val="tx1"/>
                </a:solidFill>
              </a:rPr>
              <a:t>8</a:t>
            </a:r>
            <a:endParaRPr lang="en-US" sz="2800" dirty="0"/>
          </a:p>
        </p:txBody>
      </p:sp>
      <p:pic>
        <p:nvPicPr>
          <p:cNvPr id="4" name="Image 0" descr="Moment 4 scenario with several em dashes"/>
          <p:cNvPicPr>
            <a:picLocks noChangeAspect="1"/>
          </p:cNvPicPr>
          <p:nvPr/>
        </p:nvPicPr>
        <p:blipFill>
          <a:blip r:embed="rId3"/>
          <a:stretch>
            <a:fillRect/>
          </a:stretch>
        </p:blipFill>
        <p:spPr>
          <a:xfrm>
            <a:off x="548640" y="1554480"/>
            <a:ext cx="6949440" cy="4150134"/>
          </a:xfrm>
          <a:prstGeom prst="rect">
            <a:avLst/>
          </a:prstGeom>
          <a:effectLst>
            <a:outerShdw blurRad="127000" dist="38100" dir="5400000" algn="bl" rotWithShape="0">
              <a:srgbClr val="000000">
                <a:alpha val="28000"/>
              </a:srgbClr>
            </a:outerShdw>
          </a:effectLst>
        </p:spPr>
      </p:pic>
      <p:sp>
        <p:nvSpPr>
          <p:cNvPr id="5" name="Text 2"/>
          <p:cNvSpPr txBox="1"/>
          <p:nvPr/>
        </p:nvSpPr>
        <p:spPr>
          <a:xfrm>
            <a:off x="7863840" y="1645920"/>
            <a:ext cx="3840480" cy="4389120"/>
          </a:xfrm>
          <a:prstGeom prst="rect">
            <a:avLst/>
          </a:prstGeom>
          <a:noFill/>
          <a:ln/>
        </p:spPr>
        <p:txBody>
          <a:bodyPr wrap="square" lIns="0" tIns="0" rIns="0" bIns="0" rtlCol="0" anchor="t"/>
          <a:lstStyle/>
          <a:p>
            <a:pPr marL="0" indent="0">
              <a:spcAft>
                <a:spcPts val="1400"/>
              </a:spcAft>
              <a:buNone/>
            </a:pPr>
            <a:r>
              <a:rPr lang="en-US" sz="3600" b="1" dirty="0">
                <a:solidFill>
                  <a:schemeClr val="tx1"/>
                </a:solidFill>
              </a:rPr>
              <a:t>Recommend to remove every em dash.</a:t>
            </a:r>
            <a:endParaRPr lang="en-US" sz="3600" dirty="0"/>
          </a:p>
          <a:p>
            <a:pPr marL="0" indent="0">
              <a:buNone/>
            </a:pPr>
            <a:r>
              <a:rPr lang="en-US" sz="2800" dirty="0">
                <a:solidFill>
                  <a:schemeClr val="tx1"/>
                </a:solidFill>
              </a:rPr>
              <a:t>They show up in the case study, scenarios, options, and feedback text.</a:t>
            </a:r>
            <a:endParaRPr lang="en-US" sz="3600" dirty="0"/>
          </a:p>
        </p:txBody>
      </p:sp>
    </p:spTree>
  </p:cSld>
  <p:clrMapOvr>
    <a:masterClrMapping/>
  </p:clrMapOvr>
</p:sld>
</file>

<file path=ppt/theme/theme1.xml><?xml version="1.0" encoding="utf-8"?>
<a:theme xmlns:a="http://schemas.openxmlformats.org/drawingml/2006/main" name="Allegis Sim Feedback">
  <a:themeElements>
    <a:clrScheme name="Allegis Sim Feedback">
      <a:dk1>
        <a:srgbClr val="051A33"/>
      </a:dk1>
      <a:lt1>
        <a:srgbClr val="FFFFFF"/>
      </a:lt1>
      <a:dk2>
        <a:srgbClr val="0B3A66"/>
      </a:dk2>
      <a:lt2>
        <a:srgbClr val="EAF4FA"/>
      </a:lt2>
      <a:accent1>
        <a:srgbClr val="FFB93B"/>
      </a:accent1>
      <a:accent2>
        <a:srgbClr val="2E75B6"/>
      </a:accent2>
      <a:accent3>
        <a:srgbClr val="8FD0EA"/>
      </a:accent3>
      <a:accent4>
        <a:srgbClr val="2E9E5B"/>
      </a:accent4>
      <a:accent5>
        <a:srgbClr val="C0392B"/>
      </a:accent5>
      <a:accent6>
        <a:srgbClr val="6B7A8F"/>
      </a:accent6>
      <a:hlink>
        <a:srgbClr val="2E75B6"/>
      </a:hlink>
      <a:folHlink>
        <a:srgbClr val="6B7A8F"/>
      </a:folHlink>
    </a:clrScheme>
    <a:fontScheme name="Allegis Sim Feedback">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240</TotalTime>
  <Words>570</Words>
  <Application>Microsoft Office PowerPoint</Application>
  <PresentationFormat>Widescreen</PresentationFormat>
  <Paragraphs>71</Paragraphs>
  <Slides>12</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Allegis Sim Feedback</vt:lpstr>
      <vt:lpstr>Digital Sim Feedback</vt:lpstr>
      <vt:lpstr>Make everything bigger</vt:lpstr>
      <vt:lpstr>Team name page: much, much bigger</vt:lpstr>
      <vt:lpstr>After submit: add a thank-you message</vt:lpstr>
      <vt:lpstr>Case study: break up the wall of text</vt:lpstr>
      <vt:lpstr>Moment scenarios: add an image to each</vt:lpstr>
      <vt:lpstr>Example ideas for moment images</vt:lpstr>
      <vt:lpstr>Submit and Saved buttons: change color</vt:lpstr>
      <vt:lpstr>Add the split-screen look elsewhere</vt:lpstr>
      <vt:lpstr>DEV TEAM </vt:lpstr>
      <vt:lpstr>For Kevin: equalize the Moment text</vt:lpstr>
      <vt:lpstr>Remove em dashes throughout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Sim Feedback</dc:title>
  <dc:subject>PptxGenJS Presentation</dc:subject>
  <dc:creator>BTS</dc:creator>
  <cp:lastModifiedBy>Smita Vaish</cp:lastModifiedBy>
  <cp:revision>14</cp:revision>
  <dcterms:created xsi:type="dcterms:W3CDTF">2026-10-12T23:10:30Z</dcterms:created>
  <dcterms:modified xsi:type="dcterms:W3CDTF">2026-10-13T12:03:50Z</dcterms:modified>
</cp:coreProperties>
</file>